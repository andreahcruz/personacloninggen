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notesSlides/notesSlide10.xml" ContentType="application/vnd.openxmlformats-officedocument.presentationml.notesSlide+xml"/>
  <Override PartName="/ppt/charts/chart7.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9BFBC52-CCB3-9816-5914-409779C267B7}">
          <p14:sldIdLst>
            <p14:sldId id="256"/>
            <p14:sldId id="257"/>
          </p14:sldIdLst>
        </p14:section>
        <p14:section name="Data" id="{14524709-881F-F7E1-8CB2-7D563AEE8B94}">
          <p14:sldIdLst>
            <p14:sldId id="258"/>
            <p14:sldId id="259"/>
            <p14:sldId id="260"/>
            <p14:sldId id="261"/>
          </p14:sldIdLst>
        </p14:section>
        <p14:section name="Analytics" id="{98732874-1393-DD04-1C5A-15C8998E8C05}">
          <p14:sldIdLst>
            <p14:sldId id="262"/>
            <p14:sldId id="263"/>
          </p14:sldIdLst>
        </p14:section>
        <p14:section name="Models and results" id="{42BBC093-14A4-6867-FBCF-5660B1F2F81C}">
          <p14:sldIdLst>
            <p14:sldId id="264"/>
            <p14:sldId id="265"/>
            <p14:sldId id="266"/>
          </p14:sldIdLst>
        </p14:section>
        <p14:section name="System and wrap-up" id="{79652DA1-3347-DD46-665B-CD87BE7FDEC1}">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9" d="100"/>
          <a:sy n="159" d="100"/>
        </p:scale>
        <p:origin x="33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433"/>
                </a:solidFill>
                <a:latin typeface="+mn-lt"/>
              </a:defRPr>
            </a:pPr>
            <a:r>
              <a:rPr lang="en-US" sz="1400" b="0" i="0" u="none" strike="noStrike">
                <a:solidFill>
                  <a:srgbClr val="1B2433"/>
                </a:solidFill>
                <a:latin typeface="+mn-lt"/>
              </a:rPr>
              <a:t>Rows dropped by cleaning, by reason</a:t>
            </a:r>
          </a:p>
        </c:rich>
      </c:tx>
      <c:overlay val="0"/>
    </c:title>
    <c:autoTitleDeleted val="0"/>
    <c:plotArea>
      <c:layout/>
      <c:barChart>
        <c:barDir val="bar"/>
        <c:grouping val="clustered"/>
        <c:varyColors val="0"/>
        <c:ser>
          <c:idx val="0"/>
          <c:order val="0"/>
          <c:tx>
            <c:strRef>
              <c:f>Sheet1!$B$1</c:f>
              <c:strCache>
                <c:ptCount val="1"/>
                <c:pt idx="0">
                  <c:v>Rows dropped</c:v>
                </c:pt>
              </c:strCache>
            </c:strRef>
          </c:tx>
          <c:spPr>
            <a:solidFill>
              <a:srgbClr val="2F6DB5"/>
            </a:solidFill>
            <a:effectLst/>
          </c:spPr>
          <c:invertIfNegative val="0"/>
          <c:dLbls>
            <c:numFmt formatCode="#,##0" sourceLinked="0"/>
            <c:spPr>
              <a:noFill/>
              <a:ln>
                <a:noFill/>
              </a:ln>
              <a:effectLst/>
            </c:spPr>
            <c:txPr>
              <a:bodyPr/>
              <a:lstStyle/>
              <a:p>
                <a:pPr>
                  <a:defRPr sz="1200" b="0" i="0" u="none" strike="noStrike">
                    <a:solidFill>
                      <a:srgbClr val="1B24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Too short to be a post</c:v>
                </c:pt>
                <c:pt idx="1">
                  <c:v>LinkedIn page chrome</c:v>
                </c:pt>
                <c:pt idx="2">
                  <c:v>Event promotion</c:v>
                </c:pt>
                <c:pt idx="3">
                  <c:v>Empty text</c:v>
                </c:pt>
                <c:pt idx="4">
                  <c:v>Empty transcript</c:v>
                </c:pt>
              </c:strCache>
            </c:strRef>
          </c:cat>
          <c:val>
            <c:numRef>
              <c:f>Sheet1!$B$2:$B$6</c:f>
              <c:numCache>
                <c:formatCode>General</c:formatCode>
                <c:ptCount val="5"/>
                <c:pt idx="0">
                  <c:v>1203</c:v>
                </c:pt>
                <c:pt idx="1">
                  <c:v>623</c:v>
                </c:pt>
                <c:pt idx="2">
                  <c:v>450</c:v>
                </c:pt>
                <c:pt idx="3">
                  <c:v>150</c:v>
                </c:pt>
                <c:pt idx="4">
                  <c:v>39</c:v>
                </c:pt>
              </c:numCache>
            </c:numRef>
          </c:val>
          <c:extLst>
            <c:ext xmlns:c16="http://schemas.microsoft.com/office/drawing/2014/chart" uri="{C3380CC4-5D6E-409C-BE32-E72D297353CC}">
              <c16:uniqueId val="{00000000-5070-4065-B6B7-CCDB6F21C709}"/>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433"/>
                </a:solidFill>
                <a:latin typeface="+mn-lt"/>
              </a:defRPr>
            </a:pPr>
            <a:endParaRPr lang="en-US"/>
          </a:p>
        </c:txPr>
        <c:crossAx val="2094734552"/>
        <c:crosses val="autoZero"/>
        <c:auto val="1"/>
        <c:lblAlgn val="ctr"/>
        <c:lblOffset val="100"/>
        <c:noMultiLvlLbl val="1"/>
      </c:catAx>
      <c:valAx>
        <c:axId val="2094734552"/>
        <c:scaling>
          <c:orientation val="minMax"/>
          <c:max val="15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433"/>
                </a:solidFill>
                <a:latin typeface="+mn-lt"/>
              </a:defRPr>
            </a:pPr>
            <a:r>
              <a:rPr sz="1400" b="0" i="0" u="none" strike="noStrike">
                <a:solidFill>
                  <a:srgbClr val="1B2433"/>
                </a:solidFill>
                <a:latin typeface="+mn-lt"/>
              </a:rPr>
              <a:t>Training rows dropped by the relabel step (3,685)</a:t>
            </a:r>
          </a:p>
        </c:rich>
      </c:tx>
      <c:overlay val="0"/>
    </c:title>
    <c:autoTitleDeleted val="0"/>
    <c:plotArea>
      <c:layout/>
      <c:barChart>
        <c:barDir val="bar"/>
        <c:grouping val="clustered"/>
        <c:varyColors val="0"/>
        <c:ser>
          <c:idx val="0"/>
          <c:order val="0"/>
          <c:tx>
            <c:strRef>
              <c:f>Sheet1!$B$1</c:f>
              <c:strCache>
                <c:ptCount val="1"/>
                <c:pt idx="0">
                  <c:v>Train rows dropped</c:v>
                </c:pt>
              </c:strCache>
            </c:strRef>
          </c:tx>
          <c:spPr>
            <a:solidFill>
              <a:srgbClr val="D9822B"/>
            </a:solidFill>
            <a:effectLst/>
          </c:spPr>
          <c:invertIfNegative val="0"/>
          <c:dLbls>
            <c:numFmt formatCode="#,##0" sourceLinked="0"/>
            <c:spPr>
              <a:noFill/>
              <a:ln>
                <a:noFill/>
              </a:ln>
              <a:effectLst/>
            </c:spPr>
            <c:txPr>
              <a:bodyPr/>
              <a:lstStyle/>
              <a:p>
                <a:pPr>
                  <a:defRPr sz="1200" b="0" i="0" u="none" strike="noStrike">
                    <a:solidFill>
                      <a:srgbClr val="1B24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Other mid-sentence cut</c:v>
                </c:pt>
                <c:pt idx="1">
                  <c:v>Cut in the middle of a word</c:v>
                </c:pt>
                <c:pt idx="2">
                  <c:v>Unfinished last slice</c:v>
                </c:pt>
                <c:pt idx="3">
                  <c:v>Transcript fragment</c:v>
                </c:pt>
              </c:strCache>
            </c:strRef>
          </c:cat>
          <c:val>
            <c:numRef>
              <c:f>Sheet1!$B$2:$B$5</c:f>
              <c:numCache>
                <c:formatCode>General</c:formatCode>
                <c:ptCount val="4"/>
                <c:pt idx="0">
                  <c:v>1332</c:v>
                </c:pt>
                <c:pt idx="1">
                  <c:v>1148</c:v>
                </c:pt>
                <c:pt idx="2">
                  <c:v>1015</c:v>
                </c:pt>
                <c:pt idx="3">
                  <c:v>190</c:v>
                </c:pt>
              </c:numCache>
            </c:numRef>
          </c:val>
          <c:extLst>
            <c:ext xmlns:c16="http://schemas.microsoft.com/office/drawing/2014/chart" uri="{C3380CC4-5D6E-409C-BE32-E72D297353CC}">
              <c16:uniqueId val="{00000000-68D9-40A9-84AF-602CE5ED176D}"/>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433"/>
                </a:solidFill>
                <a:latin typeface="+mn-lt"/>
              </a:defRPr>
            </a:pPr>
            <a:endParaRPr lang="en-US"/>
          </a:p>
        </c:txPr>
        <c:crossAx val="2094734552"/>
        <c:crosses val="autoZero"/>
        <c:auto val="1"/>
        <c:lblAlgn val="ctr"/>
        <c:lblOffset val="100"/>
        <c:noMultiLvlLbl val="1"/>
      </c:catAx>
      <c:valAx>
        <c:axId val="2094734552"/>
        <c:scaling>
          <c:orientation val="minMax"/>
          <c:max val="17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433"/>
                </a:solidFill>
                <a:latin typeface="+mn-lt"/>
              </a:defRPr>
            </a:pPr>
            <a:r>
              <a:rPr sz="1400" b="0" i="0" u="none" strike="noStrike">
                <a:solidFill>
                  <a:srgbClr val="1B2433"/>
                </a:solidFill>
                <a:latin typeface="+mn-lt"/>
              </a:rPr>
              <a:t>Training rows kept (21,377)</a:t>
            </a:r>
          </a:p>
        </c:rich>
      </c:tx>
      <c:overlay val="0"/>
    </c:title>
    <c:autoTitleDeleted val="0"/>
    <c:plotArea>
      <c:layout/>
      <c:barChart>
        <c:barDir val="bar"/>
        <c:grouping val="clustered"/>
        <c:varyColors val="0"/>
        <c:ser>
          <c:idx val="0"/>
          <c:order val="0"/>
          <c:tx>
            <c:strRef>
              <c:f>Sheet1!$B$1</c:f>
              <c:strCache>
                <c:ptCount val="1"/>
                <c:pt idx="0">
                  <c:v>Train rows kept</c:v>
                </c:pt>
              </c:strCache>
            </c:strRef>
          </c:tx>
          <c:spPr>
            <a:solidFill>
              <a:srgbClr val="2A9D8F"/>
            </a:solidFill>
            <a:effectLst/>
          </c:spPr>
          <c:invertIfNegative val="0"/>
          <c:dLbls>
            <c:numFmt formatCode="#,##0" sourceLinked="0"/>
            <c:spPr>
              <a:noFill/>
              <a:ln>
                <a:noFill/>
              </a:ln>
              <a:effectLst/>
            </c:spPr>
            <c:txPr>
              <a:bodyPr/>
              <a:lstStyle/>
              <a:p>
                <a:pPr>
                  <a:defRPr sz="1200" b="0" i="0" u="none" strike="noStrike">
                    <a:solidFill>
                      <a:srgbClr val="1B24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Whole posts</c:v>
                </c:pt>
                <c:pt idx="1">
                  <c:v>Later slices, relabeled</c:v>
                </c:pt>
                <c:pt idx="2">
                  <c:v>Openings, relabeled</c:v>
                </c:pt>
              </c:strCache>
            </c:strRef>
          </c:cat>
          <c:val>
            <c:numRef>
              <c:f>Sheet1!$B$2:$B$4</c:f>
              <c:numCache>
                <c:formatCode>General</c:formatCode>
                <c:ptCount val="3"/>
                <c:pt idx="0">
                  <c:v>11616</c:v>
                </c:pt>
                <c:pt idx="1">
                  <c:v>8050</c:v>
                </c:pt>
                <c:pt idx="2">
                  <c:v>1711</c:v>
                </c:pt>
              </c:numCache>
            </c:numRef>
          </c:val>
          <c:extLst>
            <c:ext xmlns:c16="http://schemas.microsoft.com/office/drawing/2014/chart" uri="{C3380CC4-5D6E-409C-BE32-E72D297353CC}">
              <c16:uniqueId val="{00000000-0C3C-40F5-92A2-A16186106473}"/>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433"/>
                </a:solidFill>
                <a:latin typeface="+mn-lt"/>
              </a:defRPr>
            </a:pPr>
            <a:endParaRPr lang="en-US"/>
          </a:p>
        </c:txPr>
        <c:crossAx val="2094734552"/>
        <c:crosses val="autoZero"/>
        <c:auto val="1"/>
        <c:lblAlgn val="ctr"/>
        <c:lblOffset val="100"/>
        <c:noMultiLvlLbl val="1"/>
      </c:catAx>
      <c:valAx>
        <c:axId val="2094734552"/>
        <c:scaling>
          <c:orientation val="minMax"/>
          <c:max val="145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433"/>
                </a:solidFill>
                <a:latin typeface="+mn-lt"/>
              </a:defRPr>
            </a:pPr>
            <a:r>
              <a:rPr sz="1400" b="0" i="0" u="none" strike="noStrike">
                <a:solidFill>
                  <a:srgbClr val="1B2433"/>
                </a:solidFill>
                <a:latin typeface="+mn-lt"/>
              </a:rPr>
              <a:t>Share of the 21,193 indexed documents with each property</a:t>
            </a:r>
          </a:p>
        </c:rich>
      </c:tx>
      <c:overlay val="0"/>
    </c:title>
    <c:autoTitleDeleted val="0"/>
    <c:plotArea>
      <c:layout/>
      <c:barChart>
        <c:barDir val="bar"/>
        <c:grouping val="clustered"/>
        <c:varyColors val="0"/>
        <c:ser>
          <c:idx val="0"/>
          <c:order val="0"/>
          <c:tx>
            <c:strRef>
              <c:f>Sheet1!$B$1</c:f>
              <c:strCache>
                <c:ptCount val="1"/>
                <c:pt idx="0">
                  <c:v>Share of documents</c:v>
                </c:pt>
              </c:strCache>
            </c:strRef>
          </c:tx>
          <c:spPr>
            <a:solidFill>
              <a:srgbClr val="D9822B"/>
            </a:solidFill>
            <a:effectLst/>
          </c:spPr>
          <c:invertIfNegative val="0"/>
          <c:dLbls>
            <c:numFmt formatCode="0.0%" sourceLinked="0"/>
            <c:spPr>
              <a:noFill/>
              <a:ln>
                <a:noFill/>
              </a:ln>
              <a:effectLst/>
            </c:spPr>
            <c:txPr>
              <a:bodyPr/>
              <a:lstStyle/>
              <a:p>
                <a:pPr>
                  <a:defRPr sz="1200" b="0" i="0" u="none" strike="noStrike">
                    <a:solidFill>
                      <a:srgbClr val="1B24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Share a post with other chunks</c:v>
                </c:pt>
                <c:pt idx="1">
                  <c:v>Under 40 words</c:v>
                </c:pt>
                <c:pt idx="2">
                  <c:v>Continuation of a longer post</c:v>
                </c:pt>
                <c:pt idx="3">
                  <c:v>No sentence-ending punctuation</c:v>
                </c:pt>
                <c:pt idx="4">
                  <c:v>Under 20 words</c:v>
                </c:pt>
                <c:pt idx="5">
                  <c:v>Only a headline or a link</c:v>
                </c:pt>
              </c:strCache>
            </c:strRef>
          </c:cat>
          <c:val>
            <c:numRef>
              <c:f>Sheet1!$B$2:$B$7</c:f>
              <c:numCache>
                <c:formatCode>General</c:formatCode>
                <c:ptCount val="6"/>
                <c:pt idx="0">
                  <c:v>0.52600000000000002</c:v>
                </c:pt>
                <c:pt idx="1">
                  <c:v>0.49199999999999999</c:v>
                </c:pt>
                <c:pt idx="2">
                  <c:v>0.373</c:v>
                </c:pt>
                <c:pt idx="3">
                  <c:v>0.33200000000000002</c:v>
                </c:pt>
                <c:pt idx="4">
                  <c:v>0.24299999999999999</c:v>
                </c:pt>
                <c:pt idx="5">
                  <c:v>0.20399999999999999</c:v>
                </c:pt>
              </c:numCache>
            </c:numRef>
          </c:val>
          <c:extLst>
            <c:ext xmlns:c16="http://schemas.microsoft.com/office/drawing/2014/chart" uri="{C3380CC4-5D6E-409C-BE32-E72D297353CC}">
              <c16:uniqueId val="{00000000-9BFD-43E3-9CE3-A61F557A0A01}"/>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433"/>
                </a:solidFill>
                <a:latin typeface="+mn-lt"/>
              </a:defRPr>
            </a:pPr>
            <a:endParaRPr lang="en-US"/>
          </a:p>
        </c:txPr>
        <c:crossAx val="2094734552"/>
        <c:crosses val="autoZero"/>
        <c:auto val="1"/>
        <c:lblAlgn val="ctr"/>
        <c:lblOffset val="100"/>
        <c:noMultiLvlLbl val="1"/>
      </c:catAx>
      <c:valAx>
        <c:axId val="2094734552"/>
        <c:scaling>
          <c:orientation val="minMax"/>
          <c:max val="0.6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433"/>
                </a:solidFill>
                <a:latin typeface="+mn-lt"/>
              </a:defRPr>
            </a:pPr>
            <a:r>
              <a:rPr sz="1400" b="0" i="0" u="none" strike="noStrike">
                <a:solidFill>
                  <a:srgbClr val="1B2433"/>
                </a:solidFill>
                <a:latin typeface="+mn-lt"/>
              </a:rPr>
              <a:t>Share of the index vs. share of the top-4 slots</a:t>
            </a:r>
          </a:p>
        </c:rich>
      </c:tx>
      <c:overlay val="0"/>
    </c:title>
    <c:autoTitleDeleted val="0"/>
    <c:plotArea>
      <c:layout/>
      <c:barChart>
        <c:barDir val="col"/>
        <c:grouping val="clustered"/>
        <c:varyColors val="0"/>
        <c:ser>
          <c:idx val="0"/>
          <c:order val="0"/>
          <c:tx>
            <c:strRef>
              <c:f>Sheet1!$B$1</c:f>
              <c:strCache>
                <c:ptCount val="1"/>
                <c:pt idx="0">
                  <c:v>Share of the index</c:v>
                </c:pt>
              </c:strCache>
            </c:strRef>
          </c:tx>
          <c:spPr>
            <a:solidFill>
              <a:srgbClr val="9AA3AF"/>
            </a:solidFill>
            <a:effectLst/>
          </c:spPr>
          <c:invertIfNegative val="0"/>
          <c:dLbls>
            <c:numFmt formatCode="0.0%" sourceLinked="0"/>
            <c:spPr>
              <a:noFill/>
              <a:ln>
                <a:noFill/>
              </a:ln>
              <a:effectLst/>
            </c:spPr>
            <c:txPr>
              <a:bodyPr/>
              <a:lstStyle/>
              <a:p>
                <a:pPr>
                  <a:defRPr sz="1200" b="0" i="0" u="none" strike="noStrike">
                    <a:solidFill>
                      <a:srgbClr val="1B24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Blog</c:v>
                </c:pt>
                <c:pt idx="1">
                  <c:v>X</c:v>
                </c:pt>
                <c:pt idx="2">
                  <c:v>LinkedIn</c:v>
                </c:pt>
                <c:pt idx="3">
                  <c:v>YouTube</c:v>
                </c:pt>
              </c:strCache>
            </c:strRef>
          </c:cat>
          <c:val>
            <c:numRef>
              <c:f>Sheet1!$B$2:$B$5</c:f>
              <c:numCache>
                <c:formatCode>General</c:formatCode>
                <c:ptCount val="4"/>
                <c:pt idx="0">
                  <c:v>0.437</c:v>
                </c:pt>
                <c:pt idx="1">
                  <c:v>0.52800000000000002</c:v>
                </c:pt>
                <c:pt idx="2">
                  <c:v>3.4000000000000002E-2</c:v>
                </c:pt>
                <c:pt idx="3">
                  <c:v>2E-3</c:v>
                </c:pt>
              </c:numCache>
            </c:numRef>
          </c:val>
          <c:extLst>
            <c:ext xmlns:c16="http://schemas.microsoft.com/office/drawing/2014/chart" uri="{C3380CC4-5D6E-409C-BE32-E72D297353CC}">
              <c16:uniqueId val="{00000000-5247-4FBC-9687-3E7F014FCA85}"/>
            </c:ext>
          </c:extLst>
        </c:ser>
        <c:ser>
          <c:idx val="1"/>
          <c:order val="1"/>
          <c:tx>
            <c:strRef>
              <c:f>Sheet1!$C$1</c:f>
              <c:strCache>
                <c:ptCount val="1"/>
                <c:pt idx="0">
                  <c:v>Share of top-4 hits</c:v>
                </c:pt>
              </c:strCache>
            </c:strRef>
          </c:tx>
          <c:spPr>
            <a:solidFill>
              <a:srgbClr val="2A9D8F"/>
            </a:solidFill>
            <a:effectLst/>
          </c:spPr>
          <c:invertIfNegative val="0"/>
          <c:dLbls>
            <c:numFmt formatCode="0.0%" sourceLinked="0"/>
            <c:spPr>
              <a:noFill/>
              <a:ln>
                <a:noFill/>
              </a:ln>
              <a:effectLst/>
            </c:spPr>
            <c:txPr>
              <a:bodyPr/>
              <a:lstStyle/>
              <a:p>
                <a:pPr>
                  <a:defRPr sz="1200" b="0" i="0" u="none" strike="noStrike">
                    <a:solidFill>
                      <a:srgbClr val="1B24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Blog</c:v>
                </c:pt>
                <c:pt idx="1">
                  <c:v>X</c:v>
                </c:pt>
                <c:pt idx="2">
                  <c:v>LinkedIn</c:v>
                </c:pt>
                <c:pt idx="3">
                  <c:v>YouTube</c:v>
                </c:pt>
              </c:strCache>
            </c:strRef>
          </c:cat>
          <c:val>
            <c:numRef>
              <c:f>Sheet1!$C$2:$C$5</c:f>
              <c:numCache>
                <c:formatCode>General</c:formatCode>
                <c:ptCount val="4"/>
                <c:pt idx="0">
                  <c:v>0.57499999999999996</c:v>
                </c:pt>
                <c:pt idx="1">
                  <c:v>0.32500000000000001</c:v>
                </c:pt>
                <c:pt idx="2">
                  <c:v>0.1</c:v>
                </c:pt>
                <c:pt idx="3">
                  <c:v>0</c:v>
                </c:pt>
              </c:numCache>
            </c:numRef>
          </c:val>
          <c:extLst>
            <c:ext xmlns:c16="http://schemas.microsoft.com/office/drawing/2014/chart" uri="{C3380CC4-5D6E-409C-BE32-E72D297353CC}">
              <c16:uniqueId val="{00000001-5247-4FBC-9687-3E7F014FCA85}"/>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3"/>
                </a:solidFill>
                <a:latin typeface="+mn-lt"/>
              </a:defRPr>
            </a:pPr>
            <a:endParaRPr lang="en-US"/>
          </a:p>
        </c:txPr>
        <c:crossAx val="2094734552"/>
        <c:crosses val="autoZero"/>
        <c:auto val="1"/>
        <c:lblAlgn val="ctr"/>
        <c:lblOffset val="100"/>
        <c:noMultiLvlLbl val="1"/>
      </c:catAx>
      <c:valAx>
        <c:axId val="2094734552"/>
        <c:scaling>
          <c:orientation val="minMax"/>
          <c:max val="0.7"/>
          <c:min val="0"/>
        </c:scaling>
        <c:delete val="0"/>
        <c:axPos val="l"/>
        <c:majorGridlines>
          <c:spPr>
            <a:ln w="9525" cap="flat">
              <a:solidFill>
                <a:srgbClr val="D9DEE5"/>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1B24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433"/>
                </a:solidFill>
                <a:latin typeface="+mn-lt"/>
              </a:defRPr>
            </a:pPr>
            <a:r>
              <a:rPr sz="1400" b="0" i="0" u="none" strike="noStrike">
                <a:solidFill>
                  <a:srgbClr val="1B2433"/>
                </a:solidFill>
                <a:latin typeface="+mn-lt"/>
              </a:rPr>
              <a:t>Validation loss at each checkpoint (lower is better)</a:t>
            </a:r>
          </a:p>
        </c:rich>
      </c:tx>
      <c:overlay val="0"/>
    </c:title>
    <c:autoTitleDeleted val="0"/>
    <c:plotArea>
      <c:layout/>
      <c:lineChart>
        <c:grouping val="standard"/>
        <c:varyColors val="0"/>
        <c:ser>
          <c:idx val="0"/>
          <c:order val="0"/>
          <c:tx>
            <c:strRef>
              <c:f>Sheet1!$B$1</c:f>
              <c:strCache>
                <c:ptCount val="1"/>
                <c:pt idx="0">
                  <c:v>Validation loss</c:v>
                </c:pt>
              </c:strCache>
            </c:strRef>
          </c:tx>
          <c:spPr>
            <a:ln w="38100" cap="flat">
              <a:solidFill>
                <a:srgbClr val="8B5CF6"/>
              </a:solidFill>
              <a:prstDash val="solid"/>
              <a:round/>
            </a:ln>
            <a:effectLst/>
          </c:spPr>
          <c:marker>
            <c:symbol val="circle"/>
            <c:size val="8"/>
            <c:spPr>
              <a:solidFill>
                <a:srgbClr val="8B5CF6"/>
              </a:solidFill>
              <a:ln w="9525" cap="flat">
                <a:solidFill>
                  <a:srgbClr val="8B5CF6"/>
                </a:solidFill>
                <a:prstDash val="solid"/>
                <a:round/>
              </a:ln>
              <a:effectLst/>
            </c:spPr>
          </c:marker>
          <c:dLbls>
            <c:numFmt formatCode="0.000" sourceLinked="0"/>
            <c:spPr>
              <a:noFill/>
              <a:ln>
                <a:noFill/>
              </a:ln>
              <a:effectLst/>
            </c:spPr>
            <c:txPr>
              <a:bodyPr/>
              <a:lstStyle/>
              <a:p>
                <a:pPr>
                  <a:defRPr sz="1200" b="0" i="0" u="none" strike="noStrike">
                    <a:solidFill>
                      <a:srgbClr val="1B2433"/>
                    </a:solidFill>
                    <a:latin typeface="+mn-lt"/>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1</c:v>
                </c:pt>
                <c:pt idx="1">
                  <c:v>2</c:v>
                </c:pt>
                <c:pt idx="2">
                  <c:v>3</c:v>
                </c:pt>
                <c:pt idx="3">
                  <c:v>4</c:v>
                </c:pt>
                <c:pt idx="4">
                  <c:v>5</c:v>
                </c:pt>
                <c:pt idx="5">
                  <c:v>6</c:v>
                </c:pt>
                <c:pt idx="6">
                  <c:v>7</c:v>
                </c:pt>
              </c:strCache>
            </c:strRef>
          </c:cat>
          <c:val>
            <c:numRef>
              <c:f>Sheet1!$B$2:$B$8</c:f>
              <c:numCache>
                <c:formatCode>General</c:formatCode>
                <c:ptCount val="7"/>
                <c:pt idx="0">
                  <c:v>1.4016</c:v>
                </c:pt>
                <c:pt idx="1">
                  <c:v>1.3645</c:v>
                </c:pt>
                <c:pt idx="2">
                  <c:v>1.3421000000000001</c:v>
                </c:pt>
                <c:pt idx="3">
                  <c:v>1.341</c:v>
                </c:pt>
                <c:pt idx="4">
                  <c:v>1.3342000000000001</c:v>
                </c:pt>
                <c:pt idx="5">
                  <c:v>1.3317000000000001</c:v>
                </c:pt>
                <c:pt idx="6">
                  <c:v>1.3315999999999999</c:v>
                </c:pt>
              </c:numCache>
            </c:numRef>
          </c:val>
          <c:smooth val="0"/>
          <c:extLst>
            <c:ext xmlns:c16="http://schemas.microsoft.com/office/drawing/2014/chart" uri="{C3380CC4-5D6E-409C-BE32-E72D297353CC}">
              <c16:uniqueId val="{00000000-E102-4745-AC15-FA5D7F893A9B}"/>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6B7280"/>
                    </a:solidFill>
                    <a:latin typeface="Arial"/>
                  </a:defRPr>
                </a:pPr>
                <a:r>
                  <a:rPr sz="1100" b="0" i="0" u="none" strike="noStrike">
                    <a:solidFill>
                      <a:srgbClr val="6B7280"/>
                    </a:solidFill>
                    <a:latin typeface="Arial"/>
                  </a:rPr>
                  <a:t>Evaluation checkpoint</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3"/>
                </a:solidFill>
                <a:latin typeface="+mn-lt"/>
              </a:defRPr>
            </a:pPr>
            <a:endParaRPr lang="en-US"/>
          </a:p>
        </c:txPr>
        <c:crossAx val="2094734552"/>
        <c:crosses val="autoZero"/>
        <c:auto val="1"/>
        <c:lblAlgn val="ctr"/>
        <c:lblOffset val="100"/>
        <c:noMultiLvlLbl val="1"/>
      </c:catAx>
      <c:valAx>
        <c:axId val="2094734552"/>
        <c:scaling>
          <c:orientation val="minMax"/>
          <c:max val="1.44"/>
          <c:min val="1.28"/>
        </c:scaling>
        <c:delete val="0"/>
        <c:axPos val="l"/>
        <c:majorGridlines>
          <c:spPr>
            <a:ln w="9525" cap="flat">
              <a:solidFill>
                <a:srgbClr val="D9DEE5"/>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majorUnit val="0.04"/>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433"/>
                </a:solidFill>
                <a:latin typeface="+mn-lt"/>
              </a:defRPr>
            </a:pPr>
            <a:r>
              <a:rPr sz="1400" b="0" i="0" u="none" strike="noStrike">
                <a:solidFill>
                  <a:srgbClr val="1B2433"/>
                </a:solidFill>
                <a:latin typeface="+mn-lt"/>
              </a:rPr>
              <a:t>Drafts that stop mid-sentence (lower is better)</a:t>
            </a:r>
          </a:p>
        </c:rich>
      </c:tx>
      <c:overlay val="0"/>
    </c:title>
    <c:autoTitleDeleted val="0"/>
    <c:plotArea>
      <c:layout/>
      <c:barChart>
        <c:barDir val="col"/>
        <c:grouping val="clustered"/>
        <c:varyColors val="0"/>
        <c:ser>
          <c:idx val="0"/>
          <c:order val="0"/>
          <c:tx>
            <c:strRef>
              <c:f>Sheet1!$B$1</c:f>
              <c:strCache>
                <c:ptCount val="1"/>
                <c:pt idx="0">
                  <c:v>Repaired adapter</c:v>
                </c:pt>
              </c:strCache>
            </c:strRef>
          </c:tx>
          <c:spPr>
            <a:solidFill>
              <a:srgbClr val="9AA3AF"/>
            </a:solidFill>
            <a:effectLst/>
          </c:spPr>
          <c:invertIfNegative val="0"/>
          <c:dLbls>
            <c:numFmt formatCode="0%" sourceLinked="0"/>
            <c:spPr>
              <a:noFill/>
              <a:ln>
                <a:noFill/>
              </a:ln>
              <a:effectLst/>
            </c:spPr>
            <c:txPr>
              <a:bodyPr/>
              <a:lstStyle/>
              <a:p>
                <a:pPr>
                  <a:defRPr sz="1200" b="0" i="0" u="none" strike="noStrike">
                    <a:solidFill>
                      <a:srgbClr val="1B24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Seed 42</c:v>
                </c:pt>
                <c:pt idx="1">
                  <c:v>Seed 43</c:v>
                </c:pt>
                <c:pt idx="2">
                  <c:v>Seed 44</c:v>
                </c:pt>
              </c:strCache>
            </c:strRef>
          </c:cat>
          <c:val>
            <c:numRef>
              <c:f>Sheet1!$B$2:$B$4</c:f>
              <c:numCache>
                <c:formatCode>General</c:formatCode>
                <c:ptCount val="3"/>
                <c:pt idx="0">
                  <c:v>0.63300000000000001</c:v>
                </c:pt>
                <c:pt idx="1">
                  <c:v>0.6</c:v>
                </c:pt>
                <c:pt idx="2">
                  <c:v>0.64200000000000002</c:v>
                </c:pt>
              </c:numCache>
            </c:numRef>
          </c:val>
          <c:extLst>
            <c:ext xmlns:c16="http://schemas.microsoft.com/office/drawing/2014/chart" uri="{C3380CC4-5D6E-409C-BE32-E72D297353CC}">
              <c16:uniqueId val="{00000000-2ED8-4478-9CE0-6DBA95FF7674}"/>
            </c:ext>
          </c:extLst>
        </c:ser>
        <c:ser>
          <c:idx val="1"/>
          <c:order val="1"/>
          <c:tx>
            <c:strRef>
              <c:f>Sheet1!$C$1</c:f>
              <c:strCache>
                <c:ptCount val="1"/>
                <c:pt idx="0">
                  <c:v>Relabel adapter</c:v>
                </c:pt>
              </c:strCache>
            </c:strRef>
          </c:tx>
          <c:spPr>
            <a:solidFill>
              <a:srgbClr val="D9822B"/>
            </a:solidFill>
            <a:effectLst/>
          </c:spPr>
          <c:invertIfNegative val="0"/>
          <c:dLbls>
            <c:numFmt formatCode="0%" sourceLinked="0"/>
            <c:spPr>
              <a:noFill/>
              <a:ln>
                <a:noFill/>
              </a:ln>
              <a:effectLst/>
            </c:spPr>
            <c:txPr>
              <a:bodyPr/>
              <a:lstStyle/>
              <a:p>
                <a:pPr>
                  <a:defRPr sz="1200" b="0" i="0" u="none" strike="noStrike">
                    <a:solidFill>
                      <a:srgbClr val="1B24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Seed 42</c:v>
                </c:pt>
                <c:pt idx="1">
                  <c:v>Seed 43</c:v>
                </c:pt>
                <c:pt idx="2">
                  <c:v>Seed 44</c:v>
                </c:pt>
              </c:strCache>
            </c:strRef>
          </c:cat>
          <c:val>
            <c:numRef>
              <c:f>Sheet1!$C$2:$C$4</c:f>
              <c:numCache>
                <c:formatCode>General</c:formatCode>
                <c:ptCount val="3"/>
                <c:pt idx="0">
                  <c:v>0.34200000000000003</c:v>
                </c:pt>
                <c:pt idx="1">
                  <c:v>0.3</c:v>
                </c:pt>
                <c:pt idx="2">
                  <c:v>0.32500000000000001</c:v>
                </c:pt>
              </c:numCache>
            </c:numRef>
          </c:val>
          <c:extLst>
            <c:ext xmlns:c16="http://schemas.microsoft.com/office/drawing/2014/chart" uri="{C3380CC4-5D6E-409C-BE32-E72D297353CC}">
              <c16:uniqueId val="{00000001-2ED8-4478-9CE0-6DBA95FF7674}"/>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3"/>
                </a:solidFill>
                <a:latin typeface="+mn-lt"/>
              </a:defRPr>
            </a:pPr>
            <a:endParaRPr lang="en-US"/>
          </a:p>
        </c:txPr>
        <c:crossAx val="2094734552"/>
        <c:crosses val="autoZero"/>
        <c:auto val="1"/>
        <c:lblAlgn val="ctr"/>
        <c:lblOffset val="100"/>
        <c:noMultiLvlLbl val="1"/>
      </c:catAx>
      <c:valAx>
        <c:axId val="2094734552"/>
        <c:scaling>
          <c:orientation val="minMax"/>
          <c:max val="0.8"/>
          <c:min val="0"/>
        </c:scaling>
        <c:delete val="0"/>
        <c:axPos val="l"/>
        <c:majorGridlines>
          <c:spPr>
            <a:ln w="9525" cap="flat">
              <a:solidFill>
                <a:srgbClr val="D9DEE5"/>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1B24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317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Team 2, and our project teaches an AI to write in the voice of Jason Lemkin, the founder of SaaStr. Today I will follow the pipeline in order. First how we cleaned the data, then how we prepared training and test data, then what the data looks like, and then the model results so far. At the end I will show the live system. The screenshot is our running web app. The drafts it writes are model output. They are not Lemkin's own words.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data, the goal. We want a drafting assistant that writes LinkedIn posts, blog articles, X threads and talk scripts in Lemkin's voice. We found that sounding like someone is really five problems: voice, substance, medium, completeness and originality. Each one has its own score. We refuse to average them into a single number, because a draft that stops mid-sentence can still look good on word overlap. We test on 120 prompts: 30 topics in four media. We used those topics while developing, so we call it a development set, not a final exam. A draft only counts if it passes the gates: it finishes, it is not copied, it fits the medium, and with retrieval its claims are supported.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from five files, 32,835 raw rows. About 26,000 are X posts, then blog posts, LinkedIn posts and two YouTube channels. Cleaning removed 2,465 rows, about 7.5 percent. The biggest reason is rows too short to be a real post. Then LinkedIn page boilerplate, then event promotions, then empty rows. LinkedIn lost the most, a quarter of its rows, because many were page furniture and not posts. In total 30,370 rows remain. Separately, the retrieval pipeline on Airflow and Spark produces 31,443 documents and 38,105 chunks. Those are two cleaning paths, so the two counts differ. The raw files are never edited.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happens to the cleaned posts. Long posts are cut into pieces of at most 512 tokens, which is what the model can train on, and paragraphs are kept together. That gives about 43,000 rows. We then balance the media: SaaStr talks are dropped and extra X posts are capped, which leaves 31,328 rows. The last step is the relabel step, which I explain on the next slide. It dropped 4,783 rows whose answer ended on a cut word or a fragment. Of the 25,062 training rows, 21,377 stay. Just over half of those are whole posts. The rest are openings and later slices, now labeled honestly.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preprocessing problem that mattered most. When we audited our first training file, we found that long posts had been cut into chunks, but every chunk still carried the instruction to write the whole post. The model learned that a whole post ends wherever the window ends, so it stopped mid-sentence. The fix, on the right, was to relabel the rows. A whole post keeps the whole-post instruction. A first slice becomes an opening-only instruction. A later slice becomes a continuation, and the instruction quotes the previous ending. We did not rewrite any answer text. Rows that still had no clean ending were dropped.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training and test data. A random shuffle of rows would leak, because a post and its slices or near-copies could land on opposite sides. So we build groups first. Rows that share a source line, a title, an answer text, or a word overlap of 0.8 or more form one group, and the whole group goes to one split, about 80, 10 and 10 percent. For the final relabeled file that gives 21,377 training, 2,588 validation and 2,580 test rows. On the 31,328-row split we checked 17,190 groups and found none in two splits and no duplicate pairs across splits. The test rows are in neither the trainer nor the retrieval index used by Model E. That index, lemkin_train_only, has 21,193 train documents. The live demo's PersonaRAG still reads the full index, and the gold topics are a development set, not a sealed test.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numbers behind the retrieval index, which holds 21,193 training documents. The picture is not the one you might expect. The median document is only 41 words. Half are under 40 words, a quarter are under 20, and a third have no sentence-ending punctuation. More than a third are continuations of a longer post, and over half share a post with at least one other chunk. About one in five is just a headline or a link. By medium, X is a little over half of the index and blog is most of the rest. LinkedIn is 3 percent and YouTube is 40 documents. This tells us that handing raw retrieved chunks to the writer is risky, which is why Model E extracts short, checkable claims first.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 retriever on all 30 gold topics before any model wrote a word, taking the top 4 hits for each. The good news is that nothing came back empty and there were no duplicate documents. About a third of the queries, 11 of 30, returned two chunks of the same post. The mean cosine distance is 0.243. On the chart, X is more than half of the index, but only a third of the top slots. Blog is 44 percent of the index and 58 percent of the hits, so the retriever prefers longer, more complete posts. We have not computed precision or recall, because we have no hand-graded relevance labels yet. The example at the bottom shows a fragment that does come back, which is why Model E extracts short claims first.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the models in steps so each one tests a single idea. A is plain Llama 3.1 8B. B adds a persona prompt. C adds retrieval, and it is what the live demo calls PersonaRAG. D is a QLoRA fine-tune. E, highlighted, is our selected model: the same adapter recipe trained on the relabeled data, plus retrieval from the train-only index and a claim check before writing. F, ontology-aware retrieval, is a design we have not built. Model E uses Llama 3.1 8B in 4-bit with a rank-16 adapter, trained for two epochs on 21,377 rows. It took about 3.4 hours on one 16 GB GPU. Validation loss fell at every checkpoint to 1.3316. We do not compare that number with the earlier adapter, because the validation file changed.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clearest result. We trained two adapters that differ only in the training labels, and generated 120 drafts from each, on three different seeds. The grey bars are the earlier repaired adapter. About 60 to 64 percent of its drafts stopped in the middle of a sentence. The orange bars are the relabel adapter, at 30 to 34 percent. It is lower on every seed, so it is not luck. The mean goes from 62.5 to 32.2 percent. Early stopping also falls, from 62.5 to 56.7 percent, a smaller gain. One caution: on our older gold rubric, plain untrained Llama scores higher than our adapter. That rubric rewards headings and length, so we do not use it to choose a model. And relabeling fixed completion. It did not prove better voice.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head-to-head, the same relabel adapter with retrieval off and on, 120 drafts each. The gain from retrieval is grounding. We extract 600 short claims, 498 can be checked, and 495 of those are supported by their source, which is 99.4 percent. Without retrieval there are no sources to check at all. But retrieval did not improve the voice. 77 drafts are eligible with it off and 72 with it on. Blog voice distance is 0.712 off and 0.777 on, where lower is closer. Persona utility is 0.705 and 0.688. So the honest summary is that retrieval makes claims checkable, and voice is still our open problem. Fourteen drafts fail the grounding gate, and sixty carry a number the evidence does not contain. LinkedIn is our weakest medium: only 7 of 30 drafts are eligible without retrieval, and 9 with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system you can touch. This is our web app, Lemkin Studio, running on one AWS instance with four CPUs and an encrypted disk. Only the password-protected gateway is public. The browser goes through the gateway to the Next.js app, then to a FastAPI service, which calls Ollama for the models and ChromaDB for retrieval. The screenshot is a real draft from the fine-tuned model, called direct QLoRA. Two methods are live. PersonaRAG shows the retrieved sources next to the draft. Direct QLoRA writes from the merged model and retrieves nothing. To be honest about speed: this 125-word draft took about 92 seconds on CPU, because AWS denied our GPU request, so a GPU option is ready but not running. The index restored on AWS has 37,525 chunks. The newer full pipeline run has 38,105. Model E runs in one Python process today, and wrapping it behind the same API is our next integration step.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here is what we can and cannot claim today. We have a clean, documented data pipeline, a leak-safe split, a relabeling fix that roughly halved mid-sentence stops, and a retrieval path where 99.4 percent of checkable claims are supported by their sources. We do not claim that the model is a validated voice clone. Retrieval has not improved voice yet. Not every video transcript is confirmed as Lemkin speaking. We have no hand-graded relevance labels, so no precision or recall, and no human preference test yet. Voice scores are only calibrated for blog drafts. Next we will score models B and C on the same 120 prompts, serve Model E behind the API, add a keyword baseline, fix the short LinkedIn and X drafts, and run human preference sheets.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508760"/>
            <a:ext cx="5394960" cy="237744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
        <p:nvSpPr>
          <p:cNvPr id="3" name="Text 0"/>
          <p:cNvSpPr>
            <a:spLocks noGrp="1"/>
          </p:cNvSpPr>
          <p:nvPr>
            <p:ph type="body" idx="101" hasCustomPrompt="1"/>
          </p:nvPr>
        </p:nvSpPr>
        <p:spPr>
          <a:xfrm>
            <a:off x="548640" y="4023360"/>
            <a:ext cx="5394960" cy="914400"/>
          </a:xfrm>
          <a:prstGeom prst="rect">
            <a:avLst/>
          </a:prstGeom>
          <a:noFill/>
          <a:ln/>
        </p:spPr>
        <p:txBody>
          <a:bodyPr wrap="square" rtlCol="0"/>
          <a:lstStyle>
            <a:lvl1pPr marL="0" indent="0" algn="l">
              <a:buNone/>
              <a:defRPr lang="en-US" sz="1700" dirty="0">
                <a:solidFill>
                  <a:schemeClr val="bg2"/>
                </a:solidFill>
              </a:defRPr>
            </a:lvl1pPr>
          </a:lstStyle>
          <a:p>
            <a:pPr marL="0" indent="0" algn="l">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778240" cy="73152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a:spLocks noGrp="1"/>
          </p:cNvSpPr>
          <p:nvPr>
            <p:ph type="body" idx="101" hasCustomPrompt="1"/>
          </p:nvPr>
        </p:nvSpPr>
        <p:spPr>
          <a:xfrm>
            <a:off x="548640" y="1051560"/>
            <a:ext cx="11091672" cy="457200"/>
          </a:xfrm>
          <a:prstGeom prst="rect">
            <a:avLst/>
          </a:prstGeom>
          <a:noFill/>
          <a:ln/>
        </p:spPr>
        <p:txBody>
          <a:bodyPr wrap="square" rtlCol="0"/>
          <a:lstStyle>
            <a:lvl1pPr marL="0" indent="0" algn="l">
              <a:buNone/>
              <a:defRPr lang="en-US" sz="1800" dirty="0">
                <a:solidFill>
                  <a:schemeClr val="accent5"/>
                </a:solidFill>
              </a:defRPr>
            </a:lvl1pPr>
          </a:lstStyle>
          <a:p>
            <a:pPr marL="0" indent="0" algn="l">
              <a:buNone/>
            </a:pPr>
            <a:endParaRPr lang="en-US" sz="18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marL="0" indent="0" algn="l">
              <a:buNone/>
            </a:pPr>
            <a:r>
              <a:rPr lang="en-US" sz="1000" dirty="0">
                <a:solidFill>
                  <a:schemeClr val="accent5"/>
                </a:solidFill>
              </a:rPr>
              <a:t>DATA 298B  |  Team 2  |  Demo 1</a:t>
            </a:r>
            <a:endParaRPr lang="en-US" sz="10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914400"/>
            <a:ext cx="5943600" cy="365760"/>
          </a:xfrm>
          <a:prstGeom prst="rect">
            <a:avLst/>
          </a:prstGeom>
          <a:noFill/>
          <a:ln/>
        </p:spPr>
        <p:txBody>
          <a:bodyPr wrap="square" lIns="0" tIns="0" rIns="0" bIns="0" rtlCol="0" anchor="t"/>
          <a:lstStyle/>
          <a:p>
            <a:pPr marL="0" indent="0">
              <a:buNone/>
            </a:pPr>
            <a:r>
              <a:rPr lang="en-US" sz="1400" b="1" dirty="0">
                <a:solidFill>
                  <a:schemeClr val="accent4"/>
                </a:solidFill>
              </a:rPr>
              <a:t>DATA 298B  |  MSDA Project II  |  Demo 1</a:t>
            </a:r>
            <a:endParaRPr lang="en-US" sz="1400" dirty="0"/>
          </a:p>
        </p:txBody>
      </p:sp>
      <p:sp>
        <p:nvSpPr>
          <p:cNvPr id="3" name="Text 0"/>
          <p:cNvSpPr>
            <a:spLocks noGrp="1"/>
          </p:cNvSpPr>
          <p:nvPr>
            <p:ph type="title" idx="100" hasCustomPrompt="1"/>
          </p:nvPr>
        </p:nvSpPr>
        <p:spPr>
          <a:xfrm>
            <a:off x="548640" y="1508760"/>
            <a:ext cx="5394960" cy="2377440"/>
          </a:xfrm>
          <a:prstGeom prst="rect">
            <a:avLst/>
          </a:prstGeom>
          <a:noFill/>
          <a:ln/>
        </p:spPr>
        <p:txBody>
          <a:bodyPr wrap="square" lIns="0" tIns="0" rIns="0" bIns="0" rtlCol="0" anchor="t"/>
          <a:lstStyle/>
          <a:p>
            <a:pPr marL="0" indent="0" algn="l">
              <a:buNone/>
            </a:pPr>
            <a:r>
              <a:rPr lang="en-US" sz="3800" b="1" dirty="0">
                <a:solidFill>
                  <a:schemeClr val="bg1"/>
                </a:solidFill>
              </a:rPr>
              <a:t>AI-Driven Persona Cloning for B2B Content Generation</a:t>
            </a:r>
            <a:endParaRPr lang="en-US" sz="3800" dirty="0"/>
          </a:p>
        </p:txBody>
      </p:sp>
      <p:sp>
        <p:nvSpPr>
          <p:cNvPr id="4" name="Text 0"/>
          <p:cNvSpPr>
            <a:spLocks noGrp="1"/>
          </p:cNvSpPr>
          <p:nvPr>
            <p:ph type="body" idx="101" hasCustomPrompt="1"/>
          </p:nvPr>
        </p:nvSpPr>
        <p:spPr>
          <a:xfrm>
            <a:off x="548640" y="4023360"/>
            <a:ext cx="5394960" cy="914400"/>
          </a:xfrm>
          <a:prstGeom prst="rect">
            <a:avLst/>
          </a:prstGeom>
          <a:noFill/>
          <a:ln/>
        </p:spPr>
        <p:txBody>
          <a:bodyPr wrap="square" lIns="0" tIns="0" rIns="0" bIns="0" rtlCol="0" anchor="t"/>
          <a:lstStyle/>
          <a:p>
            <a:pPr marL="0" indent="0" algn="l">
              <a:buNone/>
            </a:pPr>
            <a:r>
              <a:rPr lang="en-US" sz="1700" dirty="0">
                <a:solidFill>
                  <a:schemeClr val="bg2"/>
                </a:solidFill>
              </a:rPr>
              <a:t>Writing in the voice of Jason Lemkin: our data, our models and where the results stand</a:t>
            </a:r>
            <a:endParaRPr lang="en-US" sz="1700" dirty="0"/>
          </a:p>
        </p:txBody>
      </p:sp>
      <p:sp>
        <p:nvSpPr>
          <p:cNvPr id="5" name="Team"/>
          <p:cNvSpPr txBox="1"/>
          <p:nvPr/>
        </p:nvSpPr>
        <p:spPr>
          <a:xfrm>
            <a:off x="548640" y="5577840"/>
            <a:ext cx="5669280" cy="502920"/>
          </a:xfrm>
          <a:prstGeom prst="rect">
            <a:avLst/>
          </a:prstGeom>
          <a:noFill/>
          <a:ln/>
        </p:spPr>
        <p:txBody>
          <a:bodyPr wrap="square" lIns="0" tIns="0" rIns="0" bIns="0" rtlCol="0" anchor="t"/>
          <a:lstStyle/>
          <a:p>
            <a:pPr marL="0" indent="0">
              <a:buNone/>
            </a:pPr>
            <a:r>
              <a:rPr lang="en-US" sz="1400" dirty="0">
                <a:solidFill>
                  <a:schemeClr val="bg2"/>
                </a:solidFill>
              </a:rPr>
              <a:t>Team 2: Kevin Gao, Andreah Cruz, Pukhraj Rathkanthiwar, Vrushabh Bodarya</a:t>
            </a:r>
            <a:endParaRPr lang="en-US" sz="1400" dirty="0"/>
          </a:p>
        </p:txBody>
      </p:sp>
      <p:sp>
        <p:nvSpPr>
          <p:cNvPr id="6" name="Date"/>
          <p:cNvSpPr txBox="1"/>
          <p:nvPr/>
        </p:nvSpPr>
        <p:spPr>
          <a:xfrm>
            <a:off x="548640" y="6126480"/>
            <a:ext cx="3657600" cy="320040"/>
          </a:xfrm>
          <a:prstGeom prst="rect">
            <a:avLst/>
          </a:prstGeom>
          <a:noFill/>
          <a:ln/>
        </p:spPr>
        <p:txBody>
          <a:bodyPr wrap="square" lIns="0" tIns="0" rIns="0" bIns="0" rtlCol="0" anchor="t"/>
          <a:lstStyle/>
          <a:p>
            <a:pPr marL="0" indent="0">
              <a:buNone/>
            </a:pPr>
            <a:r>
              <a:rPr lang="en-US" sz="1400" dirty="0">
                <a:solidFill>
                  <a:schemeClr val="bg2"/>
                </a:solidFill>
              </a:rPr>
              <a:t>Demo 1, October 2026</a:t>
            </a:r>
            <a:endParaRPr lang="en-US" sz="1400" dirty="0"/>
          </a:p>
        </p:txBody>
      </p:sp>
      <p:sp>
        <p:nvSpPr>
          <p:cNvPr id="7" name="Screenshot frame"/>
          <p:cNvSpPr/>
          <p:nvPr/>
        </p:nvSpPr>
        <p:spPr>
          <a:xfrm>
            <a:off x="6263640" y="1097280"/>
            <a:ext cx="5394960" cy="2834640"/>
          </a:xfrm>
          <a:prstGeom prst="roundRect">
            <a:avLst>
              <a:gd name="adj" fmla="val 3871"/>
            </a:avLst>
          </a:prstGeom>
          <a:solidFill>
            <a:schemeClr val="bg1"/>
          </a:solidFill>
          <a:ln w="12700">
            <a:solidFill>
              <a:schemeClr val="bg1"/>
            </a:solidFill>
            <a:prstDash val="solid"/>
          </a:ln>
          <a:effectLst>
            <a:outerShdw blurRad="101600" dist="25400" dir="5400000" algn="bl" rotWithShape="0">
              <a:srgbClr val="000000">
                <a:alpha val="12000"/>
              </a:srgbClr>
            </a:outerShdw>
          </a:effectLst>
        </p:spPr>
        <p:txBody>
          <a:bodyPr/>
          <a:lstStyle/>
          <a:p>
            <a:endParaRPr lang="en-US"/>
          </a:p>
        </p:txBody>
      </p:sp>
      <p:pic>
        <p:nvPicPr>
          <p:cNvPr id="8" name="Live app screenshot" descr="Lemkin Studio content generator showing a draft written by the direct QLoRA method"/>
          <p:cNvPicPr>
            <a:picLocks noChangeAspect="1"/>
          </p:cNvPicPr>
          <p:nvPr/>
        </p:nvPicPr>
        <p:blipFill>
          <a:blip r:embed="rId3"/>
          <a:stretch>
            <a:fillRect/>
          </a:stretch>
        </p:blipFill>
        <p:spPr>
          <a:xfrm>
            <a:off x="6373368" y="1207008"/>
            <a:ext cx="5175504" cy="2446020"/>
          </a:xfrm>
          <a:prstGeom prst="rect">
            <a:avLst/>
          </a:prstGeom>
        </p:spPr>
      </p:pic>
      <p:sp>
        <p:nvSpPr>
          <p:cNvPr id="9" name="Screenshot caption"/>
          <p:cNvSpPr txBox="1"/>
          <p:nvPr/>
        </p:nvSpPr>
        <p:spPr>
          <a:xfrm>
            <a:off x="6263640" y="4069080"/>
            <a:ext cx="5394960" cy="274320"/>
          </a:xfrm>
          <a:prstGeom prst="rect">
            <a:avLst/>
          </a:prstGeom>
          <a:noFill/>
          <a:ln/>
        </p:spPr>
        <p:txBody>
          <a:bodyPr wrap="square" lIns="0" tIns="0" rIns="0" bIns="0" rtlCol="0" anchor="t"/>
          <a:lstStyle/>
          <a:p>
            <a:pPr marL="0" indent="0" algn="ctr">
              <a:buNone/>
            </a:pPr>
            <a:r>
              <a:rPr lang="en-US" sz="1200" dirty="0">
                <a:solidFill>
                  <a:schemeClr val="bg2"/>
                </a:solidFill>
              </a:rPr>
              <a:t>Lemkin Studio, our live demo: a draft from the fine-tuned model</a:t>
            </a:r>
            <a:endParaRPr lang="en-US" sz="1200" dirty="0"/>
          </a:p>
        </p:txBody>
      </p:sp>
      <p:sp>
        <p:nvSpPr>
          <p:cNvPr id="10" name="Title stat 1"/>
          <p:cNvSpPr txBox="1"/>
          <p:nvPr/>
        </p:nvSpPr>
        <p:spPr>
          <a:xfrm>
            <a:off x="6263640" y="4846320"/>
            <a:ext cx="1737360" cy="548640"/>
          </a:xfrm>
          <a:prstGeom prst="rect">
            <a:avLst/>
          </a:prstGeom>
          <a:noFill/>
          <a:ln/>
        </p:spPr>
        <p:txBody>
          <a:bodyPr wrap="square" lIns="0" tIns="0" rIns="0" bIns="0" rtlCol="0" anchor="t"/>
          <a:lstStyle/>
          <a:p>
            <a:pPr marL="0" indent="0">
              <a:buNone/>
            </a:pPr>
            <a:r>
              <a:rPr lang="en-US" sz="3000" b="1" dirty="0">
                <a:solidFill>
                  <a:schemeClr val="accent4"/>
                </a:solidFill>
                <a:latin typeface="Cambria" pitchFamily="34" charset="0"/>
                <a:ea typeface="Cambria" pitchFamily="34" charset="-122"/>
                <a:cs typeface="Cambria" pitchFamily="34" charset="-120"/>
              </a:rPr>
              <a:t>32,835</a:t>
            </a:r>
            <a:endParaRPr lang="en-US" sz="3000" dirty="0"/>
          </a:p>
        </p:txBody>
      </p:sp>
      <p:sp>
        <p:nvSpPr>
          <p:cNvPr id="11" name="Title stat 1 label"/>
          <p:cNvSpPr txBox="1"/>
          <p:nvPr/>
        </p:nvSpPr>
        <p:spPr>
          <a:xfrm>
            <a:off x="6263640" y="5440680"/>
            <a:ext cx="1645920" cy="548640"/>
          </a:xfrm>
          <a:prstGeom prst="rect">
            <a:avLst/>
          </a:prstGeom>
          <a:noFill/>
          <a:ln/>
        </p:spPr>
        <p:txBody>
          <a:bodyPr wrap="square" lIns="0" tIns="0" rIns="0" bIns="0" rtlCol="0" anchor="t"/>
          <a:lstStyle/>
          <a:p>
            <a:pPr marL="0" indent="0">
              <a:buNone/>
            </a:pPr>
            <a:r>
              <a:rPr lang="en-US" sz="1300" dirty="0">
                <a:solidFill>
                  <a:schemeClr val="bg2"/>
                </a:solidFill>
              </a:rPr>
              <a:t>raw rows from five sources</a:t>
            </a:r>
            <a:endParaRPr lang="en-US" sz="1300" dirty="0"/>
          </a:p>
        </p:txBody>
      </p:sp>
      <p:sp>
        <p:nvSpPr>
          <p:cNvPr id="12" name="Title stat 2"/>
          <p:cNvSpPr txBox="1"/>
          <p:nvPr/>
        </p:nvSpPr>
        <p:spPr>
          <a:xfrm>
            <a:off x="8092440" y="4846320"/>
            <a:ext cx="1737360" cy="548640"/>
          </a:xfrm>
          <a:prstGeom prst="rect">
            <a:avLst/>
          </a:prstGeom>
          <a:noFill/>
          <a:ln/>
        </p:spPr>
        <p:txBody>
          <a:bodyPr wrap="square" lIns="0" tIns="0" rIns="0" bIns="0" rtlCol="0" anchor="t"/>
          <a:lstStyle/>
          <a:p>
            <a:pPr marL="0" indent="0">
              <a:buNone/>
            </a:pPr>
            <a:r>
              <a:rPr lang="en-US" sz="3000" b="1" dirty="0">
                <a:solidFill>
                  <a:schemeClr val="accent4"/>
                </a:solidFill>
                <a:latin typeface="Cambria" pitchFamily="34" charset="0"/>
                <a:ea typeface="Cambria" pitchFamily="34" charset="-122"/>
                <a:cs typeface="Cambria" pitchFamily="34" charset="-120"/>
              </a:rPr>
              <a:t>21,377</a:t>
            </a:r>
            <a:endParaRPr lang="en-US" sz="3000" dirty="0"/>
          </a:p>
        </p:txBody>
      </p:sp>
      <p:sp>
        <p:nvSpPr>
          <p:cNvPr id="13" name="Title stat 2 label"/>
          <p:cNvSpPr txBox="1"/>
          <p:nvPr/>
        </p:nvSpPr>
        <p:spPr>
          <a:xfrm>
            <a:off x="8092440" y="5440680"/>
            <a:ext cx="1645920" cy="548640"/>
          </a:xfrm>
          <a:prstGeom prst="rect">
            <a:avLst/>
          </a:prstGeom>
          <a:noFill/>
          <a:ln/>
        </p:spPr>
        <p:txBody>
          <a:bodyPr wrap="square" lIns="0" tIns="0" rIns="0" bIns="0" rtlCol="0" anchor="t"/>
          <a:lstStyle/>
          <a:p>
            <a:pPr marL="0" indent="0">
              <a:buNone/>
            </a:pPr>
            <a:r>
              <a:rPr lang="en-US" sz="1300" dirty="0">
                <a:solidFill>
                  <a:schemeClr val="bg2"/>
                </a:solidFill>
              </a:rPr>
              <a:t>training rows after relabeling</a:t>
            </a:r>
            <a:endParaRPr lang="en-US" sz="1300" dirty="0"/>
          </a:p>
        </p:txBody>
      </p:sp>
      <p:sp>
        <p:nvSpPr>
          <p:cNvPr id="14" name="Title stat 3"/>
          <p:cNvSpPr txBox="1"/>
          <p:nvPr/>
        </p:nvSpPr>
        <p:spPr>
          <a:xfrm>
            <a:off x="9921240" y="4846320"/>
            <a:ext cx="1737360" cy="548640"/>
          </a:xfrm>
          <a:prstGeom prst="rect">
            <a:avLst/>
          </a:prstGeom>
          <a:noFill/>
          <a:ln/>
        </p:spPr>
        <p:txBody>
          <a:bodyPr wrap="square" lIns="0" tIns="0" rIns="0" bIns="0" rtlCol="0" anchor="t"/>
          <a:lstStyle/>
          <a:p>
            <a:pPr marL="0" indent="0">
              <a:buNone/>
            </a:pPr>
            <a:r>
              <a:rPr lang="en-US" sz="3000" b="1" dirty="0">
                <a:solidFill>
                  <a:schemeClr val="accent4"/>
                </a:solidFill>
                <a:latin typeface="Cambria" pitchFamily="34" charset="0"/>
                <a:ea typeface="Cambria" pitchFamily="34" charset="-122"/>
                <a:cs typeface="Cambria" pitchFamily="34" charset="-120"/>
              </a:rPr>
              <a:t>120</a:t>
            </a:r>
            <a:endParaRPr lang="en-US" sz="3000" dirty="0"/>
          </a:p>
        </p:txBody>
      </p:sp>
      <p:sp>
        <p:nvSpPr>
          <p:cNvPr id="15" name="Title stat 3 label"/>
          <p:cNvSpPr txBox="1"/>
          <p:nvPr/>
        </p:nvSpPr>
        <p:spPr>
          <a:xfrm>
            <a:off x="9921240" y="5440680"/>
            <a:ext cx="1645920" cy="548640"/>
          </a:xfrm>
          <a:prstGeom prst="rect">
            <a:avLst/>
          </a:prstGeom>
          <a:noFill/>
          <a:ln/>
        </p:spPr>
        <p:txBody>
          <a:bodyPr wrap="square" lIns="0" tIns="0" rIns="0" bIns="0" rtlCol="0" anchor="t"/>
          <a:lstStyle/>
          <a:p>
            <a:pPr marL="0" indent="0">
              <a:buNone/>
            </a:pPr>
            <a:r>
              <a:rPr lang="en-US" sz="1300" dirty="0">
                <a:solidFill>
                  <a:schemeClr val="bg2"/>
                </a:solidFill>
              </a:rPr>
              <a:t>gold prompts for scoring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778240" cy="731520"/>
          </a:xfrm>
          <a:prstGeom prst="rect">
            <a:avLst/>
          </a:prstGeom>
          <a:noFill/>
          <a:ln/>
        </p:spPr>
        <p:txBody>
          <a:bodyPr wrap="square" lIns="0" tIns="0" rIns="0" bIns="0" rtlCol="0" anchor="ctr"/>
          <a:lstStyle/>
          <a:p>
            <a:pPr marL="0" indent="0" algn="l">
              <a:buNone/>
            </a:pPr>
            <a:r>
              <a:rPr lang="en-US" sz="3200" b="1" dirty="0">
                <a:solidFill>
                  <a:schemeClr val="tx2"/>
                </a:solidFill>
              </a:rPr>
              <a:t>The problem and how we measure it</a:t>
            </a:r>
            <a:endParaRPr lang="en-US" sz="3200" dirty="0"/>
          </a:p>
        </p:txBody>
      </p:sp>
      <p:sp>
        <p:nvSpPr>
          <p:cNvPr id="3" name="Text 0"/>
          <p:cNvSpPr>
            <a:spLocks noGrp="1"/>
          </p:cNvSpPr>
          <p:nvPr>
            <p:ph type="body" idx="101" hasCustomPrompt="1"/>
          </p:nvPr>
        </p:nvSpPr>
        <p:spPr>
          <a:xfrm>
            <a:off x="548640" y="1051560"/>
            <a:ext cx="11091672" cy="457200"/>
          </a:xfrm>
          <a:prstGeom prst="rect">
            <a:avLst/>
          </a:prstGeom>
          <a:noFill/>
          <a:ln/>
        </p:spPr>
        <p:txBody>
          <a:bodyPr wrap="square" lIns="0" tIns="0" rIns="0" bIns="0" rtlCol="0" anchor="t"/>
          <a:lstStyle/>
          <a:p>
            <a:pPr marL="0" indent="0" algn="l">
              <a:buNone/>
            </a:pPr>
            <a:r>
              <a:rPr lang="en-US" sz="1800" dirty="0">
                <a:solidFill>
                  <a:schemeClr val="accent5"/>
                </a:solidFill>
              </a:rPr>
              <a:t>Five problems, each with its own score. We never blend them into one number</a:t>
            </a:r>
            <a:endParaRPr lang="en-US" sz="1800" dirty="0"/>
          </a:p>
        </p:txBody>
      </p:sp>
      <p:sp>
        <p:nvSpPr>
          <p:cNvPr id="4" name="Section chip"/>
          <p:cNvSpPr/>
          <p:nvPr/>
        </p:nvSpPr>
        <p:spPr>
          <a:xfrm>
            <a:off x="9445752" y="475488"/>
            <a:ext cx="219456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5" name="Section chip text"/>
          <p:cNvSpPr txBox="1"/>
          <p:nvPr/>
        </p:nvSpPr>
        <p:spPr>
          <a:xfrm>
            <a:off x="9445752" y="475488"/>
            <a:ext cx="2194560" cy="329184"/>
          </a:xfrm>
          <a:prstGeom prst="rect">
            <a:avLst/>
          </a:prstGeom>
          <a:noFill/>
          <a:ln/>
        </p:spPr>
        <p:txBody>
          <a:bodyPr wrap="square" lIns="0" tIns="0" rIns="0" bIns="0" rtlCol="0" anchor="ctr"/>
          <a:lstStyle/>
          <a:p>
            <a:pPr marL="0" indent="0" algn="ctr">
              <a:buNone/>
            </a:pPr>
            <a:r>
              <a:rPr lang="en-US" sz="1200" b="1" dirty="0">
                <a:solidFill>
                  <a:schemeClr val="bg1"/>
                </a:solidFill>
              </a:rPr>
              <a:t>Problem and scores</a:t>
            </a:r>
            <a:endParaRPr lang="en-US" sz="1200" dirty="0"/>
          </a:p>
        </p:txBody>
      </p:sp>
      <p:sp>
        <p:nvSpPr>
          <p:cNvPr id="6" name="Problem card 1"/>
          <p:cNvSpPr/>
          <p:nvPr/>
        </p:nvSpPr>
        <p:spPr>
          <a:xfrm>
            <a:off x="548640" y="1783080"/>
            <a:ext cx="2072030" cy="2606040"/>
          </a:xfrm>
          <a:prstGeom prst="roundRect">
            <a:avLst>
              <a:gd name="adj" fmla="val 5296"/>
            </a:avLst>
          </a:prstGeom>
          <a:solidFill>
            <a:schemeClr val="bg2"/>
          </a:solidFill>
          <a:ln w="12700">
            <a:solidFill>
              <a:schemeClr val="bg2"/>
            </a:solidFill>
            <a:prstDash val="solid"/>
          </a:ln>
        </p:spPr>
        <p:txBody>
          <a:bodyPr/>
          <a:lstStyle/>
          <a:p>
            <a:endParaRPr lang="en-US"/>
          </a:p>
        </p:txBody>
      </p:sp>
      <p:sp>
        <p:nvSpPr>
          <p:cNvPr id="7" name="Problem 1 circle"/>
          <p:cNvSpPr/>
          <p:nvPr/>
        </p:nvSpPr>
        <p:spPr>
          <a:xfrm>
            <a:off x="749808" y="1938528"/>
            <a:ext cx="502920" cy="502920"/>
          </a:xfrm>
          <a:prstGeom prst="ellipse">
            <a:avLst/>
          </a:prstGeom>
          <a:solidFill>
            <a:schemeClr val="accent1"/>
          </a:solidFill>
          <a:ln w="12700">
            <a:solidFill>
              <a:schemeClr val="accent1"/>
            </a:solidFill>
            <a:prstDash val="solid"/>
          </a:ln>
        </p:spPr>
        <p:txBody>
          <a:bodyPr/>
          <a:lstStyle/>
          <a:p>
            <a:endParaRPr lang="en-US"/>
          </a:p>
        </p:txBody>
      </p:sp>
      <p:pic>
        <p:nvPicPr>
          <p:cNvPr id="8" name="Problem 1 icon" descr="Problem 1"/>
          <p:cNvPicPr>
            <a:picLocks noChangeAspect="1"/>
          </p:cNvPicPr>
          <p:nvPr/>
        </p:nvPicPr>
        <p:blipFill>
          <a:blip r:embed="rId3"/>
          <a:stretch>
            <a:fillRect/>
          </a:stretch>
        </p:blipFill>
        <p:spPr>
          <a:xfrm>
            <a:off x="875538" y="2064258"/>
            <a:ext cx="251460" cy="251460"/>
          </a:xfrm>
          <a:prstGeom prst="rect">
            <a:avLst/>
          </a:prstGeom>
        </p:spPr>
      </p:pic>
      <p:sp>
        <p:nvSpPr>
          <p:cNvPr id="9" name="Problem 1 title"/>
          <p:cNvSpPr txBox="1"/>
          <p:nvPr/>
        </p:nvSpPr>
        <p:spPr>
          <a:xfrm>
            <a:off x="749808" y="2560320"/>
            <a:ext cx="1797710" cy="320040"/>
          </a:xfrm>
          <a:prstGeom prst="rect">
            <a:avLst/>
          </a:prstGeom>
          <a:noFill/>
          <a:ln/>
        </p:spPr>
        <p:txBody>
          <a:bodyPr wrap="square" lIns="0" tIns="0" rIns="0" bIns="0" rtlCol="0" anchor="t"/>
          <a:lstStyle/>
          <a:p>
            <a:pPr marL="0" indent="0">
              <a:buNone/>
            </a:pPr>
            <a:r>
              <a:rPr lang="en-US" sz="1600" b="1" dirty="0">
                <a:solidFill>
                  <a:schemeClr val="tx2"/>
                </a:solidFill>
                <a:latin typeface="Cambria" pitchFamily="34" charset="0"/>
                <a:ea typeface="Cambria" pitchFamily="34" charset="-122"/>
                <a:cs typeface="Cambria" pitchFamily="34" charset="-120"/>
              </a:rPr>
              <a:t>P1 Voice</a:t>
            </a:r>
            <a:endParaRPr lang="en-US" sz="1600" dirty="0"/>
          </a:p>
        </p:txBody>
      </p:sp>
      <p:sp>
        <p:nvSpPr>
          <p:cNvPr id="10" name="Problem 1 text"/>
          <p:cNvSpPr txBox="1"/>
          <p:nvPr/>
        </p:nvSpPr>
        <p:spPr>
          <a:xfrm>
            <a:off x="749808" y="2907792"/>
            <a:ext cx="1706270" cy="640080"/>
          </a:xfrm>
          <a:prstGeom prst="rect">
            <a:avLst/>
          </a:prstGeom>
          <a:noFill/>
          <a:ln/>
        </p:spPr>
        <p:txBody>
          <a:bodyPr wrap="square" lIns="0" tIns="0" rIns="0" bIns="0" rtlCol="0" anchor="t"/>
          <a:lstStyle/>
          <a:p>
            <a:pPr marL="0" indent="0">
              <a:buNone/>
            </a:pPr>
            <a:r>
              <a:rPr lang="en-US" sz="1300" dirty="0">
                <a:solidFill>
                  <a:schemeClr val="tx1"/>
                </a:solidFill>
              </a:rPr>
              <a:t>Reads like him: short, direct, concrete.</a:t>
            </a:r>
            <a:endParaRPr lang="en-US" sz="1300" dirty="0"/>
          </a:p>
        </p:txBody>
      </p:sp>
      <p:sp>
        <p:nvSpPr>
          <p:cNvPr id="11" name="Problem 1 measure label"/>
          <p:cNvSpPr txBox="1"/>
          <p:nvPr/>
        </p:nvSpPr>
        <p:spPr>
          <a:xfrm>
            <a:off x="749808" y="3584448"/>
            <a:ext cx="1706270" cy="201168"/>
          </a:xfrm>
          <a:prstGeom prst="rect">
            <a:avLst/>
          </a:prstGeom>
          <a:noFill/>
          <a:ln/>
        </p:spPr>
        <p:txBody>
          <a:bodyPr wrap="square" lIns="0" tIns="0" rIns="0" bIns="0" rtlCol="0" anchor="t"/>
          <a:lstStyle/>
          <a:p>
            <a:pPr marL="0" indent="0">
              <a:buNone/>
            </a:pPr>
            <a:r>
              <a:rPr lang="en-US" sz="1100" b="1" dirty="0">
                <a:solidFill>
                  <a:schemeClr val="accent5"/>
                </a:solidFill>
              </a:rPr>
              <a:t>Measured by</a:t>
            </a:r>
            <a:endParaRPr lang="en-US" sz="1100" dirty="0"/>
          </a:p>
        </p:txBody>
      </p:sp>
      <p:sp>
        <p:nvSpPr>
          <p:cNvPr id="12" name="Problem 1 measure"/>
          <p:cNvSpPr txBox="1"/>
          <p:nvPr/>
        </p:nvSpPr>
        <p:spPr>
          <a:xfrm>
            <a:off x="749808" y="3785616"/>
            <a:ext cx="1706270" cy="548640"/>
          </a:xfrm>
          <a:prstGeom prst="rect">
            <a:avLst/>
          </a:prstGeom>
          <a:noFill/>
          <a:ln/>
        </p:spPr>
        <p:txBody>
          <a:bodyPr wrap="square" lIns="0" tIns="0" rIns="0" bIns="0" rtlCol="0" anchor="t"/>
          <a:lstStyle/>
          <a:p>
            <a:pPr marL="0" indent="0">
              <a:buNone/>
            </a:pPr>
            <a:r>
              <a:rPr lang="en-US" sz="1300" dirty="0">
                <a:solidFill>
                  <a:schemeClr val="tx2"/>
                </a:solidFill>
              </a:rPr>
              <a:t>Style distance, stance, judge score</a:t>
            </a:r>
            <a:endParaRPr lang="en-US" sz="1300" dirty="0"/>
          </a:p>
        </p:txBody>
      </p:sp>
      <p:sp>
        <p:nvSpPr>
          <p:cNvPr id="13" name="Problem card 2"/>
          <p:cNvSpPr/>
          <p:nvPr/>
        </p:nvSpPr>
        <p:spPr>
          <a:xfrm>
            <a:off x="2803550" y="1783080"/>
            <a:ext cx="2072030" cy="2606040"/>
          </a:xfrm>
          <a:prstGeom prst="roundRect">
            <a:avLst>
              <a:gd name="adj" fmla="val 5296"/>
            </a:avLst>
          </a:prstGeom>
          <a:solidFill>
            <a:schemeClr val="bg2"/>
          </a:solidFill>
          <a:ln w="12700">
            <a:solidFill>
              <a:schemeClr val="bg2"/>
            </a:solidFill>
            <a:prstDash val="solid"/>
          </a:ln>
        </p:spPr>
        <p:txBody>
          <a:bodyPr/>
          <a:lstStyle/>
          <a:p>
            <a:endParaRPr lang="en-US"/>
          </a:p>
        </p:txBody>
      </p:sp>
      <p:sp>
        <p:nvSpPr>
          <p:cNvPr id="14" name="Problem 2 circle"/>
          <p:cNvSpPr/>
          <p:nvPr/>
        </p:nvSpPr>
        <p:spPr>
          <a:xfrm>
            <a:off x="3004718" y="1938528"/>
            <a:ext cx="502920" cy="502920"/>
          </a:xfrm>
          <a:prstGeom prst="ellipse">
            <a:avLst/>
          </a:prstGeom>
          <a:solidFill>
            <a:schemeClr val="accent2"/>
          </a:solidFill>
          <a:ln w="12700">
            <a:solidFill>
              <a:schemeClr val="accent2"/>
            </a:solidFill>
            <a:prstDash val="solid"/>
          </a:ln>
        </p:spPr>
        <p:txBody>
          <a:bodyPr/>
          <a:lstStyle/>
          <a:p>
            <a:endParaRPr lang="en-US"/>
          </a:p>
        </p:txBody>
      </p:sp>
      <p:pic>
        <p:nvPicPr>
          <p:cNvPr id="15" name="Problem 2 icon" descr="Problem 2"/>
          <p:cNvPicPr>
            <a:picLocks noChangeAspect="1"/>
          </p:cNvPicPr>
          <p:nvPr/>
        </p:nvPicPr>
        <p:blipFill>
          <a:blip r:embed="rId4"/>
          <a:stretch>
            <a:fillRect/>
          </a:stretch>
        </p:blipFill>
        <p:spPr>
          <a:xfrm>
            <a:off x="3130448" y="2064258"/>
            <a:ext cx="251460" cy="251460"/>
          </a:xfrm>
          <a:prstGeom prst="rect">
            <a:avLst/>
          </a:prstGeom>
        </p:spPr>
      </p:pic>
      <p:sp>
        <p:nvSpPr>
          <p:cNvPr id="16" name="Problem 2 title"/>
          <p:cNvSpPr txBox="1"/>
          <p:nvPr/>
        </p:nvSpPr>
        <p:spPr>
          <a:xfrm>
            <a:off x="3004718" y="2560320"/>
            <a:ext cx="1797710" cy="320040"/>
          </a:xfrm>
          <a:prstGeom prst="rect">
            <a:avLst/>
          </a:prstGeom>
          <a:noFill/>
          <a:ln/>
        </p:spPr>
        <p:txBody>
          <a:bodyPr wrap="square" lIns="0" tIns="0" rIns="0" bIns="0" rtlCol="0" anchor="t"/>
          <a:lstStyle/>
          <a:p>
            <a:pPr marL="0" indent="0">
              <a:buNone/>
            </a:pPr>
            <a:r>
              <a:rPr lang="en-US" sz="1600" b="1" dirty="0">
                <a:solidFill>
                  <a:schemeClr val="tx2"/>
                </a:solidFill>
                <a:latin typeface="Cambria" pitchFamily="34" charset="0"/>
                <a:ea typeface="Cambria" pitchFamily="34" charset="-122"/>
                <a:cs typeface="Cambria" pitchFamily="34" charset="-120"/>
              </a:rPr>
              <a:t>P2 Substance</a:t>
            </a:r>
            <a:endParaRPr lang="en-US" sz="1600" dirty="0"/>
          </a:p>
        </p:txBody>
      </p:sp>
      <p:sp>
        <p:nvSpPr>
          <p:cNvPr id="17" name="Problem 2 text"/>
          <p:cNvSpPr txBox="1"/>
          <p:nvPr/>
        </p:nvSpPr>
        <p:spPr>
          <a:xfrm>
            <a:off x="3004718" y="2907792"/>
            <a:ext cx="1706270" cy="640080"/>
          </a:xfrm>
          <a:prstGeom prst="rect">
            <a:avLst/>
          </a:prstGeom>
          <a:noFill/>
          <a:ln/>
        </p:spPr>
        <p:txBody>
          <a:bodyPr wrap="square" lIns="0" tIns="0" rIns="0" bIns="0" rtlCol="0" anchor="t"/>
          <a:lstStyle/>
          <a:p>
            <a:pPr marL="0" indent="0">
              <a:buNone/>
            </a:pPr>
            <a:r>
              <a:rPr lang="en-US" sz="1300" dirty="0">
                <a:solidFill>
                  <a:schemeClr val="tx1"/>
                </a:solidFill>
              </a:rPr>
              <a:t>Claims come from his own writing.</a:t>
            </a:r>
            <a:endParaRPr lang="en-US" sz="1300" dirty="0"/>
          </a:p>
        </p:txBody>
      </p:sp>
      <p:sp>
        <p:nvSpPr>
          <p:cNvPr id="18" name="Problem 2 measure label"/>
          <p:cNvSpPr txBox="1"/>
          <p:nvPr/>
        </p:nvSpPr>
        <p:spPr>
          <a:xfrm>
            <a:off x="3004718" y="3584448"/>
            <a:ext cx="1706270" cy="201168"/>
          </a:xfrm>
          <a:prstGeom prst="rect">
            <a:avLst/>
          </a:prstGeom>
          <a:noFill/>
          <a:ln/>
        </p:spPr>
        <p:txBody>
          <a:bodyPr wrap="square" lIns="0" tIns="0" rIns="0" bIns="0" rtlCol="0" anchor="t"/>
          <a:lstStyle/>
          <a:p>
            <a:pPr marL="0" indent="0">
              <a:buNone/>
            </a:pPr>
            <a:r>
              <a:rPr lang="en-US" sz="1100" b="1" dirty="0">
                <a:solidFill>
                  <a:schemeClr val="accent5"/>
                </a:solidFill>
              </a:rPr>
              <a:t>Measured by</a:t>
            </a:r>
            <a:endParaRPr lang="en-US" sz="1100" dirty="0"/>
          </a:p>
        </p:txBody>
      </p:sp>
      <p:sp>
        <p:nvSpPr>
          <p:cNvPr id="19" name="Problem 2 measure"/>
          <p:cNvSpPr txBox="1"/>
          <p:nvPr/>
        </p:nvSpPr>
        <p:spPr>
          <a:xfrm>
            <a:off x="3004718" y="3785616"/>
            <a:ext cx="1706270" cy="548640"/>
          </a:xfrm>
          <a:prstGeom prst="rect">
            <a:avLst/>
          </a:prstGeom>
          <a:noFill/>
          <a:ln/>
        </p:spPr>
        <p:txBody>
          <a:bodyPr wrap="square" lIns="0" tIns="0" rIns="0" bIns="0" rtlCol="0" anchor="t"/>
          <a:lstStyle/>
          <a:p>
            <a:pPr marL="0" indent="0">
              <a:buNone/>
            </a:pPr>
            <a:r>
              <a:rPr lang="en-US" sz="1300" dirty="0">
                <a:solidFill>
                  <a:schemeClr val="tx2"/>
                </a:solidFill>
              </a:rPr>
              <a:t>Claim grounding, invented numbers</a:t>
            </a:r>
            <a:endParaRPr lang="en-US" sz="1300" dirty="0"/>
          </a:p>
        </p:txBody>
      </p:sp>
      <p:sp>
        <p:nvSpPr>
          <p:cNvPr id="20" name="Problem card 3"/>
          <p:cNvSpPr/>
          <p:nvPr/>
        </p:nvSpPr>
        <p:spPr>
          <a:xfrm>
            <a:off x="5058461" y="1783080"/>
            <a:ext cx="2072030" cy="2606040"/>
          </a:xfrm>
          <a:prstGeom prst="roundRect">
            <a:avLst>
              <a:gd name="adj" fmla="val 5296"/>
            </a:avLst>
          </a:prstGeom>
          <a:solidFill>
            <a:schemeClr val="bg2"/>
          </a:solidFill>
          <a:ln w="12700">
            <a:solidFill>
              <a:schemeClr val="bg2"/>
            </a:solidFill>
            <a:prstDash val="solid"/>
          </a:ln>
        </p:spPr>
        <p:txBody>
          <a:bodyPr/>
          <a:lstStyle/>
          <a:p>
            <a:endParaRPr lang="en-US"/>
          </a:p>
        </p:txBody>
      </p:sp>
      <p:sp>
        <p:nvSpPr>
          <p:cNvPr id="21" name="Problem 3 circle"/>
          <p:cNvSpPr/>
          <p:nvPr/>
        </p:nvSpPr>
        <p:spPr>
          <a:xfrm>
            <a:off x="5259629" y="1938528"/>
            <a:ext cx="502920" cy="502920"/>
          </a:xfrm>
          <a:prstGeom prst="ellipse">
            <a:avLst/>
          </a:prstGeom>
          <a:solidFill>
            <a:schemeClr val="accent3"/>
          </a:solidFill>
          <a:ln w="12700">
            <a:solidFill>
              <a:schemeClr val="accent3"/>
            </a:solidFill>
            <a:prstDash val="solid"/>
          </a:ln>
        </p:spPr>
        <p:txBody>
          <a:bodyPr/>
          <a:lstStyle/>
          <a:p>
            <a:endParaRPr lang="en-US"/>
          </a:p>
        </p:txBody>
      </p:sp>
      <p:pic>
        <p:nvPicPr>
          <p:cNvPr id="22" name="Problem 3 icon" descr="Problem 3"/>
          <p:cNvPicPr>
            <a:picLocks noChangeAspect="1"/>
          </p:cNvPicPr>
          <p:nvPr/>
        </p:nvPicPr>
        <p:blipFill>
          <a:blip r:embed="rId5"/>
          <a:stretch>
            <a:fillRect/>
          </a:stretch>
        </p:blipFill>
        <p:spPr>
          <a:xfrm>
            <a:off x="5385359" y="2064258"/>
            <a:ext cx="251460" cy="251460"/>
          </a:xfrm>
          <a:prstGeom prst="rect">
            <a:avLst/>
          </a:prstGeom>
        </p:spPr>
      </p:pic>
      <p:sp>
        <p:nvSpPr>
          <p:cNvPr id="23" name="Problem 3 title"/>
          <p:cNvSpPr txBox="1"/>
          <p:nvPr/>
        </p:nvSpPr>
        <p:spPr>
          <a:xfrm>
            <a:off x="5259629" y="2560320"/>
            <a:ext cx="1797710" cy="320040"/>
          </a:xfrm>
          <a:prstGeom prst="rect">
            <a:avLst/>
          </a:prstGeom>
          <a:noFill/>
          <a:ln/>
        </p:spPr>
        <p:txBody>
          <a:bodyPr wrap="square" lIns="0" tIns="0" rIns="0" bIns="0" rtlCol="0" anchor="t"/>
          <a:lstStyle/>
          <a:p>
            <a:pPr marL="0" indent="0">
              <a:buNone/>
            </a:pPr>
            <a:r>
              <a:rPr lang="en-US" sz="1600" b="1" dirty="0">
                <a:solidFill>
                  <a:schemeClr val="tx2"/>
                </a:solidFill>
                <a:latin typeface="Cambria" pitchFamily="34" charset="0"/>
                <a:ea typeface="Cambria" pitchFamily="34" charset="-122"/>
                <a:cs typeface="Cambria" pitchFamily="34" charset="-120"/>
              </a:rPr>
              <a:t>P3 Medium</a:t>
            </a:r>
            <a:endParaRPr lang="en-US" sz="1600" dirty="0"/>
          </a:p>
        </p:txBody>
      </p:sp>
      <p:sp>
        <p:nvSpPr>
          <p:cNvPr id="24" name="Problem 3 text"/>
          <p:cNvSpPr txBox="1"/>
          <p:nvPr/>
        </p:nvSpPr>
        <p:spPr>
          <a:xfrm>
            <a:off x="5259629" y="2907792"/>
            <a:ext cx="1706270" cy="640080"/>
          </a:xfrm>
          <a:prstGeom prst="rect">
            <a:avLst/>
          </a:prstGeom>
          <a:noFill/>
          <a:ln/>
        </p:spPr>
        <p:txBody>
          <a:bodyPr wrap="square" lIns="0" tIns="0" rIns="0" bIns="0" rtlCol="0" anchor="t"/>
          <a:lstStyle/>
          <a:p>
            <a:pPr marL="0" indent="0">
              <a:buNone/>
            </a:pPr>
            <a:r>
              <a:rPr lang="en-US" sz="1300" dirty="0">
                <a:solidFill>
                  <a:schemeClr val="tx1"/>
                </a:solidFill>
              </a:rPr>
              <a:t>Each format has its own shape and length.</a:t>
            </a:r>
            <a:endParaRPr lang="en-US" sz="1300" dirty="0"/>
          </a:p>
        </p:txBody>
      </p:sp>
      <p:sp>
        <p:nvSpPr>
          <p:cNvPr id="25" name="Problem 3 measure label"/>
          <p:cNvSpPr txBox="1"/>
          <p:nvPr/>
        </p:nvSpPr>
        <p:spPr>
          <a:xfrm>
            <a:off x="5259629" y="3584448"/>
            <a:ext cx="1706270" cy="201168"/>
          </a:xfrm>
          <a:prstGeom prst="rect">
            <a:avLst/>
          </a:prstGeom>
          <a:noFill/>
          <a:ln/>
        </p:spPr>
        <p:txBody>
          <a:bodyPr wrap="square" lIns="0" tIns="0" rIns="0" bIns="0" rtlCol="0" anchor="t"/>
          <a:lstStyle/>
          <a:p>
            <a:pPr marL="0" indent="0">
              <a:buNone/>
            </a:pPr>
            <a:r>
              <a:rPr lang="en-US" sz="1100" b="1" dirty="0">
                <a:solidFill>
                  <a:schemeClr val="accent5"/>
                </a:solidFill>
              </a:rPr>
              <a:t>Measured by</a:t>
            </a:r>
            <a:endParaRPr lang="en-US" sz="1100" dirty="0"/>
          </a:p>
        </p:txBody>
      </p:sp>
      <p:sp>
        <p:nvSpPr>
          <p:cNvPr id="26" name="Problem 3 measure"/>
          <p:cNvSpPr txBox="1"/>
          <p:nvPr/>
        </p:nvSpPr>
        <p:spPr>
          <a:xfrm>
            <a:off x="5259629" y="3785616"/>
            <a:ext cx="1706270" cy="548640"/>
          </a:xfrm>
          <a:prstGeom prst="rect">
            <a:avLst/>
          </a:prstGeom>
          <a:noFill/>
          <a:ln/>
        </p:spPr>
        <p:txBody>
          <a:bodyPr wrap="square" lIns="0" tIns="0" rIns="0" bIns="0" rtlCol="0" anchor="t"/>
          <a:lstStyle/>
          <a:p>
            <a:pPr marL="0" indent="0">
              <a:buNone/>
            </a:pPr>
            <a:r>
              <a:rPr lang="en-US" sz="1300" dirty="0">
                <a:solidFill>
                  <a:schemeClr val="tx2"/>
                </a:solidFill>
              </a:rPr>
              <a:t>Topic and length fit</a:t>
            </a:r>
            <a:endParaRPr lang="en-US" sz="1300" dirty="0"/>
          </a:p>
        </p:txBody>
      </p:sp>
      <p:sp>
        <p:nvSpPr>
          <p:cNvPr id="27" name="Problem card 4"/>
          <p:cNvSpPr/>
          <p:nvPr/>
        </p:nvSpPr>
        <p:spPr>
          <a:xfrm>
            <a:off x="7313371" y="1783080"/>
            <a:ext cx="2072030" cy="2606040"/>
          </a:xfrm>
          <a:prstGeom prst="roundRect">
            <a:avLst>
              <a:gd name="adj" fmla="val 5296"/>
            </a:avLst>
          </a:prstGeom>
          <a:solidFill>
            <a:schemeClr val="bg2"/>
          </a:solidFill>
          <a:ln w="12700">
            <a:solidFill>
              <a:schemeClr val="bg2"/>
            </a:solidFill>
            <a:prstDash val="solid"/>
          </a:ln>
        </p:spPr>
        <p:txBody>
          <a:bodyPr/>
          <a:lstStyle/>
          <a:p>
            <a:endParaRPr lang="en-US"/>
          </a:p>
        </p:txBody>
      </p:sp>
      <p:sp>
        <p:nvSpPr>
          <p:cNvPr id="28" name="Problem 4 circle"/>
          <p:cNvSpPr/>
          <p:nvPr/>
        </p:nvSpPr>
        <p:spPr>
          <a:xfrm>
            <a:off x="7514539" y="1938528"/>
            <a:ext cx="502920" cy="502920"/>
          </a:xfrm>
          <a:prstGeom prst="ellipse">
            <a:avLst/>
          </a:prstGeom>
          <a:solidFill>
            <a:schemeClr val="accent4"/>
          </a:solidFill>
          <a:ln w="12700">
            <a:solidFill>
              <a:schemeClr val="accent4"/>
            </a:solidFill>
            <a:prstDash val="solid"/>
          </a:ln>
        </p:spPr>
        <p:txBody>
          <a:bodyPr/>
          <a:lstStyle/>
          <a:p>
            <a:endParaRPr lang="en-US"/>
          </a:p>
        </p:txBody>
      </p:sp>
      <p:pic>
        <p:nvPicPr>
          <p:cNvPr id="29" name="Problem 4 icon" descr="Problem 4"/>
          <p:cNvPicPr>
            <a:picLocks noChangeAspect="1"/>
          </p:cNvPicPr>
          <p:nvPr/>
        </p:nvPicPr>
        <p:blipFill>
          <a:blip r:embed="rId6"/>
          <a:stretch>
            <a:fillRect/>
          </a:stretch>
        </p:blipFill>
        <p:spPr>
          <a:xfrm>
            <a:off x="7640269" y="2064258"/>
            <a:ext cx="251460" cy="251460"/>
          </a:xfrm>
          <a:prstGeom prst="rect">
            <a:avLst/>
          </a:prstGeom>
        </p:spPr>
      </p:pic>
      <p:sp>
        <p:nvSpPr>
          <p:cNvPr id="30" name="Problem 4 title"/>
          <p:cNvSpPr txBox="1"/>
          <p:nvPr/>
        </p:nvSpPr>
        <p:spPr>
          <a:xfrm>
            <a:off x="7514539" y="2560320"/>
            <a:ext cx="1797710" cy="320040"/>
          </a:xfrm>
          <a:prstGeom prst="rect">
            <a:avLst/>
          </a:prstGeom>
          <a:noFill/>
          <a:ln/>
        </p:spPr>
        <p:txBody>
          <a:bodyPr wrap="square" lIns="0" tIns="0" rIns="0" bIns="0" rtlCol="0" anchor="t"/>
          <a:lstStyle/>
          <a:p>
            <a:pPr marL="0" indent="0">
              <a:buNone/>
            </a:pPr>
            <a:r>
              <a:rPr lang="en-US" sz="1600" b="1" dirty="0">
                <a:solidFill>
                  <a:schemeClr val="tx2"/>
                </a:solidFill>
                <a:latin typeface="Cambria" pitchFamily="34" charset="0"/>
                <a:ea typeface="Cambria" pitchFamily="34" charset="-122"/>
                <a:cs typeface="Cambria" pitchFamily="34" charset="-120"/>
              </a:rPr>
              <a:t>P4 Completeness</a:t>
            </a:r>
            <a:endParaRPr lang="en-US" sz="1600" dirty="0"/>
          </a:p>
        </p:txBody>
      </p:sp>
      <p:sp>
        <p:nvSpPr>
          <p:cNvPr id="31" name="Problem 4 text"/>
          <p:cNvSpPr txBox="1"/>
          <p:nvPr/>
        </p:nvSpPr>
        <p:spPr>
          <a:xfrm>
            <a:off x="7514539" y="2907792"/>
            <a:ext cx="1706270" cy="640080"/>
          </a:xfrm>
          <a:prstGeom prst="rect">
            <a:avLst/>
          </a:prstGeom>
          <a:noFill/>
          <a:ln/>
        </p:spPr>
        <p:txBody>
          <a:bodyPr wrap="square" lIns="0" tIns="0" rIns="0" bIns="0" rtlCol="0" anchor="t"/>
          <a:lstStyle/>
          <a:p>
            <a:pPr marL="0" indent="0">
              <a:buNone/>
            </a:pPr>
            <a:r>
              <a:rPr lang="en-US" sz="1300" dirty="0">
                <a:solidFill>
                  <a:schemeClr val="tx1"/>
                </a:solidFill>
              </a:rPr>
              <a:t>Drafts finish, with no mid-sentence stops.</a:t>
            </a:r>
            <a:endParaRPr lang="en-US" sz="1300" dirty="0"/>
          </a:p>
        </p:txBody>
      </p:sp>
      <p:sp>
        <p:nvSpPr>
          <p:cNvPr id="32" name="Problem 4 measure label"/>
          <p:cNvSpPr txBox="1"/>
          <p:nvPr/>
        </p:nvSpPr>
        <p:spPr>
          <a:xfrm>
            <a:off x="7514539" y="3584448"/>
            <a:ext cx="1706270" cy="201168"/>
          </a:xfrm>
          <a:prstGeom prst="rect">
            <a:avLst/>
          </a:prstGeom>
          <a:noFill/>
          <a:ln/>
        </p:spPr>
        <p:txBody>
          <a:bodyPr wrap="square" lIns="0" tIns="0" rIns="0" bIns="0" rtlCol="0" anchor="t"/>
          <a:lstStyle/>
          <a:p>
            <a:pPr marL="0" indent="0">
              <a:buNone/>
            </a:pPr>
            <a:r>
              <a:rPr lang="en-US" sz="1100" b="1" dirty="0">
                <a:solidFill>
                  <a:schemeClr val="accent5"/>
                </a:solidFill>
              </a:rPr>
              <a:t>Measured by</a:t>
            </a:r>
            <a:endParaRPr lang="en-US" sz="1100" dirty="0"/>
          </a:p>
        </p:txBody>
      </p:sp>
      <p:sp>
        <p:nvSpPr>
          <p:cNvPr id="33" name="Problem 4 measure"/>
          <p:cNvSpPr txBox="1"/>
          <p:nvPr/>
        </p:nvSpPr>
        <p:spPr>
          <a:xfrm>
            <a:off x="7514539" y="3785616"/>
            <a:ext cx="1706270" cy="548640"/>
          </a:xfrm>
          <a:prstGeom prst="rect">
            <a:avLst/>
          </a:prstGeom>
          <a:noFill/>
          <a:ln/>
        </p:spPr>
        <p:txBody>
          <a:bodyPr wrap="square" lIns="0" tIns="0" rIns="0" bIns="0" rtlCol="0" anchor="t"/>
          <a:lstStyle/>
          <a:p>
            <a:pPr marL="0" indent="0">
              <a:buNone/>
            </a:pPr>
            <a:r>
              <a:rPr lang="en-US" sz="1300" dirty="0">
                <a:solidFill>
                  <a:schemeClr val="tx2"/>
                </a:solidFill>
              </a:rPr>
              <a:t>Early-stop and mid-sentence rate</a:t>
            </a:r>
            <a:endParaRPr lang="en-US" sz="1300" dirty="0"/>
          </a:p>
        </p:txBody>
      </p:sp>
      <p:sp>
        <p:nvSpPr>
          <p:cNvPr id="34" name="Problem card 5"/>
          <p:cNvSpPr/>
          <p:nvPr/>
        </p:nvSpPr>
        <p:spPr>
          <a:xfrm>
            <a:off x="9568282" y="1783080"/>
            <a:ext cx="2072030" cy="2606040"/>
          </a:xfrm>
          <a:prstGeom prst="roundRect">
            <a:avLst>
              <a:gd name="adj" fmla="val 5296"/>
            </a:avLst>
          </a:prstGeom>
          <a:solidFill>
            <a:schemeClr val="bg2"/>
          </a:solidFill>
          <a:ln w="12700">
            <a:solidFill>
              <a:schemeClr val="bg2"/>
            </a:solidFill>
            <a:prstDash val="solid"/>
          </a:ln>
        </p:spPr>
        <p:txBody>
          <a:bodyPr/>
          <a:lstStyle/>
          <a:p>
            <a:endParaRPr lang="en-US"/>
          </a:p>
        </p:txBody>
      </p:sp>
      <p:sp>
        <p:nvSpPr>
          <p:cNvPr id="35" name="Problem 5 circle"/>
          <p:cNvSpPr/>
          <p:nvPr/>
        </p:nvSpPr>
        <p:spPr>
          <a:xfrm>
            <a:off x="9769450" y="1938528"/>
            <a:ext cx="502920" cy="502920"/>
          </a:xfrm>
          <a:prstGeom prst="ellipse">
            <a:avLst/>
          </a:prstGeom>
          <a:solidFill>
            <a:schemeClr val="accent6"/>
          </a:solidFill>
          <a:ln w="12700">
            <a:solidFill>
              <a:schemeClr val="accent6"/>
            </a:solidFill>
            <a:prstDash val="solid"/>
          </a:ln>
        </p:spPr>
        <p:txBody>
          <a:bodyPr/>
          <a:lstStyle/>
          <a:p>
            <a:endParaRPr lang="en-US"/>
          </a:p>
        </p:txBody>
      </p:sp>
      <p:pic>
        <p:nvPicPr>
          <p:cNvPr id="36" name="Problem 5 icon" descr="Problem 5"/>
          <p:cNvPicPr>
            <a:picLocks noChangeAspect="1"/>
          </p:cNvPicPr>
          <p:nvPr/>
        </p:nvPicPr>
        <p:blipFill>
          <a:blip r:embed="rId7"/>
          <a:stretch>
            <a:fillRect/>
          </a:stretch>
        </p:blipFill>
        <p:spPr>
          <a:xfrm>
            <a:off x="9895180" y="2064258"/>
            <a:ext cx="251460" cy="251460"/>
          </a:xfrm>
          <a:prstGeom prst="rect">
            <a:avLst/>
          </a:prstGeom>
        </p:spPr>
      </p:pic>
      <p:sp>
        <p:nvSpPr>
          <p:cNvPr id="37" name="Problem 5 title"/>
          <p:cNvSpPr txBox="1"/>
          <p:nvPr/>
        </p:nvSpPr>
        <p:spPr>
          <a:xfrm>
            <a:off x="9769450" y="2560320"/>
            <a:ext cx="1797710" cy="320040"/>
          </a:xfrm>
          <a:prstGeom prst="rect">
            <a:avLst/>
          </a:prstGeom>
          <a:noFill/>
          <a:ln/>
        </p:spPr>
        <p:txBody>
          <a:bodyPr wrap="square" lIns="0" tIns="0" rIns="0" bIns="0" rtlCol="0" anchor="t"/>
          <a:lstStyle/>
          <a:p>
            <a:pPr marL="0" indent="0">
              <a:buNone/>
            </a:pPr>
            <a:r>
              <a:rPr lang="en-US" sz="1600" b="1" dirty="0">
                <a:solidFill>
                  <a:schemeClr val="tx2"/>
                </a:solidFill>
                <a:latin typeface="Cambria" pitchFamily="34" charset="0"/>
                <a:ea typeface="Cambria" pitchFamily="34" charset="-122"/>
                <a:cs typeface="Cambria" pitchFamily="34" charset="-120"/>
              </a:rPr>
              <a:t>P5 Originality</a:t>
            </a:r>
            <a:endParaRPr lang="en-US" sz="1600" dirty="0"/>
          </a:p>
        </p:txBody>
      </p:sp>
      <p:sp>
        <p:nvSpPr>
          <p:cNvPr id="38" name="Problem 5 text"/>
          <p:cNvSpPr txBox="1"/>
          <p:nvPr/>
        </p:nvSpPr>
        <p:spPr>
          <a:xfrm>
            <a:off x="9769450" y="2907792"/>
            <a:ext cx="1706270" cy="640080"/>
          </a:xfrm>
          <a:prstGeom prst="rect">
            <a:avLst/>
          </a:prstGeom>
          <a:noFill/>
          <a:ln/>
        </p:spPr>
        <p:txBody>
          <a:bodyPr wrap="square" lIns="0" tIns="0" rIns="0" bIns="0" rtlCol="0" anchor="t"/>
          <a:lstStyle/>
          <a:p>
            <a:pPr marL="0" indent="0">
              <a:buNone/>
            </a:pPr>
            <a:r>
              <a:rPr lang="en-US" sz="1300" dirty="0">
                <a:solidFill>
                  <a:schemeClr val="tx1"/>
                </a:solidFill>
              </a:rPr>
              <a:t>No long stretches copied from sources.</a:t>
            </a:r>
            <a:endParaRPr lang="en-US" sz="1300" dirty="0"/>
          </a:p>
        </p:txBody>
      </p:sp>
      <p:sp>
        <p:nvSpPr>
          <p:cNvPr id="39" name="Problem 5 measure label"/>
          <p:cNvSpPr txBox="1"/>
          <p:nvPr/>
        </p:nvSpPr>
        <p:spPr>
          <a:xfrm>
            <a:off x="9769450" y="3584448"/>
            <a:ext cx="1706270" cy="201168"/>
          </a:xfrm>
          <a:prstGeom prst="rect">
            <a:avLst/>
          </a:prstGeom>
          <a:noFill/>
          <a:ln/>
        </p:spPr>
        <p:txBody>
          <a:bodyPr wrap="square" lIns="0" tIns="0" rIns="0" bIns="0" rtlCol="0" anchor="t"/>
          <a:lstStyle/>
          <a:p>
            <a:pPr marL="0" indent="0">
              <a:buNone/>
            </a:pPr>
            <a:r>
              <a:rPr lang="en-US" sz="1100" b="1" dirty="0">
                <a:solidFill>
                  <a:schemeClr val="accent5"/>
                </a:solidFill>
              </a:rPr>
              <a:t>Measured by</a:t>
            </a:r>
            <a:endParaRPr lang="en-US" sz="1100" dirty="0"/>
          </a:p>
        </p:txBody>
      </p:sp>
      <p:sp>
        <p:nvSpPr>
          <p:cNvPr id="40" name="Problem 5 measure"/>
          <p:cNvSpPr txBox="1"/>
          <p:nvPr/>
        </p:nvSpPr>
        <p:spPr>
          <a:xfrm>
            <a:off x="9769450" y="3785616"/>
            <a:ext cx="1706270" cy="548640"/>
          </a:xfrm>
          <a:prstGeom prst="rect">
            <a:avLst/>
          </a:prstGeom>
          <a:noFill/>
          <a:ln/>
        </p:spPr>
        <p:txBody>
          <a:bodyPr wrap="square" lIns="0" tIns="0" rIns="0" bIns="0" rtlCol="0" anchor="t"/>
          <a:lstStyle/>
          <a:p>
            <a:pPr marL="0" indent="0">
              <a:buNone/>
            </a:pPr>
            <a:r>
              <a:rPr lang="en-US" sz="1300" dirty="0">
                <a:solidFill>
                  <a:schemeClr val="tx2"/>
                </a:solidFill>
              </a:rPr>
              <a:t>12-word copy test</a:t>
            </a:r>
            <a:endParaRPr lang="en-US" sz="1300" dirty="0"/>
          </a:p>
        </p:txBody>
      </p:sp>
      <p:sp>
        <p:nvSpPr>
          <p:cNvPr id="41" name="Stat gold"/>
          <p:cNvSpPr/>
          <p:nvPr/>
        </p:nvSpPr>
        <p:spPr>
          <a:xfrm>
            <a:off x="548640" y="4572000"/>
            <a:ext cx="3575304" cy="1600200"/>
          </a:xfrm>
          <a:prstGeom prst="roundRect">
            <a:avLst>
              <a:gd name="adj" fmla="val 6857"/>
            </a:avLst>
          </a:prstGeom>
          <a:solidFill>
            <a:schemeClr val="bg2"/>
          </a:solidFill>
          <a:ln w="12700">
            <a:solidFill>
              <a:schemeClr val="bg2"/>
            </a:solidFill>
            <a:prstDash val="solid"/>
          </a:ln>
        </p:spPr>
        <p:txBody>
          <a:bodyPr/>
          <a:lstStyle/>
          <a:p>
            <a:endParaRPr lang="en-US"/>
          </a:p>
        </p:txBody>
      </p:sp>
      <p:sp>
        <p:nvSpPr>
          <p:cNvPr id="42" name="Stat gold number"/>
          <p:cNvSpPr txBox="1"/>
          <p:nvPr/>
        </p:nvSpPr>
        <p:spPr>
          <a:xfrm>
            <a:off x="777240" y="4681728"/>
            <a:ext cx="3118104" cy="640080"/>
          </a:xfrm>
          <a:prstGeom prst="rect">
            <a:avLst/>
          </a:prstGeom>
          <a:noFill/>
          <a:ln/>
        </p:spPr>
        <p:txBody>
          <a:bodyPr wrap="square" lIns="0" tIns="0" rIns="0" bIns="0" rtlCol="0" anchor="ctr"/>
          <a:lstStyle/>
          <a:p>
            <a:pPr marL="0" indent="0">
              <a:buNone/>
            </a:pPr>
            <a:r>
              <a:rPr lang="en-US" sz="3200" b="1" dirty="0">
                <a:solidFill>
                  <a:schemeClr val="accent2"/>
                </a:solidFill>
                <a:latin typeface="Cambria" pitchFamily="34" charset="0"/>
                <a:ea typeface="Cambria" pitchFamily="34" charset="-122"/>
                <a:cs typeface="Cambria" pitchFamily="34" charset="-120"/>
              </a:rPr>
              <a:t>120</a:t>
            </a:r>
            <a:endParaRPr lang="en-US" sz="3200" dirty="0"/>
          </a:p>
        </p:txBody>
      </p:sp>
      <p:sp>
        <p:nvSpPr>
          <p:cNvPr id="43" name="Stat gold label"/>
          <p:cNvSpPr txBox="1"/>
          <p:nvPr/>
        </p:nvSpPr>
        <p:spPr>
          <a:xfrm>
            <a:off x="777240" y="5376672"/>
            <a:ext cx="3118104" cy="704088"/>
          </a:xfrm>
          <a:prstGeom prst="rect">
            <a:avLst/>
          </a:prstGeom>
          <a:noFill/>
          <a:ln/>
        </p:spPr>
        <p:txBody>
          <a:bodyPr wrap="square" lIns="0" tIns="0" rIns="0" bIns="0" rtlCol="0" anchor="t"/>
          <a:lstStyle/>
          <a:p>
            <a:pPr marL="0" indent="0">
              <a:buNone/>
            </a:pPr>
            <a:r>
              <a:rPr lang="en-US" sz="1400" dirty="0">
                <a:solidFill>
                  <a:schemeClr val="tx1"/>
                </a:solidFill>
              </a:rPr>
              <a:t>gold prompts: 30 topics in 4 media. A development set, not a sealed test</a:t>
            </a:r>
            <a:endParaRPr lang="en-US" sz="1400" dirty="0"/>
          </a:p>
        </p:txBody>
      </p:sp>
      <p:sp>
        <p:nvSpPr>
          <p:cNvPr id="44" name="Stat gates"/>
          <p:cNvSpPr/>
          <p:nvPr/>
        </p:nvSpPr>
        <p:spPr>
          <a:xfrm>
            <a:off x="4306824" y="4572000"/>
            <a:ext cx="3575304" cy="1600200"/>
          </a:xfrm>
          <a:prstGeom prst="roundRect">
            <a:avLst>
              <a:gd name="adj" fmla="val 6857"/>
            </a:avLst>
          </a:prstGeom>
          <a:solidFill>
            <a:schemeClr val="bg2"/>
          </a:solidFill>
          <a:ln w="12700">
            <a:solidFill>
              <a:schemeClr val="bg2"/>
            </a:solidFill>
            <a:prstDash val="solid"/>
          </a:ln>
        </p:spPr>
        <p:txBody>
          <a:bodyPr/>
          <a:lstStyle/>
          <a:p>
            <a:endParaRPr lang="en-US"/>
          </a:p>
        </p:txBody>
      </p:sp>
      <p:sp>
        <p:nvSpPr>
          <p:cNvPr id="45" name="Stat gates number"/>
          <p:cNvSpPr txBox="1"/>
          <p:nvPr/>
        </p:nvSpPr>
        <p:spPr>
          <a:xfrm>
            <a:off x="4535424" y="4681728"/>
            <a:ext cx="3118104" cy="64008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Gates first</a:t>
            </a:r>
            <a:endParaRPr lang="en-US" sz="3200" dirty="0"/>
          </a:p>
        </p:txBody>
      </p:sp>
      <p:sp>
        <p:nvSpPr>
          <p:cNvPr id="46" name="Stat gates label"/>
          <p:cNvSpPr txBox="1"/>
          <p:nvPr/>
        </p:nvSpPr>
        <p:spPr>
          <a:xfrm>
            <a:off x="4535424" y="5376672"/>
            <a:ext cx="3118104" cy="704088"/>
          </a:xfrm>
          <a:prstGeom prst="rect">
            <a:avLst/>
          </a:prstGeom>
          <a:noFill/>
          <a:ln/>
        </p:spPr>
        <p:txBody>
          <a:bodyPr wrap="square" lIns="0" tIns="0" rIns="0" bIns="0" rtlCol="0" anchor="t"/>
          <a:lstStyle/>
          <a:p>
            <a:pPr marL="0" indent="0">
              <a:buNone/>
            </a:pPr>
            <a:r>
              <a:rPr lang="en-US" sz="1400" dirty="0">
                <a:solidFill>
                  <a:schemeClr val="tx1"/>
                </a:solidFill>
              </a:rPr>
              <a:t>A draft must finish, avoid copying and fit its medium</a:t>
            </a:r>
            <a:endParaRPr lang="en-US" sz="1400" dirty="0"/>
          </a:p>
        </p:txBody>
      </p:sp>
      <p:sp>
        <p:nvSpPr>
          <p:cNvPr id="47" name="Stat logged"/>
          <p:cNvSpPr/>
          <p:nvPr/>
        </p:nvSpPr>
        <p:spPr>
          <a:xfrm>
            <a:off x="8065008" y="4572000"/>
            <a:ext cx="3575304" cy="1600200"/>
          </a:xfrm>
          <a:prstGeom prst="roundRect">
            <a:avLst>
              <a:gd name="adj" fmla="val 6857"/>
            </a:avLst>
          </a:prstGeom>
          <a:solidFill>
            <a:schemeClr val="bg2"/>
          </a:solidFill>
          <a:ln w="12700">
            <a:solidFill>
              <a:schemeClr val="bg2"/>
            </a:solidFill>
            <a:prstDash val="solid"/>
          </a:ln>
        </p:spPr>
        <p:txBody>
          <a:bodyPr/>
          <a:lstStyle/>
          <a:p>
            <a:endParaRPr lang="en-US"/>
          </a:p>
        </p:txBody>
      </p:sp>
      <p:sp>
        <p:nvSpPr>
          <p:cNvPr id="48" name="Stat logged number"/>
          <p:cNvSpPr txBox="1"/>
          <p:nvPr/>
        </p:nvSpPr>
        <p:spPr>
          <a:xfrm>
            <a:off x="8293608" y="4681728"/>
            <a:ext cx="3118104" cy="640080"/>
          </a:xfrm>
          <a:prstGeom prst="rect">
            <a:avLst/>
          </a:prstGeom>
          <a:noFill/>
          <a:ln/>
        </p:spPr>
        <p:txBody>
          <a:bodyPr wrap="square" lIns="0" tIns="0" rIns="0" bIns="0" rtlCol="0" anchor="ctr"/>
          <a:lstStyle/>
          <a:p>
            <a:pPr marL="0" indent="0">
              <a:buNone/>
            </a:pPr>
            <a:r>
              <a:rPr lang="en-US" sz="3200" b="1" dirty="0">
                <a:solidFill>
                  <a:schemeClr val="accent4"/>
                </a:solidFill>
                <a:latin typeface="Cambria" pitchFamily="34" charset="0"/>
                <a:ea typeface="Cambria" pitchFamily="34" charset="-122"/>
                <a:cs typeface="Cambria" pitchFamily="34" charset="-120"/>
              </a:rPr>
              <a:t>Logged only</a:t>
            </a:r>
            <a:endParaRPr lang="en-US" sz="3200" dirty="0"/>
          </a:p>
        </p:txBody>
      </p:sp>
      <p:sp>
        <p:nvSpPr>
          <p:cNvPr id="49" name="Stat logged label"/>
          <p:cNvSpPr txBox="1"/>
          <p:nvPr/>
        </p:nvSpPr>
        <p:spPr>
          <a:xfrm>
            <a:off x="8293608" y="5376672"/>
            <a:ext cx="3118104" cy="704088"/>
          </a:xfrm>
          <a:prstGeom prst="rect">
            <a:avLst/>
          </a:prstGeom>
          <a:noFill/>
          <a:ln/>
        </p:spPr>
        <p:txBody>
          <a:bodyPr wrap="square" lIns="0" tIns="0" rIns="0" bIns="0" rtlCol="0" anchor="t"/>
          <a:lstStyle/>
          <a:p>
            <a:pPr marL="0" indent="0">
              <a:buNone/>
            </a:pPr>
            <a:r>
              <a:rPr lang="en-US" sz="1400" dirty="0">
                <a:solidFill>
                  <a:schemeClr val="tx1"/>
                </a:solidFill>
              </a:rPr>
              <a:t>BLEU, ROUGE and the old rubric never pick a model</a:t>
            </a:r>
            <a:endParaRPr lang="en-US" sz="1400" dirty="0"/>
          </a:p>
        </p:txBody>
      </p:sp>
      <p:sp>
        <p:nvSpPr>
          <p:cNvPr id="50"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778240" cy="731520"/>
          </a:xfrm>
          <a:prstGeom prst="rect">
            <a:avLst/>
          </a:prstGeom>
          <a:noFill/>
          <a:ln/>
        </p:spPr>
        <p:txBody>
          <a:bodyPr wrap="square" lIns="0" tIns="0" rIns="0" bIns="0" rtlCol="0" anchor="ctr"/>
          <a:lstStyle/>
          <a:p>
            <a:pPr marL="0" indent="0" algn="l">
              <a:buNone/>
            </a:pPr>
            <a:r>
              <a:rPr lang="en-US" sz="3200" b="1" dirty="0">
                <a:solidFill>
                  <a:schemeClr val="tx2"/>
                </a:solidFill>
              </a:rPr>
              <a:t>Data sources and cleaning</a:t>
            </a:r>
            <a:endParaRPr lang="en-US" sz="3200" dirty="0"/>
          </a:p>
        </p:txBody>
      </p:sp>
      <p:sp>
        <p:nvSpPr>
          <p:cNvPr id="3" name="Text 0"/>
          <p:cNvSpPr>
            <a:spLocks noGrp="1"/>
          </p:cNvSpPr>
          <p:nvPr>
            <p:ph type="body" idx="101" hasCustomPrompt="1"/>
          </p:nvPr>
        </p:nvSpPr>
        <p:spPr>
          <a:xfrm>
            <a:off x="548640" y="1051560"/>
            <a:ext cx="11091672" cy="457200"/>
          </a:xfrm>
          <a:prstGeom prst="rect">
            <a:avLst/>
          </a:prstGeom>
          <a:noFill/>
          <a:ln/>
        </p:spPr>
        <p:txBody>
          <a:bodyPr wrap="square" lIns="0" tIns="0" rIns="0" bIns="0" rtlCol="0" anchor="t"/>
          <a:lstStyle/>
          <a:p>
            <a:pPr marL="0" indent="0" algn="l">
              <a:buNone/>
            </a:pPr>
            <a:r>
              <a:rPr lang="en-US" sz="1800" dirty="0">
                <a:solidFill>
                  <a:schemeClr val="accent5"/>
                </a:solidFill>
              </a:rPr>
              <a:t>Five raw files, 32,835 rows. Cleaning removed 2,465 rows and kept 30,370</a:t>
            </a:r>
            <a:endParaRPr lang="en-US" sz="1800" dirty="0"/>
          </a:p>
        </p:txBody>
      </p:sp>
      <p:sp>
        <p:nvSpPr>
          <p:cNvPr id="4" name="Section chip"/>
          <p:cNvSpPr/>
          <p:nvPr/>
        </p:nvSpPr>
        <p:spPr>
          <a:xfrm>
            <a:off x="9445752" y="475488"/>
            <a:ext cx="219456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5" name="Section chip text"/>
          <p:cNvSpPr txBox="1"/>
          <p:nvPr/>
        </p:nvSpPr>
        <p:spPr>
          <a:xfrm>
            <a:off x="9445752" y="475488"/>
            <a:ext cx="2194560" cy="329184"/>
          </a:xfrm>
          <a:prstGeom prst="rect">
            <a:avLst/>
          </a:prstGeom>
          <a:noFill/>
          <a:ln/>
        </p:spPr>
        <p:txBody>
          <a:bodyPr wrap="square" lIns="0" tIns="0" rIns="0" bIns="0" rtlCol="0" anchor="ctr"/>
          <a:lstStyle/>
          <a:p>
            <a:pPr marL="0" indent="0" algn="ctr">
              <a:buNone/>
            </a:pPr>
            <a:r>
              <a:rPr lang="en-US" sz="1200" b="1" dirty="0">
                <a:solidFill>
                  <a:schemeClr val="bg1"/>
                </a:solidFill>
              </a:rPr>
              <a:t>Pre-processing</a:t>
            </a:r>
            <a:endParaRPr lang="en-US" sz="1200" dirty="0"/>
          </a:p>
        </p:txBody>
      </p:sp>
      <p:sp>
        <p:nvSpPr>
          <p:cNvPr id="6" name="Drop chart card"/>
          <p:cNvSpPr/>
          <p:nvPr/>
        </p:nvSpPr>
        <p:spPr>
          <a:xfrm>
            <a:off x="548640" y="1783080"/>
            <a:ext cx="5120640" cy="3291840"/>
          </a:xfrm>
          <a:prstGeom prst="roundRect">
            <a:avLst>
              <a:gd name="adj" fmla="val 3333"/>
            </a:avLst>
          </a:prstGeom>
          <a:solidFill>
            <a:schemeClr val="bg2"/>
          </a:solidFill>
          <a:ln w="12700">
            <a:solidFill>
              <a:schemeClr val="bg2"/>
            </a:solidFill>
            <a:prstDash val="solid"/>
          </a:ln>
        </p:spPr>
        <p:txBody>
          <a:bodyPr/>
          <a:lstStyle/>
          <a:p>
            <a:endParaRPr lang="en-US"/>
          </a:p>
        </p:txBody>
      </p:sp>
      <p:graphicFrame>
        <p:nvGraphicFramePr>
          <p:cNvPr id="7" name="Chart 0"/>
          <p:cNvGraphicFramePr/>
          <p:nvPr/>
        </p:nvGraphicFramePr>
        <p:xfrm>
          <a:off x="685800" y="1874520"/>
          <a:ext cx="484632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8" name="Source table card"/>
          <p:cNvSpPr/>
          <p:nvPr/>
        </p:nvSpPr>
        <p:spPr>
          <a:xfrm>
            <a:off x="5852160" y="1783080"/>
            <a:ext cx="5788152" cy="3291840"/>
          </a:xfrm>
          <a:prstGeom prst="roundRect">
            <a:avLst>
              <a:gd name="adj" fmla="val 3333"/>
            </a:avLst>
          </a:prstGeom>
          <a:solidFill>
            <a:schemeClr val="bg2"/>
          </a:solidFill>
          <a:ln w="12700">
            <a:solidFill>
              <a:schemeClr val="bg2"/>
            </a:solidFill>
            <a:prstDash val="solid"/>
          </a:ln>
        </p:spPr>
        <p:txBody>
          <a:bodyPr/>
          <a:lstStyle/>
          <a:p>
            <a:endParaRPr lang="en-US"/>
          </a:p>
        </p:txBody>
      </p:sp>
      <p:graphicFrame>
        <p:nvGraphicFramePr>
          <p:cNvPr id="9" name="Source table"/>
          <p:cNvGraphicFramePr>
            <a:graphicFrameLocks noGrp="1"/>
          </p:cNvGraphicFramePr>
          <p:nvPr>
            <p:extLst>
              <p:ext uri="{D42A27DB-BD31-4B8C-83A1-F6EECF244321}">
                <p14:modId xmlns:p14="http://schemas.microsoft.com/office/powerpoint/2010/main" val="1579011935"/>
              </p:ext>
            </p:extLst>
          </p:nvPr>
        </p:nvGraphicFramePr>
        <p:xfrm>
          <a:off x="6035040" y="2011680"/>
          <a:ext cx="5422392" cy="2752344"/>
        </p:xfrm>
        <a:graphic>
          <a:graphicData uri="http://schemas.openxmlformats.org/drawingml/2006/table">
            <a:tbl>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124712">
                  <a:extLst>
                    <a:ext uri="{9D8B030D-6E8A-4147-A177-3AD203B41FA5}">
                      <a16:colId xmlns:a16="http://schemas.microsoft.com/office/drawing/2014/main" val="20003"/>
                    </a:ext>
                  </a:extLst>
                </a:gridCol>
              </a:tblGrid>
              <a:tr h="393192">
                <a:tc>
                  <a:txBody>
                    <a:bodyPr/>
                    <a:lstStyle/>
                    <a:p>
                      <a:pPr marL="0" indent="0">
                        <a:buNone/>
                      </a:pPr>
                      <a:r>
                        <a:rPr lang="en-US" sz="1300" b="1" dirty="0">
                          <a:solidFill>
                            <a:srgbClr val="FFFFFF"/>
                          </a:solidFill>
                        </a:rPr>
                        <a:t>Source</a:t>
                      </a:r>
                      <a:endParaRPr lang="en-US" sz="1300" dirty="0"/>
                    </a:p>
                  </a:txBody>
                  <a:tcPr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1F3A5F"/>
                    </a:solidFill>
                  </a:tcPr>
                </a:tc>
                <a:tc>
                  <a:txBody>
                    <a:bodyPr/>
                    <a:lstStyle/>
                    <a:p>
                      <a:pPr marL="0" indent="0" algn="r">
                        <a:buNone/>
                      </a:pPr>
                      <a:r>
                        <a:rPr lang="en-US" sz="1300" b="1" dirty="0">
                          <a:solidFill>
                            <a:srgbClr val="FFFFFF"/>
                          </a:solidFill>
                        </a:rPr>
                        <a:t>Raw rows</a:t>
                      </a:r>
                      <a:endParaRPr lang="en-US" sz="1300" dirty="0"/>
                    </a:p>
                  </a:txBody>
                  <a:tcPr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1F3A5F"/>
                    </a:solidFill>
                  </a:tcPr>
                </a:tc>
                <a:tc>
                  <a:txBody>
                    <a:bodyPr/>
                    <a:lstStyle/>
                    <a:p>
                      <a:pPr marL="0" indent="0" algn="r">
                        <a:buNone/>
                      </a:pPr>
                      <a:r>
                        <a:rPr lang="en-US" sz="1300" b="1" dirty="0">
                          <a:solidFill>
                            <a:srgbClr val="FFFFFF"/>
                          </a:solidFill>
                        </a:rPr>
                        <a:t>Kept</a:t>
                      </a:r>
                      <a:endParaRPr lang="en-US" sz="1300" dirty="0"/>
                    </a:p>
                  </a:txBody>
                  <a:tcPr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1F3A5F"/>
                    </a:solidFill>
                  </a:tcPr>
                </a:tc>
                <a:tc>
                  <a:txBody>
                    <a:bodyPr/>
                    <a:lstStyle/>
                    <a:p>
                      <a:pPr marL="0" indent="0" algn="r">
                        <a:buNone/>
                      </a:pPr>
                      <a:r>
                        <a:rPr lang="en-US" sz="1300" b="1" dirty="0">
                          <a:solidFill>
                            <a:srgbClr val="FFFFFF"/>
                          </a:solidFill>
                        </a:rPr>
                        <a:t>Share kept</a:t>
                      </a:r>
                      <a:endParaRPr lang="en-US" sz="1300" dirty="0"/>
                    </a:p>
                  </a:txBody>
                  <a:tcPr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393192">
                <a:tc>
                  <a:txBody>
                    <a:bodyPr/>
                    <a:lstStyle/>
                    <a:p>
                      <a:pPr marL="0" indent="0">
                        <a:buNone/>
                      </a:pPr>
                      <a:r>
                        <a:rPr lang="en-US" sz="1300" dirty="0">
                          <a:solidFill>
                            <a:srgbClr val="1B2433"/>
                          </a:solidFill>
                        </a:rPr>
                        <a:t>X posts</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25,997</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24,277</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93%</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buNone/>
                      </a:pPr>
                      <a:r>
                        <a:rPr lang="en-US" sz="1300" dirty="0">
                          <a:solidFill>
                            <a:srgbClr val="1B2433"/>
                          </a:solidFill>
                        </a:rPr>
                        <a:t>Blog</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3,502</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3,466</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99%</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2"/>
                  </a:ext>
                </a:extLst>
              </a:tr>
              <a:tr h="393192">
                <a:tc>
                  <a:txBody>
                    <a:bodyPr/>
                    <a:lstStyle/>
                    <a:p>
                      <a:pPr marL="0" indent="0">
                        <a:buNone/>
                      </a:pPr>
                      <a:r>
                        <a:rPr lang="en-US" sz="1300" dirty="0">
                          <a:solidFill>
                            <a:srgbClr val="1B2433"/>
                          </a:solidFill>
                        </a:rPr>
                        <a:t>LinkedIn</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2,675</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2,006</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75%</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buNone/>
                      </a:pPr>
                      <a:r>
                        <a:rPr lang="en-US" sz="1300" dirty="0">
                          <a:solidFill>
                            <a:srgbClr val="1B2433"/>
                          </a:solidFill>
                        </a:rPr>
                        <a:t>YouTube, Jason</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462</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428</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93%</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4"/>
                  </a:ext>
                </a:extLst>
              </a:tr>
              <a:tr h="393192">
                <a:tc>
                  <a:txBody>
                    <a:bodyPr/>
                    <a:lstStyle/>
                    <a:p>
                      <a:pPr marL="0" indent="0">
                        <a:buNone/>
                      </a:pPr>
                      <a:r>
                        <a:rPr lang="en-US" sz="1300" dirty="0">
                          <a:solidFill>
                            <a:srgbClr val="1B2433"/>
                          </a:solidFill>
                        </a:rPr>
                        <a:t>YouTube, SaaStr</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199</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193</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97%</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5"/>
                  </a:ext>
                </a:extLst>
              </a:tr>
              <a:tr h="393192">
                <a:tc>
                  <a:txBody>
                    <a:bodyPr/>
                    <a:lstStyle/>
                    <a:p>
                      <a:pPr marL="0" indent="0">
                        <a:buNone/>
                      </a:pPr>
                      <a:r>
                        <a:rPr lang="en-US" sz="1300" b="1" dirty="0">
                          <a:solidFill>
                            <a:srgbClr val="1B2433"/>
                          </a:solidFill>
                        </a:rPr>
                        <a:t>Total</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b="1" dirty="0">
                          <a:solidFill>
                            <a:srgbClr val="1B2433"/>
                          </a:solidFill>
                        </a:rPr>
                        <a:t>32,835</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b="1" dirty="0">
                          <a:solidFill>
                            <a:srgbClr val="1B2433"/>
                          </a:solidFill>
                        </a:rPr>
                        <a:t>30,370</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b="1" dirty="0">
                          <a:solidFill>
                            <a:srgbClr val="1B2433"/>
                          </a:solidFill>
                        </a:rPr>
                        <a:t>92%</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Rules card"/>
          <p:cNvSpPr/>
          <p:nvPr/>
        </p:nvSpPr>
        <p:spPr>
          <a:xfrm>
            <a:off x="548640" y="5257800"/>
            <a:ext cx="5449824" cy="960120"/>
          </a:xfrm>
          <a:prstGeom prst="roundRect">
            <a:avLst>
              <a:gd name="adj" fmla="val 11429"/>
            </a:avLst>
          </a:prstGeom>
          <a:solidFill>
            <a:schemeClr val="bg2"/>
          </a:solidFill>
          <a:ln w="12700">
            <a:solidFill>
              <a:schemeClr val="bg2"/>
            </a:solidFill>
            <a:prstDash val="solid"/>
          </a:ln>
        </p:spPr>
        <p:txBody>
          <a:bodyPr/>
          <a:lstStyle/>
          <a:p>
            <a:endParaRPr lang="en-US"/>
          </a:p>
        </p:txBody>
      </p:sp>
      <p:sp>
        <p:nvSpPr>
          <p:cNvPr id="11" name="Rules text"/>
          <p:cNvSpPr txBox="1"/>
          <p:nvPr/>
        </p:nvSpPr>
        <p:spPr>
          <a:xfrm>
            <a:off x="777240" y="5349240"/>
            <a:ext cx="5029200" cy="777240"/>
          </a:xfrm>
          <a:prstGeom prst="rect">
            <a:avLst/>
          </a:prstGeom>
          <a:noFill/>
          <a:ln/>
        </p:spPr>
        <p:txBody>
          <a:bodyPr wrap="square" lIns="0" tIns="0" rIns="0" bIns="0" rtlCol="0" anchor="ctr"/>
          <a:lstStyle/>
          <a:p>
            <a:pPr marL="0" indent="0">
              <a:buNone/>
            </a:pPr>
            <a:r>
              <a:rPr lang="en-US" sz="1300" dirty="0">
                <a:solidFill>
                  <a:schemeClr val="tx1"/>
                </a:solidFill>
              </a:rPr>
              <a:t>LinkedIn lost the most, a quarter of its rows, mostly page chrome and not posts. The raw files are never edited.</a:t>
            </a:r>
            <a:endParaRPr lang="en-US" sz="1300" dirty="0"/>
          </a:p>
        </p:txBody>
      </p:sp>
      <p:sp>
        <p:nvSpPr>
          <p:cNvPr id="12" name="Retrieval path card"/>
          <p:cNvSpPr/>
          <p:nvPr/>
        </p:nvSpPr>
        <p:spPr>
          <a:xfrm>
            <a:off x="6190488" y="5257800"/>
            <a:ext cx="5449824" cy="960120"/>
          </a:xfrm>
          <a:prstGeom prst="roundRect">
            <a:avLst>
              <a:gd name="adj" fmla="val 11429"/>
            </a:avLst>
          </a:prstGeom>
          <a:solidFill>
            <a:schemeClr val="bg2"/>
          </a:solidFill>
          <a:ln w="12700">
            <a:solidFill>
              <a:schemeClr val="bg2"/>
            </a:solidFill>
            <a:prstDash val="solid"/>
          </a:ln>
        </p:spPr>
        <p:txBody>
          <a:bodyPr/>
          <a:lstStyle/>
          <a:p>
            <a:endParaRPr lang="en-US"/>
          </a:p>
        </p:txBody>
      </p:sp>
      <p:sp>
        <p:nvSpPr>
          <p:cNvPr id="13" name="Retrieval path text"/>
          <p:cNvSpPr txBox="1"/>
          <p:nvPr/>
        </p:nvSpPr>
        <p:spPr>
          <a:xfrm>
            <a:off x="6419088" y="5349240"/>
            <a:ext cx="5029200" cy="777240"/>
          </a:xfrm>
          <a:prstGeom prst="rect">
            <a:avLst/>
          </a:prstGeom>
          <a:noFill/>
          <a:ln/>
        </p:spPr>
        <p:txBody>
          <a:bodyPr wrap="square" lIns="0" tIns="0" rIns="0" bIns="0" rtlCol="0" anchor="ctr"/>
          <a:lstStyle/>
          <a:p>
            <a:pPr marL="0" indent="0">
              <a:buNone/>
            </a:pPr>
            <a:r>
              <a:rPr lang="en-US" sz="1300" dirty="0">
                <a:solidFill>
                  <a:schemeClr val="tx1"/>
                </a:solidFill>
              </a:rPr>
              <a:t>Retrieval pipeline (Airflow and Spark): the same files give 31,443 documents, cut into 38,105 chunks and embedded as 768-number vectors.</a:t>
            </a:r>
            <a:endParaRPr lang="en-US" sz="13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778240" cy="731520"/>
          </a:xfrm>
          <a:prstGeom prst="rect">
            <a:avLst/>
          </a:prstGeom>
          <a:noFill/>
          <a:ln/>
        </p:spPr>
        <p:txBody>
          <a:bodyPr wrap="square" lIns="0" tIns="0" rIns="0" bIns="0" rtlCol="0" anchor="ctr"/>
          <a:lstStyle/>
          <a:p>
            <a:pPr marL="0" indent="0" algn="l">
              <a:buNone/>
            </a:pPr>
            <a:r>
              <a:rPr lang="en-US" sz="3200" b="1" dirty="0">
                <a:solidFill>
                  <a:schemeClr val="tx2"/>
                </a:solidFill>
              </a:rPr>
              <a:t>From cleaned posts to training rows</a:t>
            </a:r>
            <a:endParaRPr lang="en-US" sz="3200" dirty="0"/>
          </a:p>
        </p:txBody>
      </p:sp>
      <p:sp>
        <p:nvSpPr>
          <p:cNvPr id="3" name="Text 0"/>
          <p:cNvSpPr>
            <a:spLocks noGrp="1"/>
          </p:cNvSpPr>
          <p:nvPr>
            <p:ph type="body" idx="101" hasCustomPrompt="1"/>
          </p:nvPr>
        </p:nvSpPr>
        <p:spPr>
          <a:xfrm>
            <a:off x="548640" y="1051560"/>
            <a:ext cx="11091672" cy="457200"/>
          </a:xfrm>
          <a:prstGeom prst="rect">
            <a:avLst/>
          </a:prstGeom>
          <a:noFill/>
          <a:ln/>
        </p:spPr>
        <p:txBody>
          <a:bodyPr wrap="square" lIns="0" tIns="0" rIns="0" bIns="0" rtlCol="0" anchor="t"/>
          <a:lstStyle/>
          <a:p>
            <a:pPr marL="0" indent="0" algn="l">
              <a:buNone/>
            </a:pPr>
            <a:r>
              <a:rPr lang="en-US" sz="1800" dirty="0">
                <a:solidFill>
                  <a:schemeClr val="accent5"/>
                </a:solidFill>
              </a:rPr>
              <a:t>Four steps turn 30,370 posts into 26,545 rows. Of those, 21,377 are used for training</a:t>
            </a:r>
            <a:endParaRPr lang="en-US" sz="1800" dirty="0"/>
          </a:p>
        </p:txBody>
      </p:sp>
      <p:sp>
        <p:nvSpPr>
          <p:cNvPr id="4" name="Section chip"/>
          <p:cNvSpPr/>
          <p:nvPr/>
        </p:nvSpPr>
        <p:spPr>
          <a:xfrm>
            <a:off x="9445752" y="475488"/>
            <a:ext cx="219456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5" name="Section chip text"/>
          <p:cNvSpPr txBox="1"/>
          <p:nvPr/>
        </p:nvSpPr>
        <p:spPr>
          <a:xfrm>
            <a:off x="9445752" y="475488"/>
            <a:ext cx="2194560" cy="329184"/>
          </a:xfrm>
          <a:prstGeom prst="rect">
            <a:avLst/>
          </a:prstGeom>
          <a:noFill/>
          <a:ln/>
        </p:spPr>
        <p:txBody>
          <a:bodyPr wrap="square" lIns="0" tIns="0" rIns="0" bIns="0" rtlCol="0" anchor="ctr"/>
          <a:lstStyle/>
          <a:p>
            <a:pPr marL="0" indent="0" algn="ctr">
              <a:buNone/>
            </a:pPr>
            <a:r>
              <a:rPr lang="en-US" sz="1200" b="1" dirty="0">
                <a:solidFill>
                  <a:schemeClr val="bg1"/>
                </a:solidFill>
              </a:rPr>
              <a:t>Pre-processing</a:t>
            </a:r>
            <a:endParaRPr lang="en-US" sz="1200" dirty="0"/>
          </a:p>
        </p:txBody>
      </p:sp>
      <p:sp>
        <p:nvSpPr>
          <p:cNvPr id="6" name="Step card 1"/>
          <p:cNvSpPr/>
          <p:nvPr/>
        </p:nvSpPr>
        <p:spPr>
          <a:xfrm>
            <a:off x="548640" y="1783080"/>
            <a:ext cx="2430018" cy="1965960"/>
          </a:xfrm>
          <a:prstGeom prst="roundRect">
            <a:avLst>
              <a:gd name="adj" fmla="val 5581"/>
            </a:avLst>
          </a:prstGeom>
          <a:solidFill>
            <a:schemeClr val="bg2"/>
          </a:solidFill>
          <a:ln w="12700">
            <a:solidFill>
              <a:schemeClr val="bg2"/>
            </a:solidFill>
            <a:prstDash val="solid"/>
          </a:ln>
        </p:spPr>
        <p:txBody>
          <a:bodyPr/>
          <a:lstStyle/>
          <a:p>
            <a:endParaRPr lang="en-US"/>
          </a:p>
        </p:txBody>
      </p:sp>
      <p:sp>
        <p:nvSpPr>
          <p:cNvPr id="7" name="Step 1 number"/>
          <p:cNvSpPr txBox="1"/>
          <p:nvPr/>
        </p:nvSpPr>
        <p:spPr>
          <a:xfrm>
            <a:off x="731520" y="1856232"/>
            <a:ext cx="2064258" cy="50292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30,370</a:t>
            </a:r>
            <a:endParaRPr lang="en-US" sz="2800" dirty="0"/>
          </a:p>
        </p:txBody>
      </p:sp>
      <p:sp>
        <p:nvSpPr>
          <p:cNvPr id="8" name="Step 1 title"/>
          <p:cNvSpPr txBox="1"/>
          <p:nvPr/>
        </p:nvSpPr>
        <p:spPr>
          <a:xfrm>
            <a:off x="731520" y="2377440"/>
            <a:ext cx="2064258" cy="27432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Cleaned posts</a:t>
            </a:r>
            <a:endParaRPr lang="en-US" sz="1500" dirty="0"/>
          </a:p>
        </p:txBody>
      </p:sp>
      <p:sp>
        <p:nvSpPr>
          <p:cNvPr id="9" name="Step 1 text"/>
          <p:cNvSpPr txBox="1"/>
          <p:nvPr/>
        </p:nvSpPr>
        <p:spPr>
          <a:xfrm>
            <a:off x="731520" y="2697480"/>
            <a:ext cx="2064258" cy="1005840"/>
          </a:xfrm>
          <a:prstGeom prst="rect">
            <a:avLst/>
          </a:prstGeom>
          <a:noFill/>
          <a:ln/>
        </p:spPr>
        <p:txBody>
          <a:bodyPr wrap="square" lIns="0" tIns="0" rIns="0" bIns="0" rtlCol="0" anchor="t"/>
          <a:lstStyle/>
          <a:p>
            <a:pPr marL="0" indent="0">
              <a:buNone/>
            </a:pPr>
            <a:r>
              <a:rPr lang="en-US" sz="1300" dirty="0">
                <a:solidFill>
                  <a:schemeClr val="tx1"/>
                </a:solidFill>
              </a:rPr>
              <a:t>Chrome, promos and very short rows already removed</a:t>
            </a:r>
            <a:endParaRPr lang="en-US" sz="1300" dirty="0"/>
          </a:p>
        </p:txBody>
      </p:sp>
      <p:sp>
        <p:nvSpPr>
          <p:cNvPr id="10" name="Arrow 1"/>
          <p:cNvSpPr/>
          <p:nvPr/>
        </p:nvSpPr>
        <p:spPr>
          <a:xfrm>
            <a:off x="3070098" y="2606040"/>
            <a:ext cx="274320" cy="274320"/>
          </a:xfrm>
          <a:prstGeom prst="rightArrow">
            <a:avLst/>
          </a:prstGeom>
          <a:solidFill>
            <a:schemeClr val="accent5"/>
          </a:solidFill>
          <a:ln w="12700">
            <a:solidFill>
              <a:schemeClr val="accent5"/>
            </a:solidFill>
            <a:prstDash val="solid"/>
          </a:ln>
        </p:spPr>
        <p:txBody>
          <a:bodyPr/>
          <a:lstStyle/>
          <a:p>
            <a:endParaRPr lang="en-US"/>
          </a:p>
        </p:txBody>
      </p:sp>
      <p:sp>
        <p:nvSpPr>
          <p:cNvPr id="11" name="Step card 2"/>
          <p:cNvSpPr/>
          <p:nvPr/>
        </p:nvSpPr>
        <p:spPr>
          <a:xfrm>
            <a:off x="3435858" y="1783080"/>
            <a:ext cx="2430018" cy="1965960"/>
          </a:xfrm>
          <a:prstGeom prst="roundRect">
            <a:avLst>
              <a:gd name="adj" fmla="val 5581"/>
            </a:avLst>
          </a:prstGeom>
          <a:solidFill>
            <a:schemeClr val="bg2"/>
          </a:solidFill>
          <a:ln w="12700">
            <a:solidFill>
              <a:schemeClr val="bg2"/>
            </a:solidFill>
            <a:prstDash val="solid"/>
          </a:ln>
        </p:spPr>
        <p:txBody>
          <a:bodyPr/>
          <a:lstStyle/>
          <a:p>
            <a:endParaRPr lang="en-US"/>
          </a:p>
        </p:txBody>
      </p:sp>
      <p:sp>
        <p:nvSpPr>
          <p:cNvPr id="12" name="Step 2 number"/>
          <p:cNvSpPr txBox="1"/>
          <p:nvPr/>
        </p:nvSpPr>
        <p:spPr>
          <a:xfrm>
            <a:off x="3618738" y="1856232"/>
            <a:ext cx="2064258" cy="50292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~43,000</a:t>
            </a:r>
            <a:endParaRPr lang="en-US" sz="2800" dirty="0"/>
          </a:p>
        </p:txBody>
      </p:sp>
      <p:sp>
        <p:nvSpPr>
          <p:cNvPr id="13" name="Step 2 title"/>
          <p:cNvSpPr txBox="1"/>
          <p:nvPr/>
        </p:nvSpPr>
        <p:spPr>
          <a:xfrm>
            <a:off x="3618738" y="2377440"/>
            <a:ext cx="2064258" cy="27432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Training rows</a:t>
            </a:r>
            <a:endParaRPr lang="en-US" sz="1500" dirty="0"/>
          </a:p>
        </p:txBody>
      </p:sp>
      <p:sp>
        <p:nvSpPr>
          <p:cNvPr id="14" name="Step 2 text"/>
          <p:cNvSpPr txBox="1"/>
          <p:nvPr/>
        </p:nvSpPr>
        <p:spPr>
          <a:xfrm>
            <a:off x="3618738" y="2697480"/>
            <a:ext cx="2064258" cy="1005840"/>
          </a:xfrm>
          <a:prstGeom prst="rect">
            <a:avLst/>
          </a:prstGeom>
          <a:noFill/>
          <a:ln/>
        </p:spPr>
        <p:txBody>
          <a:bodyPr wrap="square" lIns="0" tIns="0" rIns="0" bIns="0" rtlCol="0" anchor="t"/>
          <a:lstStyle/>
          <a:p>
            <a:pPr marL="0" indent="0">
              <a:buNone/>
            </a:pPr>
            <a:r>
              <a:rPr lang="en-US" sz="1300" dirty="0">
                <a:solidFill>
                  <a:schemeClr val="tx1"/>
                </a:solidFill>
              </a:rPr>
              <a:t>Long posts cut into pieces of at most 512 tokens, paragraphs kept together</a:t>
            </a:r>
            <a:endParaRPr lang="en-US" sz="1300" dirty="0"/>
          </a:p>
        </p:txBody>
      </p:sp>
      <p:sp>
        <p:nvSpPr>
          <p:cNvPr id="15" name="Arrow 2"/>
          <p:cNvSpPr/>
          <p:nvPr/>
        </p:nvSpPr>
        <p:spPr>
          <a:xfrm>
            <a:off x="5957316" y="2606040"/>
            <a:ext cx="274320" cy="274320"/>
          </a:xfrm>
          <a:prstGeom prst="rightArrow">
            <a:avLst/>
          </a:prstGeom>
          <a:solidFill>
            <a:schemeClr val="accent5"/>
          </a:solidFill>
          <a:ln w="12700">
            <a:solidFill>
              <a:schemeClr val="accent5"/>
            </a:solidFill>
            <a:prstDash val="solid"/>
          </a:ln>
        </p:spPr>
        <p:txBody>
          <a:bodyPr/>
          <a:lstStyle/>
          <a:p>
            <a:endParaRPr lang="en-US"/>
          </a:p>
        </p:txBody>
      </p:sp>
      <p:sp>
        <p:nvSpPr>
          <p:cNvPr id="16" name="Step card 3"/>
          <p:cNvSpPr/>
          <p:nvPr/>
        </p:nvSpPr>
        <p:spPr>
          <a:xfrm>
            <a:off x="6323076" y="1783080"/>
            <a:ext cx="2430018" cy="1965960"/>
          </a:xfrm>
          <a:prstGeom prst="roundRect">
            <a:avLst>
              <a:gd name="adj" fmla="val 5581"/>
            </a:avLst>
          </a:prstGeom>
          <a:solidFill>
            <a:schemeClr val="bg2"/>
          </a:solidFill>
          <a:ln w="12700">
            <a:solidFill>
              <a:schemeClr val="bg2"/>
            </a:solidFill>
            <a:prstDash val="solid"/>
          </a:ln>
        </p:spPr>
        <p:txBody>
          <a:bodyPr/>
          <a:lstStyle/>
          <a:p>
            <a:endParaRPr lang="en-US"/>
          </a:p>
        </p:txBody>
      </p:sp>
      <p:sp>
        <p:nvSpPr>
          <p:cNvPr id="17" name="Step 3 number"/>
          <p:cNvSpPr txBox="1"/>
          <p:nvPr/>
        </p:nvSpPr>
        <p:spPr>
          <a:xfrm>
            <a:off x="6505956" y="1856232"/>
            <a:ext cx="2064258" cy="50292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31,328</a:t>
            </a:r>
            <a:endParaRPr lang="en-US" sz="2800" dirty="0"/>
          </a:p>
        </p:txBody>
      </p:sp>
      <p:sp>
        <p:nvSpPr>
          <p:cNvPr id="18" name="Step 3 title"/>
          <p:cNvSpPr txBox="1"/>
          <p:nvPr/>
        </p:nvSpPr>
        <p:spPr>
          <a:xfrm>
            <a:off x="6505956" y="2377440"/>
            <a:ext cx="2064258" cy="27432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Balanced</a:t>
            </a:r>
            <a:endParaRPr lang="en-US" sz="1500" dirty="0"/>
          </a:p>
        </p:txBody>
      </p:sp>
      <p:sp>
        <p:nvSpPr>
          <p:cNvPr id="19" name="Step 3 text"/>
          <p:cNvSpPr txBox="1"/>
          <p:nvPr/>
        </p:nvSpPr>
        <p:spPr>
          <a:xfrm>
            <a:off x="6505956" y="2697480"/>
            <a:ext cx="2064258" cy="1005840"/>
          </a:xfrm>
          <a:prstGeom prst="rect">
            <a:avLst/>
          </a:prstGeom>
          <a:noFill/>
          <a:ln/>
        </p:spPr>
        <p:txBody>
          <a:bodyPr wrap="square" lIns="0" tIns="0" rIns="0" bIns="0" rtlCol="0" anchor="t"/>
          <a:lstStyle/>
          <a:p>
            <a:pPr marL="0" indent="0">
              <a:buNone/>
            </a:pPr>
            <a:r>
              <a:rPr lang="en-US" sz="1300" dirty="0">
                <a:solidFill>
                  <a:schemeClr val="tx1"/>
                </a:solidFill>
              </a:rPr>
              <a:t>SaaStr talks dropped and extra X posts capped, so media are balanced</a:t>
            </a:r>
            <a:endParaRPr lang="en-US" sz="1300" dirty="0"/>
          </a:p>
        </p:txBody>
      </p:sp>
      <p:sp>
        <p:nvSpPr>
          <p:cNvPr id="20" name="Arrow 3"/>
          <p:cNvSpPr/>
          <p:nvPr/>
        </p:nvSpPr>
        <p:spPr>
          <a:xfrm>
            <a:off x="8844534" y="2606040"/>
            <a:ext cx="274320" cy="274320"/>
          </a:xfrm>
          <a:prstGeom prst="rightArrow">
            <a:avLst/>
          </a:prstGeom>
          <a:solidFill>
            <a:schemeClr val="accent5"/>
          </a:solidFill>
          <a:ln w="12700">
            <a:solidFill>
              <a:schemeClr val="accent5"/>
            </a:solidFill>
            <a:prstDash val="solid"/>
          </a:ln>
        </p:spPr>
        <p:txBody>
          <a:bodyPr/>
          <a:lstStyle/>
          <a:p>
            <a:endParaRPr lang="en-US"/>
          </a:p>
        </p:txBody>
      </p:sp>
      <p:sp>
        <p:nvSpPr>
          <p:cNvPr id="21" name="Step card 4"/>
          <p:cNvSpPr/>
          <p:nvPr/>
        </p:nvSpPr>
        <p:spPr>
          <a:xfrm>
            <a:off x="9210294" y="1783080"/>
            <a:ext cx="2430018" cy="1965960"/>
          </a:xfrm>
          <a:prstGeom prst="roundRect">
            <a:avLst>
              <a:gd name="adj" fmla="val 5581"/>
            </a:avLst>
          </a:prstGeom>
          <a:solidFill>
            <a:schemeClr val="bg2"/>
          </a:solidFill>
          <a:ln w="12700">
            <a:solidFill>
              <a:schemeClr val="bg2"/>
            </a:solidFill>
            <a:prstDash val="solid"/>
          </a:ln>
        </p:spPr>
        <p:txBody>
          <a:bodyPr/>
          <a:lstStyle/>
          <a:p>
            <a:endParaRPr lang="en-US"/>
          </a:p>
        </p:txBody>
      </p:sp>
      <p:sp>
        <p:nvSpPr>
          <p:cNvPr id="22" name="Step 4 number"/>
          <p:cNvSpPr txBox="1"/>
          <p:nvPr/>
        </p:nvSpPr>
        <p:spPr>
          <a:xfrm>
            <a:off x="9393174" y="1856232"/>
            <a:ext cx="2064258" cy="502920"/>
          </a:xfrm>
          <a:prstGeom prst="rect">
            <a:avLst/>
          </a:prstGeom>
          <a:noFill/>
          <a:ln/>
        </p:spPr>
        <p:txBody>
          <a:bodyPr wrap="square" lIns="0" tIns="0" rIns="0" bIns="0" rtlCol="0" anchor="ctr"/>
          <a:lstStyle/>
          <a:p>
            <a:pPr marL="0" indent="0">
              <a:buNone/>
            </a:pPr>
            <a:r>
              <a:rPr lang="en-US" sz="2800" b="1" dirty="0">
                <a:solidFill>
                  <a:schemeClr val="accent4"/>
                </a:solidFill>
                <a:latin typeface="Cambria" pitchFamily="34" charset="0"/>
                <a:ea typeface="Cambria" pitchFamily="34" charset="-122"/>
                <a:cs typeface="Cambria" pitchFamily="34" charset="-120"/>
              </a:rPr>
              <a:t>26,545</a:t>
            </a:r>
            <a:endParaRPr lang="en-US" sz="2800" dirty="0"/>
          </a:p>
        </p:txBody>
      </p:sp>
      <p:sp>
        <p:nvSpPr>
          <p:cNvPr id="23" name="Step 4 title"/>
          <p:cNvSpPr txBox="1"/>
          <p:nvPr/>
        </p:nvSpPr>
        <p:spPr>
          <a:xfrm>
            <a:off x="9393174" y="2377440"/>
            <a:ext cx="2064258" cy="27432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Relabeled</a:t>
            </a:r>
            <a:endParaRPr lang="en-US" sz="1500" dirty="0"/>
          </a:p>
        </p:txBody>
      </p:sp>
      <p:sp>
        <p:nvSpPr>
          <p:cNvPr id="24" name="Step 4 text"/>
          <p:cNvSpPr txBox="1"/>
          <p:nvPr/>
        </p:nvSpPr>
        <p:spPr>
          <a:xfrm>
            <a:off x="9393174" y="2697480"/>
            <a:ext cx="2064258" cy="1005840"/>
          </a:xfrm>
          <a:prstGeom prst="rect">
            <a:avLst/>
          </a:prstGeom>
          <a:noFill/>
          <a:ln/>
        </p:spPr>
        <p:txBody>
          <a:bodyPr wrap="square" lIns="0" tIns="0" rIns="0" bIns="0" rtlCol="0" anchor="t"/>
          <a:lstStyle/>
          <a:p>
            <a:pPr marL="0" indent="0">
              <a:buNone/>
            </a:pPr>
            <a:r>
              <a:rPr lang="en-US" sz="1300" dirty="0">
                <a:solidFill>
                  <a:schemeClr val="tx1"/>
                </a:solidFill>
              </a:rPr>
              <a:t>4,783 rows with broken targets dropped, the rest relabeled</a:t>
            </a:r>
            <a:endParaRPr lang="en-US" sz="1300" dirty="0"/>
          </a:p>
        </p:txBody>
      </p:sp>
      <p:sp>
        <p:nvSpPr>
          <p:cNvPr id="25" name="Drop chart card"/>
          <p:cNvSpPr/>
          <p:nvPr/>
        </p:nvSpPr>
        <p:spPr>
          <a:xfrm>
            <a:off x="548640" y="3931920"/>
            <a:ext cx="5669280" cy="2286000"/>
          </a:xfrm>
          <a:prstGeom prst="roundRect">
            <a:avLst>
              <a:gd name="adj" fmla="val 4800"/>
            </a:avLst>
          </a:prstGeom>
          <a:solidFill>
            <a:schemeClr val="bg2"/>
          </a:solidFill>
          <a:ln w="12700">
            <a:solidFill>
              <a:schemeClr val="bg2"/>
            </a:solidFill>
            <a:prstDash val="solid"/>
          </a:ln>
        </p:spPr>
        <p:txBody>
          <a:bodyPr/>
          <a:lstStyle/>
          <a:p>
            <a:endParaRPr lang="en-US"/>
          </a:p>
        </p:txBody>
      </p:sp>
      <p:graphicFrame>
        <p:nvGraphicFramePr>
          <p:cNvPr id="26" name="Chart 0"/>
          <p:cNvGraphicFramePr/>
          <p:nvPr/>
        </p:nvGraphicFramePr>
        <p:xfrm>
          <a:off x="685800" y="3977640"/>
          <a:ext cx="539496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27" name="Kept chart card"/>
          <p:cNvSpPr/>
          <p:nvPr/>
        </p:nvSpPr>
        <p:spPr>
          <a:xfrm>
            <a:off x="6400800" y="3931920"/>
            <a:ext cx="5239512" cy="2286000"/>
          </a:xfrm>
          <a:prstGeom prst="roundRect">
            <a:avLst>
              <a:gd name="adj" fmla="val 4800"/>
            </a:avLst>
          </a:prstGeom>
          <a:solidFill>
            <a:schemeClr val="bg2"/>
          </a:solidFill>
          <a:ln w="12700">
            <a:solidFill>
              <a:schemeClr val="bg2"/>
            </a:solidFill>
            <a:prstDash val="solid"/>
          </a:ln>
        </p:spPr>
        <p:txBody>
          <a:bodyPr/>
          <a:lstStyle/>
          <a:p>
            <a:endParaRPr lang="en-US"/>
          </a:p>
        </p:txBody>
      </p:sp>
      <p:graphicFrame>
        <p:nvGraphicFramePr>
          <p:cNvPr id="28" name="Chart 1"/>
          <p:cNvGraphicFramePr/>
          <p:nvPr/>
        </p:nvGraphicFramePr>
        <p:xfrm>
          <a:off x="6537960" y="3977640"/>
          <a:ext cx="4965192" cy="2194560"/>
        </p:xfrm>
        <a:graphic>
          <a:graphicData uri="http://schemas.openxmlformats.org/drawingml/2006/chart">
            <c:chart xmlns:c="http://schemas.openxmlformats.org/drawingml/2006/chart" xmlns:r="http://schemas.openxmlformats.org/officeDocument/2006/relationships" r:id="rId4"/>
          </a:graphicData>
        </a:graphic>
      </p:graphicFrame>
      <p:sp>
        <p:nvSpPr>
          <p:cNvPr id="29"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778240" cy="731520"/>
          </a:xfrm>
          <a:prstGeom prst="rect">
            <a:avLst/>
          </a:prstGeom>
          <a:noFill/>
          <a:ln/>
        </p:spPr>
        <p:txBody>
          <a:bodyPr wrap="square" lIns="0" tIns="0" rIns="0" bIns="0" rtlCol="0" anchor="ctr"/>
          <a:lstStyle/>
          <a:p>
            <a:pPr marL="0" indent="0" algn="l">
              <a:buNone/>
            </a:pPr>
            <a:r>
              <a:rPr lang="en-US" sz="3200" b="1" dirty="0">
                <a:solidFill>
                  <a:schemeClr val="tx2"/>
                </a:solidFill>
              </a:rPr>
              <a:t>The label bug behind early stops</a:t>
            </a:r>
            <a:endParaRPr lang="en-US" sz="3200" dirty="0"/>
          </a:p>
        </p:txBody>
      </p:sp>
      <p:sp>
        <p:nvSpPr>
          <p:cNvPr id="3" name="Text 0"/>
          <p:cNvSpPr>
            <a:spLocks noGrp="1"/>
          </p:cNvSpPr>
          <p:nvPr>
            <p:ph type="body" idx="101" hasCustomPrompt="1"/>
          </p:nvPr>
        </p:nvSpPr>
        <p:spPr>
          <a:xfrm>
            <a:off x="548640" y="1051560"/>
            <a:ext cx="11091672" cy="457200"/>
          </a:xfrm>
          <a:prstGeom prst="rect">
            <a:avLst/>
          </a:prstGeom>
          <a:noFill/>
          <a:ln/>
        </p:spPr>
        <p:txBody>
          <a:bodyPr wrap="square" lIns="0" tIns="0" rIns="0" bIns="0" rtlCol="0" anchor="t"/>
          <a:lstStyle/>
          <a:p>
            <a:pPr marL="0" indent="0" algn="l">
              <a:buNone/>
            </a:pPr>
            <a:r>
              <a:rPr lang="en-US" sz="1800" dirty="0">
                <a:solidFill>
                  <a:schemeClr val="accent5"/>
                </a:solidFill>
              </a:rPr>
              <a:t>Our first adapters stopped mid-sentence because the labels promised a whole post</a:t>
            </a:r>
            <a:endParaRPr lang="en-US" sz="1800" dirty="0"/>
          </a:p>
        </p:txBody>
      </p:sp>
      <p:sp>
        <p:nvSpPr>
          <p:cNvPr id="4" name="Section chip"/>
          <p:cNvSpPr/>
          <p:nvPr/>
        </p:nvSpPr>
        <p:spPr>
          <a:xfrm>
            <a:off x="9445752" y="475488"/>
            <a:ext cx="219456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5" name="Section chip text"/>
          <p:cNvSpPr txBox="1"/>
          <p:nvPr/>
        </p:nvSpPr>
        <p:spPr>
          <a:xfrm>
            <a:off x="9445752" y="475488"/>
            <a:ext cx="2194560" cy="329184"/>
          </a:xfrm>
          <a:prstGeom prst="rect">
            <a:avLst/>
          </a:prstGeom>
          <a:noFill/>
          <a:ln/>
        </p:spPr>
        <p:txBody>
          <a:bodyPr wrap="square" lIns="0" tIns="0" rIns="0" bIns="0" rtlCol="0" anchor="ctr"/>
          <a:lstStyle/>
          <a:p>
            <a:pPr marL="0" indent="0" algn="ctr">
              <a:buNone/>
            </a:pPr>
            <a:r>
              <a:rPr lang="en-US" sz="1200" b="1" dirty="0">
                <a:solidFill>
                  <a:schemeClr val="bg1"/>
                </a:solidFill>
              </a:rPr>
              <a:t>Pre-processing</a:t>
            </a:r>
            <a:endParaRPr lang="en-US" sz="1200" dirty="0"/>
          </a:p>
        </p:txBody>
      </p:sp>
      <p:sp>
        <p:nvSpPr>
          <p:cNvPr id="6" name="Before card"/>
          <p:cNvSpPr/>
          <p:nvPr/>
        </p:nvSpPr>
        <p:spPr>
          <a:xfrm>
            <a:off x="548640" y="1783080"/>
            <a:ext cx="5029200" cy="3337560"/>
          </a:xfrm>
          <a:prstGeom prst="roundRect">
            <a:avLst>
              <a:gd name="adj" fmla="val 3288"/>
            </a:avLst>
          </a:prstGeom>
          <a:solidFill>
            <a:schemeClr val="bg2"/>
          </a:solidFill>
          <a:ln w="12700">
            <a:solidFill>
              <a:schemeClr val="bg2"/>
            </a:solidFill>
            <a:prstDash val="solid"/>
          </a:ln>
        </p:spPr>
        <p:txBody>
          <a:bodyPr/>
          <a:lstStyle/>
          <a:p>
            <a:endParaRPr lang="en-US"/>
          </a:p>
        </p:txBody>
      </p:sp>
      <p:sp>
        <p:nvSpPr>
          <p:cNvPr id="7" name="Before circle"/>
          <p:cNvSpPr/>
          <p:nvPr/>
        </p:nvSpPr>
        <p:spPr>
          <a:xfrm>
            <a:off x="777240" y="1938528"/>
            <a:ext cx="457200" cy="457200"/>
          </a:xfrm>
          <a:prstGeom prst="ellipse">
            <a:avLst/>
          </a:prstGeom>
          <a:solidFill>
            <a:schemeClr val="accent4"/>
          </a:solidFill>
          <a:ln w="12700">
            <a:solidFill>
              <a:schemeClr val="accent4"/>
            </a:solidFill>
            <a:prstDash val="solid"/>
          </a:ln>
        </p:spPr>
        <p:txBody>
          <a:bodyPr/>
          <a:lstStyle/>
          <a:p>
            <a:endParaRPr lang="en-US"/>
          </a:p>
        </p:txBody>
      </p:sp>
      <p:pic>
        <p:nvPicPr>
          <p:cNvPr id="8" name="Before icon" descr="Before"/>
          <p:cNvPicPr>
            <a:picLocks noChangeAspect="1"/>
          </p:cNvPicPr>
          <p:nvPr/>
        </p:nvPicPr>
        <p:blipFill>
          <a:blip r:embed="rId3"/>
          <a:stretch>
            <a:fillRect/>
          </a:stretch>
        </p:blipFill>
        <p:spPr>
          <a:xfrm>
            <a:off x="891540" y="2052828"/>
            <a:ext cx="228600" cy="228600"/>
          </a:xfrm>
          <a:prstGeom prst="rect">
            <a:avLst/>
          </a:prstGeom>
        </p:spPr>
      </p:pic>
      <p:sp>
        <p:nvSpPr>
          <p:cNvPr id="9" name="Before title"/>
          <p:cNvSpPr txBox="1"/>
          <p:nvPr/>
        </p:nvSpPr>
        <p:spPr>
          <a:xfrm>
            <a:off x="1371600" y="2011680"/>
            <a:ext cx="4114800" cy="365760"/>
          </a:xfrm>
          <a:prstGeom prst="rect">
            <a:avLst/>
          </a:prstGeom>
          <a:noFill/>
          <a:ln/>
        </p:spPr>
        <p:txBody>
          <a:bodyPr wrap="square" lIns="0" tIns="0" rIns="0" bIns="0" rtlCol="0" anchor="t"/>
          <a:lstStyle/>
          <a:p>
            <a:pPr marL="0" indent="0">
              <a:buNone/>
            </a:pPr>
            <a:r>
              <a:rPr lang="en-US" sz="1600" b="1" dirty="0">
                <a:solidFill>
                  <a:schemeClr val="tx2"/>
                </a:solidFill>
                <a:latin typeface="Cambria" pitchFamily="34" charset="0"/>
                <a:ea typeface="Cambria" pitchFamily="34" charset="-122"/>
                <a:cs typeface="Cambria" pitchFamily="34" charset="-120"/>
              </a:rPr>
              <a:t>Before: one instruction for every slice</a:t>
            </a:r>
            <a:endParaRPr lang="en-US" sz="1600" dirty="0"/>
          </a:p>
        </p:txBody>
      </p:sp>
      <p:sp>
        <p:nvSpPr>
          <p:cNvPr id="10" name="Before prompt box"/>
          <p:cNvSpPr/>
          <p:nvPr/>
        </p:nvSpPr>
        <p:spPr>
          <a:xfrm>
            <a:off x="777240" y="2606040"/>
            <a:ext cx="4572000" cy="731520"/>
          </a:xfrm>
          <a:prstGeom prst="roundRect">
            <a:avLst>
              <a:gd name="adj" fmla="val 10000"/>
            </a:avLst>
          </a:prstGeom>
          <a:solidFill>
            <a:schemeClr val="tx2"/>
          </a:solidFill>
          <a:ln w="12700">
            <a:solidFill>
              <a:schemeClr val="tx2"/>
            </a:solidFill>
            <a:prstDash val="solid"/>
          </a:ln>
        </p:spPr>
        <p:txBody>
          <a:bodyPr/>
          <a:lstStyle/>
          <a:p>
            <a:endParaRPr lang="en-US"/>
          </a:p>
        </p:txBody>
      </p:sp>
      <p:sp>
        <p:nvSpPr>
          <p:cNvPr id="11" name="Before prompt text"/>
          <p:cNvSpPr txBox="1"/>
          <p:nvPr/>
        </p:nvSpPr>
        <p:spPr>
          <a:xfrm>
            <a:off x="914400" y="2679192"/>
            <a:ext cx="4297680" cy="585216"/>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Write a blog post in the style of Jason Lemkin about: {title}</a:t>
            </a:r>
            <a:endParaRPr lang="en-US" sz="1100" dirty="0"/>
          </a:p>
        </p:txBody>
      </p:sp>
      <p:sp>
        <p:nvSpPr>
          <p:cNvPr id="12" name="Before text 1"/>
          <p:cNvSpPr txBox="1"/>
          <p:nvPr/>
        </p:nvSpPr>
        <p:spPr>
          <a:xfrm>
            <a:off x="777240" y="3520440"/>
            <a:ext cx="4572000" cy="685800"/>
          </a:xfrm>
          <a:prstGeom prst="rect">
            <a:avLst/>
          </a:prstGeom>
          <a:noFill/>
          <a:ln/>
        </p:spPr>
        <p:txBody>
          <a:bodyPr wrap="square" lIns="0" tIns="0" rIns="0" bIns="0" rtlCol="0" anchor="t"/>
          <a:lstStyle/>
          <a:p>
            <a:pPr marL="0" indent="0">
              <a:buNone/>
            </a:pPr>
            <a:r>
              <a:rPr lang="en-US" sz="1400" dirty="0">
                <a:solidFill>
                  <a:schemeClr val="tx1"/>
                </a:solidFill>
              </a:rPr>
              <a:t>The target was often only a piece from the middle of a long post, cut where the 512-token window ended.</a:t>
            </a:r>
            <a:endParaRPr lang="en-US" sz="1400" dirty="0"/>
          </a:p>
        </p:txBody>
      </p:sp>
      <p:sp>
        <p:nvSpPr>
          <p:cNvPr id="13" name="Before text 2"/>
          <p:cNvSpPr txBox="1"/>
          <p:nvPr/>
        </p:nvSpPr>
        <p:spPr>
          <a:xfrm>
            <a:off x="777240" y="4251960"/>
            <a:ext cx="4572000" cy="685800"/>
          </a:xfrm>
          <a:prstGeom prst="rect">
            <a:avLst/>
          </a:prstGeom>
          <a:noFill/>
          <a:ln/>
        </p:spPr>
        <p:txBody>
          <a:bodyPr wrap="square" lIns="0" tIns="0" rIns="0" bIns="0" rtlCol="0" anchor="t"/>
          <a:lstStyle/>
          <a:p>
            <a:pPr marL="0" indent="0">
              <a:buNone/>
            </a:pPr>
            <a:r>
              <a:rPr lang="en-US" sz="1400" b="1" dirty="0">
                <a:solidFill>
                  <a:schemeClr val="tx2"/>
                </a:solidFill>
              </a:rPr>
              <a:t>So the model saw the end-of-text token after fragments and learned to stop early.</a:t>
            </a:r>
            <a:endParaRPr lang="en-US" sz="1400" dirty="0"/>
          </a:p>
        </p:txBody>
      </p:sp>
      <p:sp>
        <p:nvSpPr>
          <p:cNvPr id="14" name="Fix arrow"/>
          <p:cNvSpPr/>
          <p:nvPr/>
        </p:nvSpPr>
        <p:spPr>
          <a:xfrm>
            <a:off x="5669280" y="3291840"/>
            <a:ext cx="411480" cy="365760"/>
          </a:xfrm>
          <a:prstGeom prst="rightArrow">
            <a:avLst/>
          </a:prstGeom>
          <a:solidFill>
            <a:schemeClr val="accent5"/>
          </a:solidFill>
          <a:ln w="12700">
            <a:solidFill>
              <a:schemeClr val="accent5"/>
            </a:solidFill>
            <a:prstDash val="solid"/>
          </a:ln>
        </p:spPr>
        <p:txBody>
          <a:bodyPr/>
          <a:lstStyle/>
          <a:p>
            <a:endParaRPr lang="en-US"/>
          </a:p>
        </p:txBody>
      </p:sp>
      <p:sp>
        <p:nvSpPr>
          <p:cNvPr id="15" name="After card"/>
          <p:cNvSpPr/>
          <p:nvPr/>
        </p:nvSpPr>
        <p:spPr>
          <a:xfrm>
            <a:off x="6263640" y="1783080"/>
            <a:ext cx="5376672" cy="3337560"/>
          </a:xfrm>
          <a:prstGeom prst="roundRect">
            <a:avLst>
              <a:gd name="adj" fmla="val 3288"/>
            </a:avLst>
          </a:prstGeom>
          <a:solidFill>
            <a:schemeClr val="bg2"/>
          </a:solidFill>
          <a:ln w="12700">
            <a:solidFill>
              <a:schemeClr val="bg2"/>
            </a:solidFill>
            <a:prstDash val="solid"/>
          </a:ln>
        </p:spPr>
        <p:txBody>
          <a:bodyPr/>
          <a:lstStyle/>
          <a:p>
            <a:endParaRPr lang="en-US"/>
          </a:p>
        </p:txBody>
      </p:sp>
      <p:sp>
        <p:nvSpPr>
          <p:cNvPr id="16" name="After circle"/>
          <p:cNvSpPr/>
          <p:nvPr/>
        </p:nvSpPr>
        <p:spPr>
          <a:xfrm>
            <a:off x="6492240" y="1938528"/>
            <a:ext cx="457200" cy="457200"/>
          </a:xfrm>
          <a:prstGeom prst="ellipse">
            <a:avLst/>
          </a:prstGeom>
          <a:solidFill>
            <a:schemeClr val="accent3"/>
          </a:solidFill>
          <a:ln w="12700">
            <a:solidFill>
              <a:schemeClr val="accent3"/>
            </a:solidFill>
            <a:prstDash val="solid"/>
          </a:ln>
        </p:spPr>
        <p:txBody>
          <a:bodyPr/>
          <a:lstStyle/>
          <a:p>
            <a:endParaRPr lang="en-US"/>
          </a:p>
        </p:txBody>
      </p:sp>
      <p:pic>
        <p:nvPicPr>
          <p:cNvPr id="17" name="After icon" descr="After"/>
          <p:cNvPicPr>
            <a:picLocks noChangeAspect="1"/>
          </p:cNvPicPr>
          <p:nvPr/>
        </p:nvPicPr>
        <p:blipFill>
          <a:blip r:embed="rId4"/>
          <a:stretch>
            <a:fillRect/>
          </a:stretch>
        </p:blipFill>
        <p:spPr>
          <a:xfrm>
            <a:off x="6606540" y="2052828"/>
            <a:ext cx="228600" cy="228600"/>
          </a:xfrm>
          <a:prstGeom prst="rect">
            <a:avLst/>
          </a:prstGeom>
        </p:spPr>
      </p:pic>
      <p:sp>
        <p:nvSpPr>
          <p:cNvPr id="18" name="After title"/>
          <p:cNvSpPr txBox="1"/>
          <p:nvPr/>
        </p:nvSpPr>
        <p:spPr>
          <a:xfrm>
            <a:off x="7086600" y="2011680"/>
            <a:ext cx="4389120" cy="365760"/>
          </a:xfrm>
          <a:prstGeom prst="rect">
            <a:avLst/>
          </a:prstGeom>
          <a:noFill/>
          <a:ln/>
        </p:spPr>
        <p:txBody>
          <a:bodyPr wrap="square" lIns="0" tIns="0" rIns="0" bIns="0" rtlCol="0" anchor="t"/>
          <a:lstStyle/>
          <a:p>
            <a:pPr marL="0" indent="0">
              <a:buNone/>
            </a:pPr>
            <a:r>
              <a:rPr lang="en-US" sz="1600" b="1" dirty="0">
                <a:solidFill>
                  <a:schemeClr val="tx2"/>
                </a:solidFill>
                <a:latin typeface="Cambria" pitchFamily="34" charset="0"/>
                <a:ea typeface="Cambria" pitchFamily="34" charset="-122"/>
                <a:cs typeface="Cambria" pitchFamily="34" charset="-120"/>
              </a:rPr>
              <a:t>After: the label matches the text</a:t>
            </a:r>
            <a:endParaRPr lang="en-US" sz="1600" dirty="0"/>
          </a:p>
        </p:txBody>
      </p:sp>
      <p:sp>
        <p:nvSpPr>
          <p:cNvPr id="19" name="After label 1"/>
          <p:cNvSpPr txBox="1"/>
          <p:nvPr/>
        </p:nvSpPr>
        <p:spPr>
          <a:xfrm>
            <a:off x="6492240" y="2542032"/>
            <a:ext cx="2743200" cy="201168"/>
          </a:xfrm>
          <a:prstGeom prst="rect">
            <a:avLst/>
          </a:prstGeom>
          <a:noFill/>
          <a:ln/>
        </p:spPr>
        <p:txBody>
          <a:bodyPr wrap="square" lIns="0" tIns="0" rIns="0" bIns="0" rtlCol="0" anchor="t"/>
          <a:lstStyle/>
          <a:p>
            <a:pPr marL="0" indent="0">
              <a:buNone/>
            </a:pPr>
            <a:r>
              <a:rPr lang="en-US" sz="1100" b="1" dirty="0">
                <a:solidFill>
                  <a:schemeClr val="accent5"/>
                </a:solidFill>
              </a:rPr>
              <a:t>Whole post</a:t>
            </a:r>
            <a:endParaRPr lang="en-US" sz="1100" dirty="0"/>
          </a:p>
        </p:txBody>
      </p:sp>
      <p:sp>
        <p:nvSpPr>
          <p:cNvPr id="20" name="After prompt 1 box"/>
          <p:cNvSpPr/>
          <p:nvPr/>
        </p:nvSpPr>
        <p:spPr>
          <a:xfrm>
            <a:off x="6492240" y="2761488"/>
            <a:ext cx="4919472" cy="566928"/>
          </a:xfrm>
          <a:prstGeom prst="roundRect">
            <a:avLst>
              <a:gd name="adj" fmla="val 12903"/>
            </a:avLst>
          </a:prstGeom>
          <a:solidFill>
            <a:schemeClr val="tx2"/>
          </a:solidFill>
          <a:ln w="12700">
            <a:solidFill>
              <a:schemeClr val="tx2"/>
            </a:solidFill>
            <a:prstDash val="solid"/>
          </a:ln>
        </p:spPr>
        <p:txBody>
          <a:bodyPr/>
          <a:lstStyle/>
          <a:p>
            <a:endParaRPr lang="en-US"/>
          </a:p>
        </p:txBody>
      </p:sp>
      <p:sp>
        <p:nvSpPr>
          <p:cNvPr id="21" name="After prompt 1 text"/>
          <p:cNvSpPr txBox="1"/>
          <p:nvPr/>
        </p:nvSpPr>
        <p:spPr>
          <a:xfrm>
            <a:off x="6629400" y="2834640"/>
            <a:ext cx="4645152" cy="420624"/>
          </a:xfrm>
          <a:prstGeom prst="rect">
            <a:avLst/>
          </a:prstGeom>
          <a:noFill/>
          <a:ln/>
        </p:spPr>
        <p:txBody>
          <a:bodyPr wrap="square" lIns="0" tIns="0" rIns="0" bIns="0" rtlCol="0" anchor="ctr"/>
          <a:lstStyle/>
          <a:p>
            <a:pPr marL="0" indent="0">
              <a:buNone/>
            </a:pPr>
            <a:r>
              <a:rPr lang="en-US" sz="1000" dirty="0">
                <a:solidFill>
                  <a:srgbClr val="FFFFFF"/>
                </a:solidFill>
                <a:latin typeface="Courier New" pitchFamily="34" charset="0"/>
                <a:ea typeface="Courier New" pitchFamily="34" charset="-122"/>
                <a:cs typeface="Courier New" pitchFamily="34" charset="-120"/>
              </a:rPr>
              <a:t>Write a blog post in the style of Jason Lemkin about: {title}</a:t>
            </a:r>
            <a:endParaRPr lang="en-US" sz="1000" dirty="0"/>
          </a:p>
        </p:txBody>
      </p:sp>
      <p:sp>
        <p:nvSpPr>
          <p:cNvPr id="22" name="After label 2"/>
          <p:cNvSpPr txBox="1"/>
          <p:nvPr/>
        </p:nvSpPr>
        <p:spPr>
          <a:xfrm>
            <a:off x="6492240" y="3392424"/>
            <a:ext cx="2743200" cy="201168"/>
          </a:xfrm>
          <a:prstGeom prst="rect">
            <a:avLst/>
          </a:prstGeom>
          <a:noFill/>
          <a:ln/>
        </p:spPr>
        <p:txBody>
          <a:bodyPr wrap="square" lIns="0" tIns="0" rIns="0" bIns="0" rtlCol="0" anchor="t"/>
          <a:lstStyle/>
          <a:p>
            <a:pPr marL="0" indent="0">
              <a:buNone/>
            </a:pPr>
            <a:r>
              <a:rPr lang="en-US" sz="1100" b="1" dirty="0">
                <a:solidFill>
                  <a:schemeClr val="accent5"/>
                </a:solidFill>
              </a:rPr>
              <a:t>Opening only</a:t>
            </a:r>
            <a:endParaRPr lang="en-US" sz="1100" dirty="0"/>
          </a:p>
        </p:txBody>
      </p:sp>
      <p:sp>
        <p:nvSpPr>
          <p:cNvPr id="23" name="After prompt 2 box"/>
          <p:cNvSpPr/>
          <p:nvPr/>
        </p:nvSpPr>
        <p:spPr>
          <a:xfrm>
            <a:off x="6492240" y="3611880"/>
            <a:ext cx="4919472" cy="566928"/>
          </a:xfrm>
          <a:prstGeom prst="roundRect">
            <a:avLst>
              <a:gd name="adj" fmla="val 12903"/>
            </a:avLst>
          </a:prstGeom>
          <a:solidFill>
            <a:schemeClr val="tx2"/>
          </a:solidFill>
          <a:ln w="12700">
            <a:solidFill>
              <a:schemeClr val="tx2"/>
            </a:solidFill>
            <a:prstDash val="solid"/>
          </a:ln>
        </p:spPr>
        <p:txBody>
          <a:bodyPr/>
          <a:lstStyle/>
          <a:p>
            <a:endParaRPr lang="en-US"/>
          </a:p>
        </p:txBody>
      </p:sp>
      <p:sp>
        <p:nvSpPr>
          <p:cNvPr id="24" name="After prompt 2 text"/>
          <p:cNvSpPr txBox="1"/>
          <p:nvPr/>
        </p:nvSpPr>
        <p:spPr>
          <a:xfrm>
            <a:off x="6629400" y="3685032"/>
            <a:ext cx="4645152" cy="420624"/>
          </a:xfrm>
          <a:prstGeom prst="rect">
            <a:avLst/>
          </a:prstGeom>
          <a:noFill/>
          <a:ln/>
        </p:spPr>
        <p:txBody>
          <a:bodyPr wrap="square" lIns="0" tIns="0" rIns="0" bIns="0" rtlCol="0" anchor="ctr"/>
          <a:lstStyle/>
          <a:p>
            <a:pPr marL="0" indent="0">
              <a:buNone/>
            </a:pPr>
            <a:r>
              <a:rPr lang="en-US" sz="1000" dirty="0">
                <a:solidFill>
                  <a:srgbClr val="FFFFFF"/>
                </a:solidFill>
                <a:latin typeface="Courier New" pitchFamily="34" charset="0"/>
                <a:ea typeface="Courier New" pitchFamily="34" charset="-122"/>
                <a:cs typeface="Courier New" pitchFamily="34" charset="-120"/>
              </a:rPr>
              <a:t>Write only the opening section, in the style of Jason Lemkin, of a blog post about: {title}</a:t>
            </a:r>
            <a:endParaRPr lang="en-US" sz="1000" dirty="0"/>
          </a:p>
        </p:txBody>
      </p:sp>
      <p:sp>
        <p:nvSpPr>
          <p:cNvPr id="25" name="After label 3"/>
          <p:cNvSpPr txBox="1"/>
          <p:nvPr/>
        </p:nvSpPr>
        <p:spPr>
          <a:xfrm>
            <a:off x="6492240" y="4242816"/>
            <a:ext cx="2743200" cy="201168"/>
          </a:xfrm>
          <a:prstGeom prst="rect">
            <a:avLst/>
          </a:prstGeom>
          <a:noFill/>
          <a:ln/>
        </p:spPr>
        <p:txBody>
          <a:bodyPr wrap="square" lIns="0" tIns="0" rIns="0" bIns="0" rtlCol="0" anchor="t"/>
          <a:lstStyle/>
          <a:p>
            <a:pPr marL="0" indent="0">
              <a:buNone/>
            </a:pPr>
            <a:r>
              <a:rPr lang="en-US" sz="1100" b="1" dirty="0">
                <a:solidFill>
                  <a:schemeClr val="accent5"/>
                </a:solidFill>
              </a:rPr>
              <a:t>Later slice</a:t>
            </a:r>
            <a:endParaRPr lang="en-US" sz="1100" dirty="0"/>
          </a:p>
        </p:txBody>
      </p:sp>
      <p:sp>
        <p:nvSpPr>
          <p:cNvPr id="26" name="After prompt 3 box"/>
          <p:cNvSpPr/>
          <p:nvPr/>
        </p:nvSpPr>
        <p:spPr>
          <a:xfrm>
            <a:off x="6492240" y="4462272"/>
            <a:ext cx="4919472" cy="566928"/>
          </a:xfrm>
          <a:prstGeom prst="roundRect">
            <a:avLst>
              <a:gd name="adj" fmla="val 12903"/>
            </a:avLst>
          </a:prstGeom>
          <a:solidFill>
            <a:schemeClr val="tx2"/>
          </a:solidFill>
          <a:ln w="12700">
            <a:solidFill>
              <a:schemeClr val="tx2"/>
            </a:solidFill>
            <a:prstDash val="solid"/>
          </a:ln>
        </p:spPr>
        <p:txBody>
          <a:bodyPr/>
          <a:lstStyle/>
          <a:p>
            <a:endParaRPr lang="en-US"/>
          </a:p>
        </p:txBody>
      </p:sp>
      <p:sp>
        <p:nvSpPr>
          <p:cNvPr id="27" name="After prompt 3 text"/>
          <p:cNvSpPr txBox="1"/>
          <p:nvPr/>
        </p:nvSpPr>
        <p:spPr>
          <a:xfrm>
            <a:off x="6629400" y="4535424"/>
            <a:ext cx="4645152" cy="420624"/>
          </a:xfrm>
          <a:prstGeom prst="rect">
            <a:avLst/>
          </a:prstGeom>
          <a:noFill/>
          <a:ln/>
        </p:spPr>
        <p:txBody>
          <a:bodyPr wrap="square" lIns="0" tIns="0" rIns="0" bIns="0" rtlCol="0" anchor="ctr"/>
          <a:lstStyle/>
          <a:p>
            <a:pPr marL="0" indent="0">
              <a:buNone/>
            </a:pPr>
            <a:r>
              <a:rPr lang="en-US" sz="1000" dirty="0">
                <a:solidFill>
                  <a:srgbClr val="FFFFFF"/>
                </a:solidFill>
                <a:latin typeface="Courier New" pitchFamily="34" charset="0"/>
                <a:ea typeface="Courier New" pitchFamily="34" charset="-122"/>
                <a:cs typeface="Courier New" pitchFamily="34" charset="-120"/>
              </a:rPr>
              <a:t>Continue this blog post in the style of Jason Lemkin about: {title}. Previous section ending: "Not all at once."</a:t>
            </a:r>
            <a:endParaRPr lang="en-US" sz="1000" dirty="0"/>
          </a:p>
        </p:txBody>
      </p:sp>
      <p:sp>
        <p:nvSpPr>
          <p:cNvPr id="28" name="Takeaway 1"/>
          <p:cNvSpPr/>
          <p:nvPr/>
        </p:nvSpPr>
        <p:spPr>
          <a:xfrm>
            <a:off x="548640" y="5303520"/>
            <a:ext cx="3575304" cy="914400"/>
          </a:xfrm>
          <a:prstGeom prst="roundRect">
            <a:avLst>
              <a:gd name="adj" fmla="val 12000"/>
            </a:avLst>
          </a:prstGeom>
          <a:solidFill>
            <a:schemeClr val="accent1"/>
          </a:solidFill>
          <a:ln w="12700">
            <a:solidFill>
              <a:schemeClr val="accent1"/>
            </a:solidFill>
            <a:prstDash val="solid"/>
          </a:ln>
        </p:spPr>
        <p:txBody>
          <a:bodyPr/>
          <a:lstStyle/>
          <a:p>
            <a:endParaRPr lang="en-US"/>
          </a:p>
        </p:txBody>
      </p:sp>
      <p:sp>
        <p:nvSpPr>
          <p:cNvPr id="29" name="Takeaway 1 title"/>
          <p:cNvSpPr txBox="1"/>
          <p:nvPr/>
        </p:nvSpPr>
        <p:spPr>
          <a:xfrm>
            <a:off x="749808" y="5376672"/>
            <a:ext cx="3209544" cy="274320"/>
          </a:xfrm>
          <a:prstGeom prst="rect">
            <a:avLst/>
          </a:prstGeom>
          <a:noFill/>
          <a:ln/>
        </p:spPr>
        <p:txBody>
          <a:bodyPr wrap="square" lIns="0" tIns="0" rIns="0" bIns="0" rtlCol="0" anchor="t"/>
          <a:lstStyle/>
          <a:p>
            <a:pPr marL="0" indent="0">
              <a:buNone/>
            </a:pPr>
            <a:r>
              <a:rPr lang="en-US" sz="1400" b="1" dirty="0">
                <a:solidFill>
                  <a:schemeClr val="accent4"/>
                </a:solidFill>
                <a:latin typeface="Cambria" pitchFamily="34" charset="0"/>
                <a:ea typeface="Cambria" pitchFamily="34" charset="-122"/>
                <a:cs typeface="Cambria" pitchFamily="34" charset="-120"/>
              </a:rPr>
              <a:t>Targets were not rewritten</a:t>
            </a:r>
            <a:endParaRPr lang="en-US" sz="1400" dirty="0"/>
          </a:p>
        </p:txBody>
      </p:sp>
      <p:sp>
        <p:nvSpPr>
          <p:cNvPr id="30" name="Takeaway 1 text"/>
          <p:cNvSpPr txBox="1"/>
          <p:nvPr/>
        </p:nvSpPr>
        <p:spPr>
          <a:xfrm>
            <a:off x="749808" y="5669280"/>
            <a:ext cx="3209544" cy="502920"/>
          </a:xfrm>
          <a:prstGeom prst="rect">
            <a:avLst/>
          </a:prstGeom>
          <a:noFill/>
          <a:ln/>
        </p:spPr>
        <p:txBody>
          <a:bodyPr wrap="square" lIns="0" tIns="0" rIns="0" bIns="0" rtlCol="0" anchor="t"/>
          <a:lstStyle/>
          <a:p>
            <a:pPr marL="0" indent="0">
              <a:buNone/>
            </a:pPr>
            <a:r>
              <a:rPr lang="en-US" sz="1300" dirty="0">
                <a:solidFill>
                  <a:schemeClr val="bg1"/>
                </a:solidFill>
              </a:rPr>
              <a:t>Only the instruction changed to describe the text.</a:t>
            </a:r>
            <a:endParaRPr lang="en-US" sz="1300" dirty="0"/>
          </a:p>
        </p:txBody>
      </p:sp>
      <p:sp>
        <p:nvSpPr>
          <p:cNvPr id="31" name="Takeaway 2"/>
          <p:cNvSpPr/>
          <p:nvPr/>
        </p:nvSpPr>
        <p:spPr>
          <a:xfrm>
            <a:off x="4306824" y="5303520"/>
            <a:ext cx="3575304" cy="914400"/>
          </a:xfrm>
          <a:prstGeom prst="roundRect">
            <a:avLst>
              <a:gd name="adj" fmla="val 12000"/>
            </a:avLst>
          </a:prstGeom>
          <a:solidFill>
            <a:schemeClr val="accent1"/>
          </a:solidFill>
          <a:ln w="12700">
            <a:solidFill>
              <a:schemeClr val="accent1"/>
            </a:solidFill>
            <a:prstDash val="solid"/>
          </a:ln>
        </p:spPr>
        <p:txBody>
          <a:bodyPr/>
          <a:lstStyle/>
          <a:p>
            <a:endParaRPr lang="en-US"/>
          </a:p>
        </p:txBody>
      </p:sp>
      <p:sp>
        <p:nvSpPr>
          <p:cNvPr id="32" name="Takeaway 2 title"/>
          <p:cNvSpPr txBox="1"/>
          <p:nvPr/>
        </p:nvSpPr>
        <p:spPr>
          <a:xfrm>
            <a:off x="4507992" y="5376672"/>
            <a:ext cx="3209544" cy="274320"/>
          </a:xfrm>
          <a:prstGeom prst="rect">
            <a:avLst/>
          </a:prstGeom>
          <a:noFill/>
          <a:ln/>
        </p:spPr>
        <p:txBody>
          <a:bodyPr wrap="square" lIns="0" tIns="0" rIns="0" bIns="0" rtlCol="0" anchor="t"/>
          <a:lstStyle/>
          <a:p>
            <a:pPr marL="0" indent="0">
              <a:buNone/>
            </a:pPr>
            <a:r>
              <a:rPr lang="en-US" sz="1400" b="1" dirty="0">
                <a:solidFill>
                  <a:schemeClr val="accent4"/>
                </a:solidFill>
                <a:latin typeface="Cambria" pitchFamily="34" charset="0"/>
                <a:ea typeface="Cambria" pitchFamily="34" charset="-122"/>
                <a:cs typeface="Cambria" pitchFamily="34" charset="-120"/>
              </a:rPr>
              <a:t>Broken rows were dropped</a:t>
            </a:r>
            <a:endParaRPr lang="en-US" sz="1400" dirty="0"/>
          </a:p>
        </p:txBody>
      </p:sp>
      <p:sp>
        <p:nvSpPr>
          <p:cNvPr id="33" name="Takeaway 2 text"/>
          <p:cNvSpPr txBox="1"/>
          <p:nvPr/>
        </p:nvSpPr>
        <p:spPr>
          <a:xfrm>
            <a:off x="4507992" y="5669280"/>
            <a:ext cx="3209544" cy="502920"/>
          </a:xfrm>
          <a:prstGeom prst="rect">
            <a:avLst/>
          </a:prstGeom>
          <a:noFill/>
          <a:ln/>
        </p:spPr>
        <p:txBody>
          <a:bodyPr wrap="square" lIns="0" tIns="0" rIns="0" bIns="0" rtlCol="0" anchor="t"/>
          <a:lstStyle/>
          <a:p>
            <a:pPr marL="0" indent="0">
              <a:buNone/>
            </a:pPr>
            <a:r>
              <a:rPr lang="en-US" sz="1300" dirty="0">
                <a:solidFill>
                  <a:schemeClr val="bg1"/>
                </a:solidFill>
              </a:rPr>
              <a:t>3,685 of 25,062 training rows had no clean ending.</a:t>
            </a:r>
            <a:endParaRPr lang="en-US" sz="1300" dirty="0"/>
          </a:p>
        </p:txBody>
      </p:sp>
      <p:sp>
        <p:nvSpPr>
          <p:cNvPr id="34" name="Takeaway 3"/>
          <p:cNvSpPr/>
          <p:nvPr/>
        </p:nvSpPr>
        <p:spPr>
          <a:xfrm>
            <a:off x="8065008" y="5303520"/>
            <a:ext cx="3575304" cy="914400"/>
          </a:xfrm>
          <a:prstGeom prst="roundRect">
            <a:avLst>
              <a:gd name="adj" fmla="val 12000"/>
            </a:avLst>
          </a:prstGeom>
          <a:solidFill>
            <a:schemeClr val="accent1"/>
          </a:solidFill>
          <a:ln w="12700">
            <a:solidFill>
              <a:schemeClr val="accent1"/>
            </a:solidFill>
            <a:prstDash val="solid"/>
          </a:ln>
        </p:spPr>
        <p:txBody>
          <a:bodyPr/>
          <a:lstStyle/>
          <a:p>
            <a:endParaRPr lang="en-US"/>
          </a:p>
        </p:txBody>
      </p:sp>
      <p:sp>
        <p:nvSpPr>
          <p:cNvPr id="35" name="Takeaway 3 title"/>
          <p:cNvSpPr txBox="1"/>
          <p:nvPr/>
        </p:nvSpPr>
        <p:spPr>
          <a:xfrm>
            <a:off x="8266176" y="5376672"/>
            <a:ext cx="3209544" cy="274320"/>
          </a:xfrm>
          <a:prstGeom prst="rect">
            <a:avLst/>
          </a:prstGeom>
          <a:noFill/>
          <a:ln/>
        </p:spPr>
        <p:txBody>
          <a:bodyPr wrap="square" lIns="0" tIns="0" rIns="0" bIns="0" rtlCol="0" anchor="t"/>
          <a:lstStyle/>
          <a:p>
            <a:pPr marL="0" indent="0">
              <a:buNone/>
            </a:pPr>
            <a:r>
              <a:rPr lang="en-US" sz="1400" b="1" dirty="0">
                <a:solidFill>
                  <a:schemeClr val="accent4"/>
                </a:solidFill>
                <a:latin typeface="Cambria" pitchFamily="34" charset="0"/>
                <a:ea typeface="Cambria" pitchFamily="34" charset="-122"/>
                <a:cs typeface="Cambria" pitchFamily="34" charset="-120"/>
              </a:rPr>
              <a:t>Original files untouched</a:t>
            </a:r>
            <a:endParaRPr lang="en-US" sz="1400" dirty="0"/>
          </a:p>
        </p:txBody>
      </p:sp>
      <p:sp>
        <p:nvSpPr>
          <p:cNvPr id="36" name="Takeaway 3 text"/>
          <p:cNvSpPr txBox="1"/>
          <p:nvPr/>
        </p:nvSpPr>
        <p:spPr>
          <a:xfrm>
            <a:off x="8266176" y="5669280"/>
            <a:ext cx="3209544" cy="502920"/>
          </a:xfrm>
          <a:prstGeom prst="rect">
            <a:avLst/>
          </a:prstGeom>
          <a:noFill/>
          <a:ln/>
        </p:spPr>
        <p:txBody>
          <a:bodyPr wrap="square" lIns="0" tIns="0" rIns="0" bIns="0" rtlCol="0" anchor="t"/>
          <a:lstStyle/>
          <a:p>
            <a:pPr marL="0" indent="0">
              <a:buNone/>
            </a:pPr>
            <a:r>
              <a:rPr lang="en-US" sz="1300" dirty="0">
                <a:solidFill>
                  <a:schemeClr val="bg1"/>
                </a:solidFill>
              </a:rPr>
              <a:t>The relabel is a new file with its own dataset hash.</a:t>
            </a:r>
            <a:endParaRPr lang="en-US" sz="1300" dirty="0"/>
          </a:p>
        </p:txBody>
      </p:sp>
      <p:sp>
        <p:nvSpPr>
          <p:cNvPr id="37"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778240" cy="731520"/>
          </a:xfrm>
          <a:prstGeom prst="rect">
            <a:avLst/>
          </a:prstGeom>
          <a:noFill/>
          <a:ln/>
        </p:spPr>
        <p:txBody>
          <a:bodyPr wrap="square" lIns="0" tIns="0" rIns="0" bIns="0" rtlCol="0" anchor="ctr"/>
          <a:lstStyle/>
          <a:p>
            <a:pPr marL="0" indent="0" algn="l">
              <a:buNone/>
            </a:pPr>
            <a:r>
              <a:rPr lang="en-US" sz="3200" b="1" dirty="0">
                <a:solidFill>
                  <a:schemeClr val="tx2"/>
                </a:solidFill>
              </a:rPr>
              <a:t>Train, validation and test splits</a:t>
            </a:r>
            <a:endParaRPr lang="en-US" sz="3200" dirty="0"/>
          </a:p>
        </p:txBody>
      </p:sp>
      <p:sp>
        <p:nvSpPr>
          <p:cNvPr id="3" name="Text 0"/>
          <p:cNvSpPr>
            <a:spLocks noGrp="1"/>
          </p:cNvSpPr>
          <p:nvPr>
            <p:ph type="body" idx="101" hasCustomPrompt="1"/>
          </p:nvPr>
        </p:nvSpPr>
        <p:spPr>
          <a:xfrm>
            <a:off x="548640" y="1051560"/>
            <a:ext cx="11091672" cy="457200"/>
          </a:xfrm>
          <a:prstGeom prst="rect">
            <a:avLst/>
          </a:prstGeom>
          <a:noFill/>
          <a:ln/>
        </p:spPr>
        <p:txBody>
          <a:bodyPr wrap="square" lIns="0" tIns="0" rIns="0" bIns="0" rtlCol="0" anchor="t"/>
          <a:lstStyle/>
          <a:p>
            <a:pPr marL="0" indent="0" algn="l">
              <a:buNone/>
            </a:pPr>
            <a:r>
              <a:rPr lang="en-US" sz="1800" dirty="0">
                <a:solidFill>
                  <a:schemeClr val="accent5"/>
                </a:solidFill>
              </a:rPr>
              <a:t>Related text stays together, and test text stays out of both training and retrieval</a:t>
            </a:r>
            <a:endParaRPr lang="en-US" sz="1800" dirty="0"/>
          </a:p>
        </p:txBody>
      </p:sp>
      <p:sp>
        <p:nvSpPr>
          <p:cNvPr id="4" name="Section chip"/>
          <p:cNvSpPr/>
          <p:nvPr/>
        </p:nvSpPr>
        <p:spPr>
          <a:xfrm>
            <a:off x="9445752" y="475488"/>
            <a:ext cx="219456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5" name="Section chip text"/>
          <p:cNvSpPr txBox="1"/>
          <p:nvPr/>
        </p:nvSpPr>
        <p:spPr>
          <a:xfrm>
            <a:off x="9445752" y="475488"/>
            <a:ext cx="2194560" cy="329184"/>
          </a:xfrm>
          <a:prstGeom prst="rect">
            <a:avLst/>
          </a:prstGeom>
          <a:noFill/>
          <a:ln/>
        </p:spPr>
        <p:txBody>
          <a:bodyPr wrap="square" lIns="0" tIns="0" rIns="0" bIns="0" rtlCol="0" anchor="ctr"/>
          <a:lstStyle/>
          <a:p>
            <a:pPr marL="0" indent="0" algn="ctr">
              <a:buNone/>
            </a:pPr>
            <a:r>
              <a:rPr lang="en-US" sz="1200" b="1" dirty="0">
                <a:solidFill>
                  <a:schemeClr val="bg1"/>
                </a:solidFill>
              </a:rPr>
              <a:t>Training and test data</a:t>
            </a:r>
            <a:endParaRPr lang="en-US" sz="1200" dirty="0"/>
          </a:p>
        </p:txBody>
      </p:sp>
      <p:sp>
        <p:nvSpPr>
          <p:cNvPr id="6" name="Rule card"/>
          <p:cNvSpPr/>
          <p:nvPr/>
        </p:nvSpPr>
        <p:spPr>
          <a:xfrm>
            <a:off x="548640" y="1783080"/>
            <a:ext cx="5760720" cy="2743200"/>
          </a:xfrm>
          <a:prstGeom prst="roundRect">
            <a:avLst>
              <a:gd name="adj" fmla="val 4000"/>
            </a:avLst>
          </a:prstGeom>
          <a:solidFill>
            <a:schemeClr val="bg2"/>
          </a:solidFill>
          <a:ln w="12700">
            <a:solidFill>
              <a:schemeClr val="bg2"/>
            </a:solidFill>
            <a:prstDash val="solid"/>
          </a:ln>
        </p:spPr>
        <p:txBody>
          <a:bodyPr/>
          <a:lstStyle/>
          <a:p>
            <a:endParaRPr lang="en-US"/>
          </a:p>
        </p:txBody>
      </p:sp>
      <p:sp>
        <p:nvSpPr>
          <p:cNvPr id="7" name="Rule title"/>
          <p:cNvSpPr txBox="1"/>
          <p:nvPr/>
        </p:nvSpPr>
        <p:spPr>
          <a:xfrm>
            <a:off x="777240" y="1892808"/>
            <a:ext cx="5303520" cy="36576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How a split is made</a:t>
            </a:r>
            <a:endParaRPr lang="en-US" sz="1800" dirty="0"/>
          </a:p>
        </p:txBody>
      </p:sp>
      <p:sp>
        <p:nvSpPr>
          <p:cNvPr id="8" name="Join key 1"/>
          <p:cNvSpPr/>
          <p:nvPr/>
        </p:nvSpPr>
        <p:spPr>
          <a:xfrm>
            <a:off x="777240" y="2377440"/>
            <a:ext cx="2560320" cy="457200"/>
          </a:xfrm>
          <a:prstGeom prst="roundRect">
            <a:avLst>
              <a:gd name="adj" fmla="val 16000"/>
            </a:avLst>
          </a:prstGeom>
          <a:solidFill>
            <a:schemeClr val="bg1"/>
          </a:solidFill>
          <a:ln w="12700">
            <a:solidFill>
              <a:schemeClr val="accent2"/>
            </a:solidFill>
            <a:prstDash val="solid"/>
          </a:ln>
        </p:spPr>
        <p:txBody>
          <a:bodyPr/>
          <a:lstStyle/>
          <a:p>
            <a:endParaRPr lang="en-US"/>
          </a:p>
        </p:txBody>
      </p:sp>
      <p:sp>
        <p:nvSpPr>
          <p:cNvPr id="9" name="Join key 1 text"/>
          <p:cNvSpPr txBox="1"/>
          <p:nvPr/>
        </p:nvSpPr>
        <p:spPr>
          <a:xfrm>
            <a:off x="886968" y="2377440"/>
            <a:ext cx="2340864" cy="457200"/>
          </a:xfrm>
          <a:prstGeom prst="rect">
            <a:avLst/>
          </a:prstGeom>
          <a:noFill/>
          <a:ln/>
        </p:spPr>
        <p:txBody>
          <a:bodyPr wrap="square" lIns="0" tIns="0" rIns="0" bIns="0" rtlCol="0" anchor="ctr"/>
          <a:lstStyle/>
          <a:p>
            <a:pPr marL="0" indent="0">
              <a:buNone/>
            </a:pPr>
            <a:r>
              <a:rPr lang="en-US" sz="1300" dirty="0">
                <a:solidFill>
                  <a:schemeClr val="tx2"/>
                </a:solidFill>
              </a:rPr>
              <a:t>Same source file and line</a:t>
            </a:r>
            <a:endParaRPr lang="en-US" sz="1300" dirty="0"/>
          </a:p>
        </p:txBody>
      </p:sp>
      <p:sp>
        <p:nvSpPr>
          <p:cNvPr id="10" name="Join key 2"/>
          <p:cNvSpPr/>
          <p:nvPr/>
        </p:nvSpPr>
        <p:spPr>
          <a:xfrm>
            <a:off x="3474720" y="2377440"/>
            <a:ext cx="2560320" cy="457200"/>
          </a:xfrm>
          <a:prstGeom prst="roundRect">
            <a:avLst>
              <a:gd name="adj" fmla="val 16000"/>
            </a:avLst>
          </a:prstGeom>
          <a:solidFill>
            <a:schemeClr val="bg1"/>
          </a:solidFill>
          <a:ln w="12700">
            <a:solidFill>
              <a:schemeClr val="accent2"/>
            </a:solidFill>
            <a:prstDash val="solid"/>
          </a:ln>
        </p:spPr>
        <p:txBody>
          <a:bodyPr/>
          <a:lstStyle/>
          <a:p>
            <a:endParaRPr lang="en-US"/>
          </a:p>
        </p:txBody>
      </p:sp>
      <p:sp>
        <p:nvSpPr>
          <p:cNvPr id="11" name="Join key 2 text"/>
          <p:cNvSpPr txBox="1"/>
          <p:nvPr/>
        </p:nvSpPr>
        <p:spPr>
          <a:xfrm>
            <a:off x="3584448" y="2377440"/>
            <a:ext cx="2340864" cy="457200"/>
          </a:xfrm>
          <a:prstGeom prst="rect">
            <a:avLst/>
          </a:prstGeom>
          <a:noFill/>
          <a:ln/>
        </p:spPr>
        <p:txBody>
          <a:bodyPr wrap="square" lIns="0" tIns="0" rIns="0" bIns="0" rtlCol="0" anchor="ctr"/>
          <a:lstStyle/>
          <a:p>
            <a:pPr marL="0" indent="0">
              <a:buNone/>
            </a:pPr>
            <a:r>
              <a:rPr lang="en-US" sz="1300" dirty="0">
                <a:solidFill>
                  <a:schemeClr val="tx2"/>
                </a:solidFill>
              </a:rPr>
              <a:t>Same normalized title</a:t>
            </a:r>
            <a:endParaRPr lang="en-US" sz="1300" dirty="0"/>
          </a:p>
        </p:txBody>
      </p:sp>
      <p:sp>
        <p:nvSpPr>
          <p:cNvPr id="12" name="Join key 3"/>
          <p:cNvSpPr/>
          <p:nvPr/>
        </p:nvSpPr>
        <p:spPr>
          <a:xfrm>
            <a:off x="777240" y="2944368"/>
            <a:ext cx="2560320" cy="457200"/>
          </a:xfrm>
          <a:prstGeom prst="roundRect">
            <a:avLst>
              <a:gd name="adj" fmla="val 16000"/>
            </a:avLst>
          </a:prstGeom>
          <a:solidFill>
            <a:schemeClr val="bg1"/>
          </a:solidFill>
          <a:ln w="12700">
            <a:solidFill>
              <a:schemeClr val="accent2"/>
            </a:solidFill>
            <a:prstDash val="solid"/>
          </a:ln>
        </p:spPr>
        <p:txBody>
          <a:bodyPr/>
          <a:lstStyle/>
          <a:p>
            <a:endParaRPr lang="en-US"/>
          </a:p>
        </p:txBody>
      </p:sp>
      <p:sp>
        <p:nvSpPr>
          <p:cNvPr id="13" name="Join key 3 text"/>
          <p:cNvSpPr txBox="1"/>
          <p:nvPr/>
        </p:nvSpPr>
        <p:spPr>
          <a:xfrm>
            <a:off x="886968" y="2944368"/>
            <a:ext cx="2340864" cy="457200"/>
          </a:xfrm>
          <a:prstGeom prst="rect">
            <a:avLst/>
          </a:prstGeom>
          <a:noFill/>
          <a:ln/>
        </p:spPr>
        <p:txBody>
          <a:bodyPr wrap="square" lIns="0" tIns="0" rIns="0" bIns="0" rtlCol="0" anchor="ctr"/>
          <a:lstStyle/>
          <a:p>
            <a:pPr marL="0" indent="0">
              <a:buNone/>
            </a:pPr>
            <a:r>
              <a:rPr lang="en-US" sz="1300" dirty="0">
                <a:solidFill>
                  <a:schemeClr val="tx2"/>
                </a:solidFill>
              </a:rPr>
              <a:t>Same normalized answer text</a:t>
            </a:r>
            <a:endParaRPr lang="en-US" sz="1300" dirty="0"/>
          </a:p>
        </p:txBody>
      </p:sp>
      <p:sp>
        <p:nvSpPr>
          <p:cNvPr id="14" name="Join key 4"/>
          <p:cNvSpPr/>
          <p:nvPr/>
        </p:nvSpPr>
        <p:spPr>
          <a:xfrm>
            <a:off x="3474720" y="2944368"/>
            <a:ext cx="2560320" cy="457200"/>
          </a:xfrm>
          <a:prstGeom prst="roundRect">
            <a:avLst>
              <a:gd name="adj" fmla="val 16000"/>
            </a:avLst>
          </a:prstGeom>
          <a:solidFill>
            <a:schemeClr val="bg1"/>
          </a:solidFill>
          <a:ln w="12700">
            <a:solidFill>
              <a:schemeClr val="accent2"/>
            </a:solidFill>
            <a:prstDash val="solid"/>
          </a:ln>
        </p:spPr>
        <p:txBody>
          <a:bodyPr/>
          <a:lstStyle/>
          <a:p>
            <a:endParaRPr lang="en-US"/>
          </a:p>
        </p:txBody>
      </p:sp>
      <p:sp>
        <p:nvSpPr>
          <p:cNvPr id="15" name="Join key 4 text"/>
          <p:cNvSpPr txBox="1"/>
          <p:nvPr/>
        </p:nvSpPr>
        <p:spPr>
          <a:xfrm>
            <a:off x="3584448" y="2944368"/>
            <a:ext cx="2340864" cy="457200"/>
          </a:xfrm>
          <a:prstGeom prst="rect">
            <a:avLst/>
          </a:prstGeom>
          <a:noFill/>
          <a:ln/>
        </p:spPr>
        <p:txBody>
          <a:bodyPr wrap="square" lIns="0" tIns="0" rIns="0" bIns="0" rtlCol="0" anchor="ctr"/>
          <a:lstStyle/>
          <a:p>
            <a:pPr marL="0" indent="0">
              <a:buNone/>
            </a:pPr>
            <a:r>
              <a:rPr lang="en-US" sz="1300" dirty="0">
                <a:solidFill>
                  <a:schemeClr val="tx2"/>
                </a:solidFill>
              </a:rPr>
              <a:t>Word overlap of 0.8 or more</a:t>
            </a:r>
            <a:endParaRPr lang="en-US" sz="1300" dirty="0"/>
          </a:p>
        </p:txBody>
      </p:sp>
      <p:sp>
        <p:nvSpPr>
          <p:cNvPr id="16" name="Rule text"/>
          <p:cNvSpPr txBox="1"/>
          <p:nvPr/>
        </p:nvSpPr>
        <p:spPr>
          <a:xfrm>
            <a:off x="777240" y="3611880"/>
            <a:ext cx="5303520" cy="822960"/>
          </a:xfrm>
          <a:prstGeom prst="rect">
            <a:avLst/>
          </a:prstGeom>
          <a:noFill/>
          <a:ln/>
        </p:spPr>
        <p:txBody>
          <a:bodyPr wrap="square" lIns="0" tIns="0" rIns="0" bIns="0" rtlCol="0" anchor="t"/>
          <a:lstStyle/>
          <a:p>
            <a:pPr marL="0" indent="0">
              <a:buNone/>
            </a:pPr>
            <a:r>
              <a:rPr lang="en-US" sz="1400" dirty="0">
                <a:solidFill>
                  <a:schemeClr val="tx1"/>
                </a:solidFill>
              </a:rPr>
              <a:t>Rows that match any rule form one group. The whole group goes to one split, about 80, 10 and 10 percent per medium. No row is shuffled on its own.</a:t>
            </a:r>
            <a:endParaRPr lang="en-US" sz="1400" dirty="0"/>
          </a:p>
        </p:txBody>
      </p:sp>
      <p:sp>
        <p:nvSpPr>
          <p:cNvPr id="17" name="Split tile 1"/>
          <p:cNvSpPr/>
          <p:nvPr/>
        </p:nvSpPr>
        <p:spPr>
          <a:xfrm>
            <a:off x="6537960" y="1783080"/>
            <a:ext cx="1554480" cy="1234440"/>
          </a:xfrm>
          <a:prstGeom prst="roundRect">
            <a:avLst>
              <a:gd name="adj" fmla="val 8889"/>
            </a:avLst>
          </a:prstGeom>
          <a:solidFill>
            <a:schemeClr val="bg2"/>
          </a:solidFill>
          <a:ln w="12700">
            <a:solidFill>
              <a:schemeClr val="bg2"/>
            </a:solidFill>
            <a:prstDash val="solid"/>
          </a:ln>
        </p:spPr>
        <p:txBody>
          <a:bodyPr/>
          <a:lstStyle/>
          <a:p>
            <a:endParaRPr lang="en-US"/>
          </a:p>
        </p:txBody>
      </p:sp>
      <p:sp>
        <p:nvSpPr>
          <p:cNvPr id="18" name="Split 1 number"/>
          <p:cNvSpPr txBox="1"/>
          <p:nvPr/>
        </p:nvSpPr>
        <p:spPr>
          <a:xfrm>
            <a:off x="6675120" y="1874520"/>
            <a:ext cx="1280160" cy="5486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21,377</a:t>
            </a:r>
            <a:endParaRPr lang="en-US" sz="2800" dirty="0"/>
          </a:p>
        </p:txBody>
      </p:sp>
      <p:sp>
        <p:nvSpPr>
          <p:cNvPr id="19" name="Split 1 label"/>
          <p:cNvSpPr txBox="1"/>
          <p:nvPr/>
        </p:nvSpPr>
        <p:spPr>
          <a:xfrm>
            <a:off x="6675120" y="2468880"/>
            <a:ext cx="1280160" cy="365760"/>
          </a:xfrm>
          <a:prstGeom prst="rect">
            <a:avLst/>
          </a:prstGeom>
          <a:noFill/>
          <a:ln/>
        </p:spPr>
        <p:txBody>
          <a:bodyPr wrap="square" lIns="0" tIns="0" rIns="0" bIns="0" rtlCol="0" anchor="t"/>
          <a:lstStyle/>
          <a:p>
            <a:pPr marL="0" indent="0">
              <a:buNone/>
            </a:pPr>
            <a:r>
              <a:rPr lang="en-US" sz="1400" dirty="0">
                <a:solidFill>
                  <a:schemeClr val="tx1"/>
                </a:solidFill>
              </a:rPr>
              <a:t>train rows</a:t>
            </a:r>
            <a:endParaRPr lang="en-US" sz="1400" dirty="0"/>
          </a:p>
        </p:txBody>
      </p:sp>
      <p:sp>
        <p:nvSpPr>
          <p:cNvPr id="20" name="Split tile 2"/>
          <p:cNvSpPr/>
          <p:nvPr/>
        </p:nvSpPr>
        <p:spPr>
          <a:xfrm>
            <a:off x="8311896" y="1783080"/>
            <a:ext cx="1554480" cy="1234440"/>
          </a:xfrm>
          <a:prstGeom prst="roundRect">
            <a:avLst>
              <a:gd name="adj" fmla="val 8889"/>
            </a:avLst>
          </a:prstGeom>
          <a:solidFill>
            <a:schemeClr val="bg2"/>
          </a:solidFill>
          <a:ln w="12700">
            <a:solidFill>
              <a:schemeClr val="bg2"/>
            </a:solidFill>
            <a:prstDash val="solid"/>
          </a:ln>
        </p:spPr>
        <p:txBody>
          <a:bodyPr/>
          <a:lstStyle/>
          <a:p>
            <a:endParaRPr lang="en-US"/>
          </a:p>
        </p:txBody>
      </p:sp>
      <p:sp>
        <p:nvSpPr>
          <p:cNvPr id="21" name="Split 2 number"/>
          <p:cNvSpPr txBox="1"/>
          <p:nvPr/>
        </p:nvSpPr>
        <p:spPr>
          <a:xfrm>
            <a:off x="8449056" y="1874520"/>
            <a:ext cx="1280160" cy="548640"/>
          </a:xfrm>
          <a:prstGeom prst="rect">
            <a:avLst/>
          </a:prstGeom>
          <a:noFill/>
          <a:ln/>
        </p:spPr>
        <p:txBody>
          <a:bodyPr wrap="square" lIns="0" tIns="0" rIns="0" bIns="0" rtlCol="0" anchor="ctr"/>
          <a:lstStyle/>
          <a:p>
            <a:pPr marL="0" indent="0">
              <a:buNone/>
            </a:pPr>
            <a:r>
              <a:rPr lang="en-US" sz="2800" b="1" dirty="0">
                <a:solidFill>
                  <a:schemeClr val="accent3"/>
                </a:solidFill>
                <a:latin typeface="Cambria" pitchFamily="34" charset="0"/>
                <a:ea typeface="Cambria" pitchFamily="34" charset="-122"/>
                <a:cs typeface="Cambria" pitchFamily="34" charset="-120"/>
              </a:rPr>
              <a:t>2,588</a:t>
            </a:r>
            <a:endParaRPr lang="en-US" sz="2800" dirty="0"/>
          </a:p>
        </p:txBody>
      </p:sp>
      <p:sp>
        <p:nvSpPr>
          <p:cNvPr id="22" name="Split 2 label"/>
          <p:cNvSpPr txBox="1"/>
          <p:nvPr/>
        </p:nvSpPr>
        <p:spPr>
          <a:xfrm>
            <a:off x="8449056" y="2468880"/>
            <a:ext cx="1280160" cy="365760"/>
          </a:xfrm>
          <a:prstGeom prst="rect">
            <a:avLst/>
          </a:prstGeom>
          <a:noFill/>
          <a:ln/>
        </p:spPr>
        <p:txBody>
          <a:bodyPr wrap="square" lIns="0" tIns="0" rIns="0" bIns="0" rtlCol="0" anchor="t"/>
          <a:lstStyle/>
          <a:p>
            <a:pPr marL="0" indent="0">
              <a:buNone/>
            </a:pPr>
            <a:r>
              <a:rPr lang="en-US" sz="1400" dirty="0">
                <a:solidFill>
                  <a:schemeClr val="tx1"/>
                </a:solidFill>
              </a:rPr>
              <a:t>validation rows</a:t>
            </a:r>
            <a:endParaRPr lang="en-US" sz="1400" dirty="0"/>
          </a:p>
        </p:txBody>
      </p:sp>
      <p:sp>
        <p:nvSpPr>
          <p:cNvPr id="23" name="Split tile 3"/>
          <p:cNvSpPr/>
          <p:nvPr/>
        </p:nvSpPr>
        <p:spPr>
          <a:xfrm>
            <a:off x="10085832" y="1783080"/>
            <a:ext cx="1554480" cy="1234440"/>
          </a:xfrm>
          <a:prstGeom prst="roundRect">
            <a:avLst>
              <a:gd name="adj" fmla="val 8889"/>
            </a:avLst>
          </a:prstGeom>
          <a:solidFill>
            <a:schemeClr val="bg2"/>
          </a:solidFill>
          <a:ln w="12700">
            <a:solidFill>
              <a:schemeClr val="bg2"/>
            </a:solidFill>
            <a:prstDash val="solid"/>
          </a:ln>
        </p:spPr>
        <p:txBody>
          <a:bodyPr/>
          <a:lstStyle/>
          <a:p>
            <a:endParaRPr lang="en-US"/>
          </a:p>
        </p:txBody>
      </p:sp>
      <p:sp>
        <p:nvSpPr>
          <p:cNvPr id="24" name="Split 3 number"/>
          <p:cNvSpPr txBox="1"/>
          <p:nvPr/>
        </p:nvSpPr>
        <p:spPr>
          <a:xfrm>
            <a:off x="10222992" y="1874520"/>
            <a:ext cx="1280160" cy="548640"/>
          </a:xfrm>
          <a:prstGeom prst="rect">
            <a:avLst/>
          </a:prstGeom>
          <a:noFill/>
          <a:ln/>
        </p:spPr>
        <p:txBody>
          <a:bodyPr wrap="square" lIns="0" tIns="0" rIns="0" bIns="0" rtlCol="0" anchor="ctr"/>
          <a:lstStyle/>
          <a:p>
            <a:pPr marL="0" indent="0">
              <a:buNone/>
            </a:pPr>
            <a:r>
              <a:rPr lang="en-US" sz="2800" b="1" dirty="0">
                <a:solidFill>
                  <a:schemeClr val="accent4"/>
                </a:solidFill>
                <a:latin typeface="Cambria" pitchFamily="34" charset="0"/>
                <a:ea typeface="Cambria" pitchFamily="34" charset="-122"/>
                <a:cs typeface="Cambria" pitchFamily="34" charset="-120"/>
              </a:rPr>
              <a:t>2,580</a:t>
            </a:r>
            <a:endParaRPr lang="en-US" sz="2800" dirty="0"/>
          </a:p>
        </p:txBody>
      </p:sp>
      <p:sp>
        <p:nvSpPr>
          <p:cNvPr id="25" name="Split 3 label"/>
          <p:cNvSpPr txBox="1"/>
          <p:nvPr/>
        </p:nvSpPr>
        <p:spPr>
          <a:xfrm>
            <a:off x="10222992" y="2468880"/>
            <a:ext cx="1280160" cy="365760"/>
          </a:xfrm>
          <a:prstGeom prst="rect">
            <a:avLst/>
          </a:prstGeom>
          <a:noFill/>
          <a:ln/>
        </p:spPr>
        <p:txBody>
          <a:bodyPr wrap="square" lIns="0" tIns="0" rIns="0" bIns="0" rtlCol="0" anchor="t"/>
          <a:lstStyle/>
          <a:p>
            <a:pPr marL="0" indent="0">
              <a:buNone/>
            </a:pPr>
            <a:r>
              <a:rPr lang="en-US" sz="1400" dirty="0">
                <a:solidFill>
                  <a:schemeClr val="tx1"/>
                </a:solidFill>
              </a:rPr>
              <a:t>test rows</a:t>
            </a:r>
            <a:endParaRPr lang="en-US" sz="1400" dirty="0"/>
          </a:p>
        </p:txBody>
      </p:sp>
      <p:sp>
        <p:nvSpPr>
          <p:cNvPr id="26" name="Check card"/>
          <p:cNvSpPr/>
          <p:nvPr/>
        </p:nvSpPr>
        <p:spPr>
          <a:xfrm>
            <a:off x="6537960" y="3200400"/>
            <a:ext cx="5102352" cy="1325880"/>
          </a:xfrm>
          <a:prstGeom prst="roundRect">
            <a:avLst>
              <a:gd name="adj" fmla="val 8276"/>
            </a:avLst>
          </a:prstGeom>
          <a:solidFill>
            <a:schemeClr val="bg2"/>
          </a:solidFill>
          <a:ln w="12700">
            <a:solidFill>
              <a:schemeClr val="bg2"/>
            </a:solidFill>
            <a:prstDash val="solid"/>
          </a:ln>
        </p:spPr>
        <p:txBody>
          <a:bodyPr/>
          <a:lstStyle/>
          <a:p>
            <a:endParaRPr lang="en-US"/>
          </a:p>
        </p:txBody>
      </p:sp>
      <p:sp>
        <p:nvSpPr>
          <p:cNvPr id="27" name="Check title"/>
          <p:cNvSpPr txBox="1"/>
          <p:nvPr/>
        </p:nvSpPr>
        <p:spPr>
          <a:xfrm>
            <a:off x="6766560" y="3291840"/>
            <a:ext cx="4663440" cy="36576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Checked on the 31,328-row split</a:t>
            </a:r>
            <a:endParaRPr lang="en-US" sz="1500" dirty="0"/>
          </a:p>
        </p:txBody>
      </p:sp>
      <p:sp>
        <p:nvSpPr>
          <p:cNvPr id="28" name="Check text"/>
          <p:cNvSpPr txBox="1"/>
          <p:nvPr/>
        </p:nvSpPr>
        <p:spPr>
          <a:xfrm>
            <a:off x="6766560" y="3703320"/>
            <a:ext cx="4663440" cy="731520"/>
          </a:xfrm>
          <a:prstGeom prst="rect">
            <a:avLst/>
          </a:prstGeom>
          <a:noFill/>
          <a:ln/>
        </p:spPr>
        <p:txBody>
          <a:bodyPr wrap="square" lIns="0" tIns="0" rIns="0" bIns="0" rtlCol="0" anchor="t"/>
          <a:lstStyle/>
          <a:p>
            <a:pPr marL="0" indent="0">
              <a:buNone/>
            </a:pPr>
            <a:r>
              <a:rPr lang="en-US" sz="1400" dirty="0">
                <a:solidFill>
                  <a:schemeClr val="tx1"/>
                </a:solidFill>
              </a:rPr>
              <a:t>17,190 groups. 0 groups in two splits. 0 exact or near-duplicate pairs across splits.</a:t>
            </a:r>
            <a:endParaRPr lang="en-US" sz="1400" dirty="0"/>
          </a:p>
        </p:txBody>
      </p:sp>
      <p:sp>
        <p:nvSpPr>
          <p:cNvPr id="29" name="Leak card 1"/>
          <p:cNvSpPr/>
          <p:nvPr/>
        </p:nvSpPr>
        <p:spPr>
          <a:xfrm>
            <a:off x="548640" y="4709160"/>
            <a:ext cx="3575304" cy="1508760"/>
          </a:xfrm>
          <a:prstGeom prst="roundRect">
            <a:avLst>
              <a:gd name="adj" fmla="val 7273"/>
            </a:avLst>
          </a:prstGeom>
          <a:solidFill>
            <a:schemeClr val="bg2"/>
          </a:solidFill>
          <a:ln w="12700">
            <a:solidFill>
              <a:schemeClr val="bg2"/>
            </a:solidFill>
            <a:prstDash val="solid"/>
          </a:ln>
        </p:spPr>
        <p:txBody>
          <a:bodyPr/>
          <a:lstStyle/>
          <a:p>
            <a:endParaRPr lang="en-US"/>
          </a:p>
        </p:txBody>
      </p:sp>
      <p:sp>
        <p:nvSpPr>
          <p:cNvPr id="30" name="Leak 1 circle"/>
          <p:cNvSpPr/>
          <p:nvPr/>
        </p:nvSpPr>
        <p:spPr>
          <a:xfrm>
            <a:off x="731520" y="4846320"/>
            <a:ext cx="384048" cy="384048"/>
          </a:xfrm>
          <a:prstGeom prst="ellipse">
            <a:avLst/>
          </a:prstGeom>
          <a:solidFill>
            <a:schemeClr val="accent1"/>
          </a:solidFill>
          <a:ln w="12700">
            <a:solidFill>
              <a:schemeClr val="accent1"/>
            </a:solidFill>
            <a:prstDash val="solid"/>
          </a:ln>
        </p:spPr>
        <p:txBody>
          <a:bodyPr/>
          <a:lstStyle/>
          <a:p>
            <a:endParaRPr lang="en-US"/>
          </a:p>
        </p:txBody>
      </p:sp>
      <p:pic>
        <p:nvPicPr>
          <p:cNvPr id="31" name="Leak 1 icon" descr="Leak 1"/>
          <p:cNvPicPr>
            <a:picLocks noChangeAspect="1"/>
          </p:cNvPicPr>
          <p:nvPr/>
        </p:nvPicPr>
        <p:blipFill>
          <a:blip r:embed="rId3"/>
          <a:stretch>
            <a:fillRect/>
          </a:stretch>
        </p:blipFill>
        <p:spPr>
          <a:xfrm>
            <a:off x="827532" y="4942332"/>
            <a:ext cx="192024" cy="192024"/>
          </a:xfrm>
          <a:prstGeom prst="rect">
            <a:avLst/>
          </a:prstGeom>
        </p:spPr>
      </p:pic>
      <p:sp>
        <p:nvSpPr>
          <p:cNvPr id="32" name="Leak 1 title"/>
          <p:cNvSpPr txBox="1"/>
          <p:nvPr/>
        </p:nvSpPr>
        <p:spPr>
          <a:xfrm>
            <a:off x="1261872" y="4846320"/>
            <a:ext cx="2706624" cy="384048"/>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Test stays out</a:t>
            </a:r>
            <a:endParaRPr lang="en-US" sz="1500" dirty="0"/>
          </a:p>
        </p:txBody>
      </p:sp>
      <p:sp>
        <p:nvSpPr>
          <p:cNvPr id="33" name="Leak 1 text"/>
          <p:cNvSpPr txBox="1"/>
          <p:nvPr/>
        </p:nvSpPr>
        <p:spPr>
          <a:xfrm>
            <a:off x="731520" y="5321808"/>
            <a:ext cx="3209544" cy="868680"/>
          </a:xfrm>
          <a:prstGeom prst="rect">
            <a:avLst/>
          </a:prstGeom>
          <a:noFill/>
          <a:ln/>
        </p:spPr>
        <p:txBody>
          <a:bodyPr wrap="square" lIns="0" tIns="0" rIns="0" bIns="0" rtlCol="0" anchor="t"/>
          <a:lstStyle/>
          <a:p>
            <a:pPr marL="0" indent="0">
              <a:buNone/>
            </a:pPr>
            <a:r>
              <a:rPr lang="en-US" sz="1250" dirty="0">
                <a:solidFill>
                  <a:schemeClr val="tx1"/>
                </a:solidFill>
              </a:rPr>
              <a:t>Test rows are in neither the trainer nor the retrieval index. The 30 gold topics are a development set, not a sealed test.</a:t>
            </a:r>
            <a:endParaRPr lang="en-US" sz="1250" dirty="0"/>
          </a:p>
        </p:txBody>
      </p:sp>
      <p:sp>
        <p:nvSpPr>
          <p:cNvPr id="34" name="Leak card 2"/>
          <p:cNvSpPr/>
          <p:nvPr/>
        </p:nvSpPr>
        <p:spPr>
          <a:xfrm>
            <a:off x="4306824" y="4709160"/>
            <a:ext cx="3575304" cy="1508760"/>
          </a:xfrm>
          <a:prstGeom prst="roundRect">
            <a:avLst>
              <a:gd name="adj" fmla="val 7273"/>
            </a:avLst>
          </a:prstGeom>
          <a:solidFill>
            <a:schemeClr val="bg2"/>
          </a:solidFill>
          <a:ln w="12700">
            <a:solidFill>
              <a:schemeClr val="bg2"/>
            </a:solidFill>
            <a:prstDash val="solid"/>
          </a:ln>
        </p:spPr>
        <p:txBody>
          <a:bodyPr/>
          <a:lstStyle/>
          <a:p>
            <a:endParaRPr lang="en-US"/>
          </a:p>
        </p:txBody>
      </p:sp>
      <p:sp>
        <p:nvSpPr>
          <p:cNvPr id="35" name="Leak 2 circle"/>
          <p:cNvSpPr/>
          <p:nvPr/>
        </p:nvSpPr>
        <p:spPr>
          <a:xfrm>
            <a:off x="4489704" y="4846320"/>
            <a:ext cx="384048" cy="384048"/>
          </a:xfrm>
          <a:prstGeom prst="ellipse">
            <a:avLst/>
          </a:prstGeom>
          <a:solidFill>
            <a:schemeClr val="accent3"/>
          </a:solidFill>
          <a:ln w="12700">
            <a:solidFill>
              <a:schemeClr val="accent3"/>
            </a:solidFill>
            <a:prstDash val="solid"/>
          </a:ln>
        </p:spPr>
        <p:txBody>
          <a:bodyPr/>
          <a:lstStyle/>
          <a:p>
            <a:endParaRPr lang="en-US"/>
          </a:p>
        </p:txBody>
      </p:sp>
      <p:pic>
        <p:nvPicPr>
          <p:cNvPr id="36" name="Leak 2 icon" descr="Leak 2"/>
          <p:cNvPicPr>
            <a:picLocks noChangeAspect="1"/>
          </p:cNvPicPr>
          <p:nvPr/>
        </p:nvPicPr>
        <p:blipFill>
          <a:blip r:embed="rId4"/>
          <a:stretch>
            <a:fillRect/>
          </a:stretch>
        </p:blipFill>
        <p:spPr>
          <a:xfrm>
            <a:off x="4585716" y="4942332"/>
            <a:ext cx="192024" cy="192024"/>
          </a:xfrm>
          <a:prstGeom prst="rect">
            <a:avLst/>
          </a:prstGeom>
        </p:spPr>
      </p:pic>
      <p:sp>
        <p:nvSpPr>
          <p:cNvPr id="37" name="Leak 2 title"/>
          <p:cNvSpPr txBox="1"/>
          <p:nvPr/>
        </p:nvSpPr>
        <p:spPr>
          <a:xfrm>
            <a:off x="5020056" y="4846320"/>
            <a:ext cx="2706624" cy="384048"/>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Leak-safe index</a:t>
            </a:r>
            <a:endParaRPr lang="en-US" sz="1500" dirty="0"/>
          </a:p>
        </p:txBody>
      </p:sp>
      <p:sp>
        <p:nvSpPr>
          <p:cNvPr id="38" name="Leak 2 text"/>
          <p:cNvSpPr txBox="1"/>
          <p:nvPr/>
        </p:nvSpPr>
        <p:spPr>
          <a:xfrm>
            <a:off x="4489704" y="5321808"/>
            <a:ext cx="3209544" cy="868680"/>
          </a:xfrm>
          <a:prstGeom prst="rect">
            <a:avLst/>
          </a:prstGeom>
          <a:noFill/>
          <a:ln/>
        </p:spPr>
        <p:txBody>
          <a:bodyPr wrap="square" lIns="0" tIns="0" rIns="0" bIns="0" rtlCol="0" anchor="t"/>
          <a:lstStyle/>
          <a:p>
            <a:pPr marL="0" indent="0">
              <a:buNone/>
            </a:pPr>
            <a:r>
              <a:rPr lang="en-US" sz="1250" dirty="0">
                <a:solidFill>
                  <a:schemeClr val="tx1"/>
                </a:solidFill>
              </a:rPr>
              <a:t>lemkin_train_only holds 21,193 train documents: 21,377 minus 184 rows held out because of the gold topics.</a:t>
            </a:r>
            <a:endParaRPr lang="en-US" sz="1250" dirty="0"/>
          </a:p>
        </p:txBody>
      </p:sp>
      <p:sp>
        <p:nvSpPr>
          <p:cNvPr id="39" name="Leak card 3"/>
          <p:cNvSpPr/>
          <p:nvPr/>
        </p:nvSpPr>
        <p:spPr>
          <a:xfrm>
            <a:off x="8065008" y="4709160"/>
            <a:ext cx="3575304" cy="1508760"/>
          </a:xfrm>
          <a:prstGeom prst="roundRect">
            <a:avLst>
              <a:gd name="adj" fmla="val 7273"/>
            </a:avLst>
          </a:prstGeom>
          <a:solidFill>
            <a:schemeClr val="bg2"/>
          </a:solidFill>
          <a:ln w="12700">
            <a:solidFill>
              <a:schemeClr val="bg2"/>
            </a:solidFill>
            <a:prstDash val="solid"/>
          </a:ln>
        </p:spPr>
        <p:txBody>
          <a:bodyPr/>
          <a:lstStyle/>
          <a:p>
            <a:endParaRPr lang="en-US"/>
          </a:p>
        </p:txBody>
      </p:sp>
      <p:sp>
        <p:nvSpPr>
          <p:cNvPr id="40" name="Leak 3 circle"/>
          <p:cNvSpPr/>
          <p:nvPr/>
        </p:nvSpPr>
        <p:spPr>
          <a:xfrm>
            <a:off x="8247888" y="4846320"/>
            <a:ext cx="384048" cy="384048"/>
          </a:xfrm>
          <a:prstGeom prst="ellipse">
            <a:avLst/>
          </a:prstGeom>
          <a:solidFill>
            <a:schemeClr val="accent4"/>
          </a:solidFill>
          <a:ln w="12700">
            <a:solidFill>
              <a:schemeClr val="accent4"/>
            </a:solidFill>
            <a:prstDash val="solid"/>
          </a:ln>
        </p:spPr>
        <p:txBody>
          <a:bodyPr/>
          <a:lstStyle/>
          <a:p>
            <a:endParaRPr lang="en-US"/>
          </a:p>
        </p:txBody>
      </p:sp>
      <p:pic>
        <p:nvPicPr>
          <p:cNvPr id="41" name="Leak 3 icon" descr="Leak 3"/>
          <p:cNvPicPr>
            <a:picLocks noChangeAspect="1"/>
          </p:cNvPicPr>
          <p:nvPr/>
        </p:nvPicPr>
        <p:blipFill>
          <a:blip r:embed="rId5"/>
          <a:stretch>
            <a:fillRect/>
          </a:stretch>
        </p:blipFill>
        <p:spPr>
          <a:xfrm>
            <a:off x="8343900" y="4942332"/>
            <a:ext cx="192024" cy="192024"/>
          </a:xfrm>
          <a:prstGeom prst="rect">
            <a:avLst/>
          </a:prstGeom>
        </p:spPr>
      </p:pic>
      <p:sp>
        <p:nvSpPr>
          <p:cNvPr id="42" name="Leak 3 title"/>
          <p:cNvSpPr txBox="1"/>
          <p:nvPr/>
        </p:nvSpPr>
        <p:spPr>
          <a:xfrm>
            <a:off x="8778240" y="4846320"/>
            <a:ext cx="2706624" cy="384048"/>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Two indexes, two jobs</a:t>
            </a:r>
            <a:endParaRPr lang="en-US" sz="1500" dirty="0"/>
          </a:p>
        </p:txBody>
      </p:sp>
      <p:sp>
        <p:nvSpPr>
          <p:cNvPr id="43" name="Leak 3 text"/>
          <p:cNvSpPr txBox="1"/>
          <p:nvPr/>
        </p:nvSpPr>
        <p:spPr>
          <a:xfrm>
            <a:off x="8247888" y="5321808"/>
            <a:ext cx="3209544" cy="868680"/>
          </a:xfrm>
          <a:prstGeom prst="rect">
            <a:avLst/>
          </a:prstGeom>
          <a:noFill/>
          <a:ln/>
        </p:spPr>
        <p:txBody>
          <a:bodyPr wrap="square" lIns="0" tIns="0" rIns="0" bIns="0" rtlCol="0" anchor="t"/>
          <a:lstStyle/>
          <a:p>
            <a:pPr marL="0" indent="0">
              <a:buNone/>
            </a:pPr>
            <a:r>
              <a:rPr lang="en-US" sz="1250" dirty="0">
                <a:solidFill>
                  <a:schemeClr val="tx1"/>
                </a:solidFill>
              </a:rPr>
              <a:t>The live PersonaRAG demo reads the full lemkin_content index. Model E reads the train-only one.</a:t>
            </a:r>
            <a:endParaRPr lang="en-US" sz="1250" dirty="0"/>
          </a:p>
        </p:txBody>
      </p:sp>
      <p:sp>
        <p:nvSpPr>
          <p:cNvPr id="44"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778240" cy="731520"/>
          </a:xfrm>
          <a:prstGeom prst="rect">
            <a:avLst/>
          </a:prstGeom>
          <a:noFill/>
          <a:ln/>
        </p:spPr>
        <p:txBody>
          <a:bodyPr wrap="square" lIns="0" tIns="0" rIns="0" bIns="0" rtlCol="0" anchor="ctr"/>
          <a:lstStyle/>
          <a:p>
            <a:pPr marL="0" indent="0" algn="l">
              <a:buNone/>
            </a:pPr>
            <a:r>
              <a:rPr lang="en-US" sz="3200" b="1" dirty="0">
                <a:solidFill>
                  <a:schemeClr val="tx2"/>
                </a:solidFill>
              </a:rPr>
              <a:t>What the corpus looks like</a:t>
            </a:r>
            <a:endParaRPr lang="en-US" sz="3200" dirty="0"/>
          </a:p>
        </p:txBody>
      </p:sp>
      <p:sp>
        <p:nvSpPr>
          <p:cNvPr id="3" name="Text 0"/>
          <p:cNvSpPr>
            <a:spLocks noGrp="1"/>
          </p:cNvSpPr>
          <p:nvPr>
            <p:ph type="body" idx="101" hasCustomPrompt="1"/>
          </p:nvPr>
        </p:nvSpPr>
        <p:spPr>
          <a:xfrm>
            <a:off x="548640" y="1051560"/>
            <a:ext cx="11091672" cy="457200"/>
          </a:xfrm>
          <a:prstGeom prst="rect">
            <a:avLst/>
          </a:prstGeom>
          <a:noFill/>
          <a:ln/>
        </p:spPr>
        <p:txBody>
          <a:bodyPr wrap="square" lIns="0" tIns="0" rIns="0" bIns="0" rtlCol="0" anchor="t"/>
          <a:lstStyle/>
          <a:p>
            <a:pPr marL="0" indent="0" algn="l">
              <a:buNone/>
            </a:pPr>
            <a:r>
              <a:rPr lang="en-US" sz="1800" dirty="0">
                <a:solidFill>
                  <a:schemeClr val="accent5"/>
                </a:solidFill>
              </a:rPr>
              <a:t>Half of the 21,193 indexed documents are short fragments, so evidence needs care</a:t>
            </a:r>
            <a:endParaRPr lang="en-US" sz="1800" dirty="0"/>
          </a:p>
        </p:txBody>
      </p:sp>
      <p:sp>
        <p:nvSpPr>
          <p:cNvPr id="4" name="Section chip"/>
          <p:cNvSpPr/>
          <p:nvPr/>
        </p:nvSpPr>
        <p:spPr>
          <a:xfrm>
            <a:off x="9445752" y="475488"/>
            <a:ext cx="219456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5" name="Section chip text"/>
          <p:cNvSpPr txBox="1"/>
          <p:nvPr/>
        </p:nvSpPr>
        <p:spPr>
          <a:xfrm>
            <a:off x="9445752" y="475488"/>
            <a:ext cx="2194560" cy="329184"/>
          </a:xfrm>
          <a:prstGeom prst="rect">
            <a:avLst/>
          </a:prstGeom>
          <a:noFill/>
          <a:ln/>
        </p:spPr>
        <p:txBody>
          <a:bodyPr wrap="square" lIns="0" tIns="0" rIns="0" bIns="0" rtlCol="0" anchor="ctr"/>
          <a:lstStyle/>
          <a:p>
            <a:pPr marL="0" indent="0" algn="ctr">
              <a:buNone/>
            </a:pPr>
            <a:r>
              <a:rPr lang="en-US" sz="1200" b="1" dirty="0">
                <a:solidFill>
                  <a:schemeClr val="bg1"/>
                </a:solidFill>
              </a:rPr>
              <a:t>Data analytics</a:t>
            </a:r>
            <a:endParaRPr lang="en-US" sz="1200" dirty="0"/>
          </a:p>
        </p:txBody>
      </p:sp>
      <p:sp>
        <p:nvSpPr>
          <p:cNvPr id="6" name="Property chart card"/>
          <p:cNvSpPr/>
          <p:nvPr/>
        </p:nvSpPr>
        <p:spPr>
          <a:xfrm>
            <a:off x="548640" y="1783080"/>
            <a:ext cx="6766560" cy="4389120"/>
          </a:xfrm>
          <a:prstGeom prst="roundRect">
            <a:avLst>
              <a:gd name="adj" fmla="val 2500"/>
            </a:avLst>
          </a:prstGeom>
          <a:solidFill>
            <a:schemeClr val="bg2"/>
          </a:solidFill>
          <a:ln w="12700">
            <a:solidFill>
              <a:schemeClr val="bg2"/>
            </a:solidFill>
            <a:prstDash val="solid"/>
          </a:ln>
        </p:spPr>
        <p:txBody>
          <a:bodyPr/>
          <a:lstStyle/>
          <a:p>
            <a:endParaRPr lang="en-US"/>
          </a:p>
        </p:txBody>
      </p:sp>
      <p:graphicFrame>
        <p:nvGraphicFramePr>
          <p:cNvPr id="7" name="Chart 0"/>
          <p:cNvGraphicFramePr/>
          <p:nvPr/>
        </p:nvGraphicFramePr>
        <p:xfrm>
          <a:off x="685800" y="1874520"/>
          <a:ext cx="64922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8" name="Median length"/>
          <p:cNvSpPr/>
          <p:nvPr/>
        </p:nvSpPr>
        <p:spPr>
          <a:xfrm>
            <a:off x="7498080" y="1783080"/>
            <a:ext cx="4142232" cy="1325880"/>
          </a:xfrm>
          <a:prstGeom prst="roundRect">
            <a:avLst>
              <a:gd name="adj" fmla="val 8276"/>
            </a:avLst>
          </a:prstGeom>
          <a:solidFill>
            <a:schemeClr val="bg2"/>
          </a:solidFill>
          <a:ln w="12700">
            <a:solidFill>
              <a:schemeClr val="bg2"/>
            </a:solidFill>
            <a:prstDash val="solid"/>
          </a:ln>
        </p:spPr>
        <p:txBody>
          <a:bodyPr/>
          <a:lstStyle/>
          <a:p>
            <a:endParaRPr lang="en-US"/>
          </a:p>
        </p:txBody>
      </p:sp>
      <p:sp>
        <p:nvSpPr>
          <p:cNvPr id="9" name="Median length number"/>
          <p:cNvSpPr txBox="1"/>
          <p:nvPr/>
        </p:nvSpPr>
        <p:spPr>
          <a:xfrm>
            <a:off x="7680960" y="1874520"/>
            <a:ext cx="1600200" cy="1143000"/>
          </a:xfrm>
          <a:prstGeom prst="rect">
            <a:avLst/>
          </a:prstGeom>
          <a:noFill/>
          <a:ln/>
        </p:spPr>
        <p:txBody>
          <a:bodyPr wrap="square" lIns="0" tIns="0" rIns="0" bIns="0" rtlCol="0" anchor="ctr"/>
          <a:lstStyle/>
          <a:p>
            <a:pPr marL="0" indent="0">
              <a:buNone/>
            </a:pPr>
            <a:r>
              <a:rPr lang="en-US" sz="2400" b="1" dirty="0">
                <a:solidFill>
                  <a:schemeClr val="accent2"/>
                </a:solidFill>
                <a:latin typeface="Cambria" pitchFamily="34" charset="0"/>
                <a:ea typeface="Cambria" pitchFamily="34" charset="-122"/>
                <a:cs typeface="Cambria" pitchFamily="34" charset="-120"/>
              </a:rPr>
              <a:t>41 words</a:t>
            </a:r>
            <a:endParaRPr lang="en-US" sz="2400" dirty="0"/>
          </a:p>
        </p:txBody>
      </p:sp>
      <p:sp>
        <p:nvSpPr>
          <p:cNvPr id="10" name="Median length label"/>
          <p:cNvSpPr txBox="1"/>
          <p:nvPr/>
        </p:nvSpPr>
        <p:spPr>
          <a:xfrm>
            <a:off x="9372600" y="1874520"/>
            <a:ext cx="2084832" cy="1143000"/>
          </a:xfrm>
          <a:prstGeom prst="rect">
            <a:avLst/>
          </a:prstGeom>
          <a:noFill/>
          <a:ln/>
        </p:spPr>
        <p:txBody>
          <a:bodyPr wrap="square" lIns="0" tIns="0" rIns="0" bIns="0" rtlCol="0" anchor="ctr"/>
          <a:lstStyle/>
          <a:p>
            <a:pPr marL="0" indent="0">
              <a:buNone/>
            </a:pPr>
            <a:r>
              <a:rPr lang="en-US" sz="1300" dirty="0">
                <a:solidFill>
                  <a:schemeClr val="tx1"/>
                </a:solidFill>
              </a:rPr>
              <a:t>median document length. One in ten has 15 words or fewer, one in ten has 263 or more</a:t>
            </a:r>
            <a:endParaRPr lang="en-US" sz="1300" dirty="0"/>
          </a:p>
        </p:txBody>
      </p:sp>
      <p:sp>
        <p:nvSpPr>
          <p:cNvPr id="11" name="Mix card"/>
          <p:cNvSpPr/>
          <p:nvPr/>
        </p:nvSpPr>
        <p:spPr>
          <a:xfrm>
            <a:off x="7498080" y="3291840"/>
            <a:ext cx="4142232" cy="2880360"/>
          </a:xfrm>
          <a:prstGeom prst="roundRect">
            <a:avLst>
              <a:gd name="adj" fmla="val 3810"/>
            </a:avLst>
          </a:prstGeom>
          <a:solidFill>
            <a:schemeClr val="bg2"/>
          </a:solidFill>
          <a:ln w="12700">
            <a:solidFill>
              <a:schemeClr val="bg2"/>
            </a:solidFill>
            <a:prstDash val="solid"/>
          </a:ln>
        </p:spPr>
        <p:txBody>
          <a:bodyPr/>
          <a:lstStyle/>
          <a:p>
            <a:endParaRPr lang="en-US"/>
          </a:p>
        </p:txBody>
      </p:sp>
      <p:sp>
        <p:nvSpPr>
          <p:cNvPr id="12" name="Mix title"/>
          <p:cNvSpPr txBox="1"/>
          <p:nvPr/>
        </p:nvSpPr>
        <p:spPr>
          <a:xfrm>
            <a:off x="7726680" y="3401568"/>
            <a:ext cx="3657600" cy="365760"/>
          </a:xfrm>
          <a:prstGeom prst="rect">
            <a:avLst/>
          </a:prstGeom>
          <a:noFill/>
          <a:ln/>
        </p:spPr>
        <p:txBody>
          <a:bodyPr wrap="square" lIns="0" tIns="0" rIns="0" bIns="0" rtlCol="0" anchor="t"/>
          <a:lstStyle/>
          <a:p>
            <a:pPr marL="0" indent="0">
              <a:buNone/>
            </a:pPr>
            <a:r>
              <a:rPr lang="en-US" sz="1600" b="1" dirty="0">
                <a:solidFill>
                  <a:schemeClr val="tx2"/>
                </a:solidFill>
                <a:latin typeface="Cambria" pitchFamily="34" charset="0"/>
                <a:ea typeface="Cambria" pitchFamily="34" charset="-122"/>
                <a:cs typeface="Cambria" pitchFamily="34" charset="-120"/>
              </a:rPr>
              <a:t>Index by medium</a:t>
            </a:r>
            <a:endParaRPr lang="en-US" sz="1600" dirty="0"/>
          </a:p>
        </p:txBody>
      </p:sp>
      <p:sp>
        <p:nvSpPr>
          <p:cNvPr id="13" name="Mix bar X"/>
          <p:cNvSpPr/>
          <p:nvPr/>
        </p:nvSpPr>
        <p:spPr>
          <a:xfrm>
            <a:off x="7726680" y="3840480"/>
            <a:ext cx="1945697" cy="292608"/>
          </a:xfrm>
          <a:prstGeom prst="rect">
            <a:avLst/>
          </a:prstGeom>
          <a:solidFill>
            <a:srgbClr val="2F6DB5"/>
          </a:solidFill>
          <a:ln w="12700">
            <a:solidFill>
              <a:srgbClr val="2F6DB5"/>
            </a:solidFill>
            <a:prstDash val="solid"/>
          </a:ln>
        </p:spPr>
        <p:txBody>
          <a:bodyPr/>
          <a:lstStyle/>
          <a:p>
            <a:endParaRPr lang="en-US"/>
          </a:p>
        </p:txBody>
      </p:sp>
      <p:sp>
        <p:nvSpPr>
          <p:cNvPr id="14" name="Mix bar Blog"/>
          <p:cNvSpPr/>
          <p:nvPr/>
        </p:nvSpPr>
        <p:spPr>
          <a:xfrm>
            <a:off x="9672377" y="3840480"/>
            <a:ext cx="1610359" cy="292608"/>
          </a:xfrm>
          <a:prstGeom prst="rect">
            <a:avLst/>
          </a:prstGeom>
          <a:solidFill>
            <a:srgbClr val="2A9D8F"/>
          </a:solidFill>
          <a:ln w="12700">
            <a:solidFill>
              <a:srgbClr val="2A9D8F"/>
            </a:solidFill>
            <a:prstDash val="solid"/>
          </a:ln>
        </p:spPr>
        <p:txBody>
          <a:bodyPr/>
          <a:lstStyle/>
          <a:p>
            <a:endParaRPr lang="en-US"/>
          </a:p>
        </p:txBody>
      </p:sp>
      <p:sp>
        <p:nvSpPr>
          <p:cNvPr id="15" name="Mix bar LinkedIn"/>
          <p:cNvSpPr/>
          <p:nvPr/>
        </p:nvSpPr>
        <p:spPr>
          <a:xfrm>
            <a:off x="11282736" y="3840480"/>
            <a:ext cx="125291" cy="292608"/>
          </a:xfrm>
          <a:prstGeom prst="rect">
            <a:avLst/>
          </a:prstGeom>
          <a:solidFill>
            <a:srgbClr val="D9822B"/>
          </a:solidFill>
          <a:ln w="12700">
            <a:solidFill>
              <a:srgbClr val="D9822B"/>
            </a:solidFill>
            <a:prstDash val="solid"/>
          </a:ln>
        </p:spPr>
        <p:txBody>
          <a:bodyPr/>
          <a:lstStyle/>
          <a:p>
            <a:endParaRPr lang="en-US"/>
          </a:p>
        </p:txBody>
      </p:sp>
      <p:sp>
        <p:nvSpPr>
          <p:cNvPr id="16" name="Mix bar YouTube"/>
          <p:cNvSpPr/>
          <p:nvPr/>
        </p:nvSpPr>
        <p:spPr>
          <a:xfrm>
            <a:off x="11408027" y="3840480"/>
            <a:ext cx="36576" cy="292608"/>
          </a:xfrm>
          <a:prstGeom prst="rect">
            <a:avLst/>
          </a:prstGeom>
          <a:solidFill>
            <a:srgbClr val="6B7280"/>
          </a:solidFill>
          <a:ln w="12700">
            <a:solidFill>
              <a:srgbClr val="6B7280"/>
            </a:solidFill>
            <a:prstDash val="solid"/>
          </a:ln>
        </p:spPr>
        <p:txBody>
          <a:bodyPr/>
          <a:lstStyle/>
          <a:p>
            <a:endParaRPr lang="en-US"/>
          </a:p>
        </p:txBody>
      </p:sp>
      <p:sp>
        <p:nvSpPr>
          <p:cNvPr id="17" name="Mix dot X"/>
          <p:cNvSpPr/>
          <p:nvPr/>
        </p:nvSpPr>
        <p:spPr>
          <a:xfrm>
            <a:off x="7726680" y="4379976"/>
            <a:ext cx="164592" cy="164592"/>
          </a:xfrm>
          <a:prstGeom prst="ellipse">
            <a:avLst/>
          </a:prstGeom>
          <a:solidFill>
            <a:srgbClr val="2F6DB5"/>
          </a:solidFill>
          <a:ln w="12700">
            <a:solidFill>
              <a:srgbClr val="2F6DB5"/>
            </a:solidFill>
            <a:prstDash val="solid"/>
          </a:ln>
        </p:spPr>
        <p:txBody>
          <a:bodyPr/>
          <a:lstStyle/>
          <a:p>
            <a:endParaRPr lang="en-US"/>
          </a:p>
        </p:txBody>
      </p:sp>
      <p:sp>
        <p:nvSpPr>
          <p:cNvPr id="18" name="Mix name X"/>
          <p:cNvSpPr txBox="1"/>
          <p:nvPr/>
        </p:nvSpPr>
        <p:spPr>
          <a:xfrm>
            <a:off x="8001000" y="4315968"/>
            <a:ext cx="1188720" cy="292608"/>
          </a:xfrm>
          <a:prstGeom prst="rect">
            <a:avLst/>
          </a:prstGeom>
          <a:noFill/>
          <a:ln/>
        </p:spPr>
        <p:txBody>
          <a:bodyPr wrap="square" lIns="0" tIns="0" rIns="0" bIns="0" rtlCol="0" anchor="ctr"/>
          <a:lstStyle/>
          <a:p>
            <a:pPr marL="0" indent="0">
              <a:buNone/>
            </a:pPr>
            <a:r>
              <a:rPr lang="en-US" sz="1400" dirty="0">
                <a:solidFill>
                  <a:schemeClr val="tx1"/>
                </a:solidFill>
              </a:rPr>
              <a:t>X</a:t>
            </a:r>
            <a:endParaRPr lang="en-US" sz="1400" dirty="0"/>
          </a:p>
        </p:txBody>
      </p:sp>
      <p:sp>
        <p:nvSpPr>
          <p:cNvPr id="19" name="Mix count X"/>
          <p:cNvSpPr txBox="1"/>
          <p:nvPr/>
        </p:nvSpPr>
        <p:spPr>
          <a:xfrm>
            <a:off x="9144000" y="4315968"/>
            <a:ext cx="1463040" cy="292608"/>
          </a:xfrm>
          <a:prstGeom prst="rect">
            <a:avLst/>
          </a:prstGeom>
          <a:noFill/>
          <a:ln/>
        </p:spPr>
        <p:txBody>
          <a:bodyPr wrap="square" lIns="0" tIns="0" rIns="0" bIns="0" rtlCol="0" anchor="ctr"/>
          <a:lstStyle/>
          <a:p>
            <a:pPr marL="0" indent="0">
              <a:buNone/>
            </a:pPr>
            <a:r>
              <a:rPr lang="en-US" sz="1400" dirty="0">
                <a:solidFill>
                  <a:schemeClr val="tx1"/>
                </a:solidFill>
              </a:rPr>
              <a:t>11,185 documents</a:t>
            </a:r>
            <a:endParaRPr lang="en-US" sz="1400" dirty="0"/>
          </a:p>
        </p:txBody>
      </p:sp>
      <p:sp>
        <p:nvSpPr>
          <p:cNvPr id="20" name="Mix share X"/>
          <p:cNvSpPr txBox="1"/>
          <p:nvPr/>
        </p:nvSpPr>
        <p:spPr>
          <a:xfrm>
            <a:off x="10698480" y="4315968"/>
            <a:ext cx="777240" cy="292608"/>
          </a:xfrm>
          <a:prstGeom prst="rect">
            <a:avLst/>
          </a:prstGeom>
          <a:noFill/>
          <a:ln/>
        </p:spPr>
        <p:txBody>
          <a:bodyPr wrap="square" lIns="0" tIns="0" rIns="0" bIns="0" rtlCol="0" anchor="ctr"/>
          <a:lstStyle/>
          <a:p>
            <a:pPr marL="0" indent="0" algn="r">
              <a:buNone/>
            </a:pPr>
            <a:r>
              <a:rPr lang="en-US" sz="1400" b="1" dirty="0">
                <a:solidFill>
                  <a:schemeClr val="tx1"/>
                </a:solidFill>
              </a:rPr>
              <a:t>52.8%</a:t>
            </a:r>
            <a:endParaRPr lang="en-US" sz="1400" dirty="0"/>
          </a:p>
        </p:txBody>
      </p:sp>
      <p:sp>
        <p:nvSpPr>
          <p:cNvPr id="21" name="Mix dot Blog"/>
          <p:cNvSpPr/>
          <p:nvPr/>
        </p:nvSpPr>
        <p:spPr>
          <a:xfrm>
            <a:off x="7726680" y="4837176"/>
            <a:ext cx="164592" cy="164592"/>
          </a:xfrm>
          <a:prstGeom prst="ellipse">
            <a:avLst/>
          </a:prstGeom>
          <a:solidFill>
            <a:srgbClr val="2A9D8F"/>
          </a:solidFill>
          <a:ln w="12700">
            <a:solidFill>
              <a:srgbClr val="2A9D8F"/>
            </a:solidFill>
            <a:prstDash val="solid"/>
          </a:ln>
        </p:spPr>
        <p:txBody>
          <a:bodyPr/>
          <a:lstStyle/>
          <a:p>
            <a:endParaRPr lang="en-US"/>
          </a:p>
        </p:txBody>
      </p:sp>
      <p:sp>
        <p:nvSpPr>
          <p:cNvPr id="22" name="Mix name Blog"/>
          <p:cNvSpPr txBox="1"/>
          <p:nvPr/>
        </p:nvSpPr>
        <p:spPr>
          <a:xfrm>
            <a:off x="8001000" y="4773168"/>
            <a:ext cx="1188720" cy="292608"/>
          </a:xfrm>
          <a:prstGeom prst="rect">
            <a:avLst/>
          </a:prstGeom>
          <a:noFill/>
          <a:ln/>
        </p:spPr>
        <p:txBody>
          <a:bodyPr wrap="square" lIns="0" tIns="0" rIns="0" bIns="0" rtlCol="0" anchor="ctr"/>
          <a:lstStyle/>
          <a:p>
            <a:pPr marL="0" indent="0">
              <a:buNone/>
            </a:pPr>
            <a:r>
              <a:rPr lang="en-US" sz="1400" dirty="0">
                <a:solidFill>
                  <a:schemeClr val="tx1"/>
                </a:solidFill>
              </a:rPr>
              <a:t>Blog</a:t>
            </a:r>
            <a:endParaRPr lang="en-US" sz="1400" dirty="0"/>
          </a:p>
        </p:txBody>
      </p:sp>
      <p:sp>
        <p:nvSpPr>
          <p:cNvPr id="23" name="Mix count Blog"/>
          <p:cNvSpPr txBox="1"/>
          <p:nvPr/>
        </p:nvSpPr>
        <p:spPr>
          <a:xfrm>
            <a:off x="9144000" y="4773168"/>
            <a:ext cx="1463040" cy="292608"/>
          </a:xfrm>
          <a:prstGeom prst="rect">
            <a:avLst/>
          </a:prstGeom>
          <a:noFill/>
          <a:ln/>
        </p:spPr>
        <p:txBody>
          <a:bodyPr wrap="square" lIns="0" tIns="0" rIns="0" bIns="0" rtlCol="0" anchor="ctr"/>
          <a:lstStyle/>
          <a:p>
            <a:pPr marL="0" indent="0">
              <a:buNone/>
            </a:pPr>
            <a:r>
              <a:rPr lang="en-US" sz="1400" dirty="0">
                <a:solidFill>
                  <a:schemeClr val="tx1"/>
                </a:solidFill>
              </a:rPr>
              <a:t>9,255 documents</a:t>
            </a:r>
            <a:endParaRPr lang="en-US" sz="1400" dirty="0"/>
          </a:p>
        </p:txBody>
      </p:sp>
      <p:sp>
        <p:nvSpPr>
          <p:cNvPr id="24" name="Mix share Blog"/>
          <p:cNvSpPr txBox="1"/>
          <p:nvPr/>
        </p:nvSpPr>
        <p:spPr>
          <a:xfrm>
            <a:off x="10698480" y="4773168"/>
            <a:ext cx="777240" cy="292608"/>
          </a:xfrm>
          <a:prstGeom prst="rect">
            <a:avLst/>
          </a:prstGeom>
          <a:noFill/>
          <a:ln/>
        </p:spPr>
        <p:txBody>
          <a:bodyPr wrap="square" lIns="0" tIns="0" rIns="0" bIns="0" rtlCol="0" anchor="ctr"/>
          <a:lstStyle/>
          <a:p>
            <a:pPr marL="0" indent="0" algn="r">
              <a:buNone/>
            </a:pPr>
            <a:r>
              <a:rPr lang="en-US" sz="1400" b="1" dirty="0">
                <a:solidFill>
                  <a:schemeClr val="tx1"/>
                </a:solidFill>
              </a:rPr>
              <a:t>43.7%</a:t>
            </a:r>
            <a:endParaRPr lang="en-US" sz="1400" dirty="0"/>
          </a:p>
        </p:txBody>
      </p:sp>
      <p:sp>
        <p:nvSpPr>
          <p:cNvPr id="25" name="Mix dot LinkedIn"/>
          <p:cNvSpPr/>
          <p:nvPr/>
        </p:nvSpPr>
        <p:spPr>
          <a:xfrm>
            <a:off x="7726680" y="5294376"/>
            <a:ext cx="164592" cy="164592"/>
          </a:xfrm>
          <a:prstGeom prst="ellipse">
            <a:avLst/>
          </a:prstGeom>
          <a:solidFill>
            <a:srgbClr val="D9822B"/>
          </a:solidFill>
          <a:ln w="12700">
            <a:solidFill>
              <a:srgbClr val="D9822B"/>
            </a:solidFill>
            <a:prstDash val="solid"/>
          </a:ln>
        </p:spPr>
        <p:txBody>
          <a:bodyPr/>
          <a:lstStyle/>
          <a:p>
            <a:endParaRPr lang="en-US"/>
          </a:p>
        </p:txBody>
      </p:sp>
      <p:sp>
        <p:nvSpPr>
          <p:cNvPr id="26" name="Mix name LinkedIn"/>
          <p:cNvSpPr txBox="1"/>
          <p:nvPr/>
        </p:nvSpPr>
        <p:spPr>
          <a:xfrm>
            <a:off x="8001000" y="5230368"/>
            <a:ext cx="1188720" cy="292608"/>
          </a:xfrm>
          <a:prstGeom prst="rect">
            <a:avLst/>
          </a:prstGeom>
          <a:noFill/>
          <a:ln/>
        </p:spPr>
        <p:txBody>
          <a:bodyPr wrap="square" lIns="0" tIns="0" rIns="0" bIns="0" rtlCol="0" anchor="ctr"/>
          <a:lstStyle/>
          <a:p>
            <a:pPr marL="0" indent="0">
              <a:buNone/>
            </a:pPr>
            <a:r>
              <a:rPr lang="en-US" sz="1400" dirty="0">
                <a:solidFill>
                  <a:schemeClr val="tx1"/>
                </a:solidFill>
              </a:rPr>
              <a:t>LinkedIn</a:t>
            </a:r>
            <a:endParaRPr lang="en-US" sz="1400" dirty="0"/>
          </a:p>
        </p:txBody>
      </p:sp>
      <p:sp>
        <p:nvSpPr>
          <p:cNvPr id="27" name="Mix count LinkedIn"/>
          <p:cNvSpPr txBox="1"/>
          <p:nvPr/>
        </p:nvSpPr>
        <p:spPr>
          <a:xfrm>
            <a:off x="9144000" y="5230368"/>
            <a:ext cx="1463040" cy="292608"/>
          </a:xfrm>
          <a:prstGeom prst="rect">
            <a:avLst/>
          </a:prstGeom>
          <a:noFill/>
          <a:ln/>
        </p:spPr>
        <p:txBody>
          <a:bodyPr wrap="square" lIns="0" tIns="0" rIns="0" bIns="0" rtlCol="0" anchor="ctr"/>
          <a:lstStyle/>
          <a:p>
            <a:pPr marL="0" indent="0">
              <a:buNone/>
            </a:pPr>
            <a:r>
              <a:rPr lang="en-US" sz="1400" dirty="0">
                <a:solidFill>
                  <a:schemeClr val="tx1"/>
                </a:solidFill>
              </a:rPr>
              <a:t>713 documents</a:t>
            </a:r>
            <a:endParaRPr lang="en-US" sz="1400" dirty="0"/>
          </a:p>
        </p:txBody>
      </p:sp>
      <p:sp>
        <p:nvSpPr>
          <p:cNvPr id="28" name="Mix share LinkedIn"/>
          <p:cNvSpPr txBox="1"/>
          <p:nvPr/>
        </p:nvSpPr>
        <p:spPr>
          <a:xfrm>
            <a:off x="10698480" y="5230368"/>
            <a:ext cx="777240" cy="292608"/>
          </a:xfrm>
          <a:prstGeom prst="rect">
            <a:avLst/>
          </a:prstGeom>
          <a:noFill/>
          <a:ln/>
        </p:spPr>
        <p:txBody>
          <a:bodyPr wrap="square" lIns="0" tIns="0" rIns="0" bIns="0" rtlCol="0" anchor="ctr"/>
          <a:lstStyle/>
          <a:p>
            <a:pPr marL="0" indent="0" algn="r">
              <a:buNone/>
            </a:pPr>
            <a:r>
              <a:rPr lang="en-US" sz="1400" b="1" dirty="0">
                <a:solidFill>
                  <a:schemeClr val="tx1"/>
                </a:solidFill>
              </a:rPr>
              <a:t>3.4%</a:t>
            </a:r>
            <a:endParaRPr lang="en-US" sz="1400" dirty="0"/>
          </a:p>
        </p:txBody>
      </p:sp>
      <p:sp>
        <p:nvSpPr>
          <p:cNvPr id="29" name="Mix dot YouTube"/>
          <p:cNvSpPr/>
          <p:nvPr/>
        </p:nvSpPr>
        <p:spPr>
          <a:xfrm>
            <a:off x="7726680" y="5751576"/>
            <a:ext cx="164592" cy="164592"/>
          </a:xfrm>
          <a:prstGeom prst="ellipse">
            <a:avLst/>
          </a:prstGeom>
          <a:solidFill>
            <a:srgbClr val="6B7280"/>
          </a:solidFill>
          <a:ln w="12700">
            <a:solidFill>
              <a:srgbClr val="6B7280"/>
            </a:solidFill>
            <a:prstDash val="solid"/>
          </a:ln>
        </p:spPr>
        <p:txBody>
          <a:bodyPr/>
          <a:lstStyle/>
          <a:p>
            <a:endParaRPr lang="en-US"/>
          </a:p>
        </p:txBody>
      </p:sp>
      <p:sp>
        <p:nvSpPr>
          <p:cNvPr id="30" name="Mix name YouTube"/>
          <p:cNvSpPr txBox="1"/>
          <p:nvPr/>
        </p:nvSpPr>
        <p:spPr>
          <a:xfrm>
            <a:off x="8001000" y="5687568"/>
            <a:ext cx="1188720" cy="292608"/>
          </a:xfrm>
          <a:prstGeom prst="rect">
            <a:avLst/>
          </a:prstGeom>
          <a:noFill/>
          <a:ln/>
        </p:spPr>
        <p:txBody>
          <a:bodyPr wrap="square" lIns="0" tIns="0" rIns="0" bIns="0" rtlCol="0" anchor="ctr"/>
          <a:lstStyle/>
          <a:p>
            <a:pPr marL="0" indent="0">
              <a:buNone/>
            </a:pPr>
            <a:r>
              <a:rPr lang="en-US" sz="1400" dirty="0">
                <a:solidFill>
                  <a:schemeClr val="tx1"/>
                </a:solidFill>
              </a:rPr>
              <a:t>YouTube</a:t>
            </a:r>
            <a:endParaRPr lang="en-US" sz="1400" dirty="0"/>
          </a:p>
        </p:txBody>
      </p:sp>
      <p:sp>
        <p:nvSpPr>
          <p:cNvPr id="31" name="Mix count YouTube"/>
          <p:cNvSpPr txBox="1"/>
          <p:nvPr/>
        </p:nvSpPr>
        <p:spPr>
          <a:xfrm>
            <a:off x="9144000" y="5687568"/>
            <a:ext cx="1463040" cy="292608"/>
          </a:xfrm>
          <a:prstGeom prst="rect">
            <a:avLst/>
          </a:prstGeom>
          <a:noFill/>
          <a:ln/>
        </p:spPr>
        <p:txBody>
          <a:bodyPr wrap="square" lIns="0" tIns="0" rIns="0" bIns="0" rtlCol="0" anchor="ctr"/>
          <a:lstStyle/>
          <a:p>
            <a:pPr marL="0" indent="0">
              <a:buNone/>
            </a:pPr>
            <a:r>
              <a:rPr lang="en-US" sz="1400" dirty="0">
                <a:solidFill>
                  <a:schemeClr val="tx1"/>
                </a:solidFill>
              </a:rPr>
              <a:t>40 documents</a:t>
            </a:r>
            <a:endParaRPr lang="en-US" sz="1400" dirty="0"/>
          </a:p>
        </p:txBody>
      </p:sp>
      <p:sp>
        <p:nvSpPr>
          <p:cNvPr id="32" name="Mix share YouTube"/>
          <p:cNvSpPr txBox="1"/>
          <p:nvPr/>
        </p:nvSpPr>
        <p:spPr>
          <a:xfrm>
            <a:off x="10698480" y="5687568"/>
            <a:ext cx="777240" cy="292608"/>
          </a:xfrm>
          <a:prstGeom prst="rect">
            <a:avLst/>
          </a:prstGeom>
          <a:noFill/>
          <a:ln/>
        </p:spPr>
        <p:txBody>
          <a:bodyPr wrap="square" lIns="0" tIns="0" rIns="0" bIns="0" rtlCol="0" anchor="ctr"/>
          <a:lstStyle/>
          <a:p>
            <a:pPr marL="0" indent="0" algn="r">
              <a:buNone/>
            </a:pPr>
            <a:r>
              <a:rPr lang="en-US" sz="1400" b="1" dirty="0">
                <a:solidFill>
                  <a:schemeClr val="tx1"/>
                </a:solidFill>
              </a:rPr>
              <a:t>0.2%</a:t>
            </a:r>
            <a:endParaRPr lang="en-US" sz="1400" dirty="0"/>
          </a:p>
        </p:txBody>
      </p:sp>
      <p:sp>
        <p:nvSpPr>
          <p:cNvPr id="33"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778240" cy="731520"/>
          </a:xfrm>
          <a:prstGeom prst="rect">
            <a:avLst/>
          </a:prstGeom>
          <a:noFill/>
          <a:ln/>
        </p:spPr>
        <p:txBody>
          <a:bodyPr wrap="square" lIns="0" tIns="0" rIns="0" bIns="0" rtlCol="0" anchor="ctr"/>
          <a:lstStyle/>
          <a:p>
            <a:pPr marL="0" indent="0" algn="l">
              <a:buNone/>
            </a:pPr>
            <a:r>
              <a:rPr lang="en-US" sz="3200" b="1" dirty="0">
                <a:solidFill>
                  <a:schemeClr val="tx2"/>
                </a:solidFill>
              </a:rPr>
              <a:t>What retrieval returns</a:t>
            </a:r>
            <a:endParaRPr lang="en-US" sz="3200" dirty="0"/>
          </a:p>
        </p:txBody>
      </p:sp>
      <p:sp>
        <p:nvSpPr>
          <p:cNvPr id="3" name="Text 0"/>
          <p:cNvSpPr>
            <a:spLocks noGrp="1"/>
          </p:cNvSpPr>
          <p:nvPr>
            <p:ph type="body" idx="101" hasCustomPrompt="1"/>
          </p:nvPr>
        </p:nvSpPr>
        <p:spPr>
          <a:xfrm>
            <a:off x="548640" y="1051560"/>
            <a:ext cx="11091672" cy="457200"/>
          </a:xfrm>
          <a:prstGeom prst="rect">
            <a:avLst/>
          </a:prstGeom>
          <a:noFill/>
          <a:ln/>
        </p:spPr>
        <p:txBody>
          <a:bodyPr wrap="square" lIns="0" tIns="0" rIns="0" bIns="0" rtlCol="0" anchor="t"/>
          <a:lstStyle/>
          <a:p>
            <a:pPr marL="0" indent="0" algn="l">
              <a:buNone/>
            </a:pPr>
            <a:r>
              <a:rPr lang="en-US" sz="1800" dirty="0">
                <a:solidFill>
                  <a:schemeClr val="accent5"/>
                </a:solidFill>
              </a:rPr>
              <a:t>The top 4 hits lean to blog even though X is most of the index</a:t>
            </a:r>
            <a:endParaRPr lang="en-US" sz="1800" dirty="0"/>
          </a:p>
        </p:txBody>
      </p:sp>
      <p:sp>
        <p:nvSpPr>
          <p:cNvPr id="4" name="Section chip"/>
          <p:cNvSpPr/>
          <p:nvPr/>
        </p:nvSpPr>
        <p:spPr>
          <a:xfrm>
            <a:off x="9445752" y="475488"/>
            <a:ext cx="219456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5" name="Section chip text"/>
          <p:cNvSpPr txBox="1"/>
          <p:nvPr/>
        </p:nvSpPr>
        <p:spPr>
          <a:xfrm>
            <a:off x="9445752" y="475488"/>
            <a:ext cx="2194560" cy="329184"/>
          </a:xfrm>
          <a:prstGeom prst="rect">
            <a:avLst/>
          </a:prstGeom>
          <a:noFill/>
          <a:ln/>
        </p:spPr>
        <p:txBody>
          <a:bodyPr wrap="square" lIns="0" tIns="0" rIns="0" bIns="0" rtlCol="0" anchor="ctr"/>
          <a:lstStyle/>
          <a:p>
            <a:pPr marL="0" indent="0" algn="ctr">
              <a:buNone/>
            </a:pPr>
            <a:r>
              <a:rPr lang="en-US" sz="1200" b="1" dirty="0">
                <a:solidFill>
                  <a:schemeClr val="bg1"/>
                </a:solidFill>
              </a:rPr>
              <a:t>Data analytics</a:t>
            </a:r>
            <a:endParaRPr lang="en-US" sz="1200" dirty="0"/>
          </a:p>
        </p:txBody>
      </p:sp>
      <p:sp>
        <p:nvSpPr>
          <p:cNvPr id="6" name="Hits chart card"/>
          <p:cNvSpPr/>
          <p:nvPr/>
        </p:nvSpPr>
        <p:spPr>
          <a:xfrm>
            <a:off x="548640" y="1783080"/>
            <a:ext cx="6675120" cy="3474720"/>
          </a:xfrm>
          <a:prstGeom prst="roundRect">
            <a:avLst>
              <a:gd name="adj" fmla="val 3158"/>
            </a:avLst>
          </a:prstGeom>
          <a:solidFill>
            <a:schemeClr val="bg2"/>
          </a:solidFill>
          <a:ln w="12700">
            <a:solidFill>
              <a:schemeClr val="bg2"/>
            </a:solidFill>
            <a:prstDash val="solid"/>
          </a:ln>
        </p:spPr>
        <p:txBody>
          <a:bodyPr/>
          <a:lstStyle/>
          <a:p>
            <a:endParaRPr lang="en-US"/>
          </a:p>
        </p:txBody>
      </p:sp>
      <p:graphicFrame>
        <p:nvGraphicFramePr>
          <p:cNvPr id="7" name="Chart 0"/>
          <p:cNvGraphicFramePr/>
          <p:nvPr/>
        </p:nvGraphicFramePr>
        <p:xfrm>
          <a:off x="685800" y="1874520"/>
          <a:ext cx="64008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8" name="Empty stat"/>
          <p:cNvSpPr/>
          <p:nvPr/>
        </p:nvSpPr>
        <p:spPr>
          <a:xfrm>
            <a:off x="7498080" y="1783080"/>
            <a:ext cx="4142232" cy="1005840"/>
          </a:xfrm>
          <a:prstGeom prst="roundRect">
            <a:avLst>
              <a:gd name="adj" fmla="val 10909"/>
            </a:avLst>
          </a:prstGeom>
          <a:solidFill>
            <a:schemeClr val="bg2"/>
          </a:solidFill>
          <a:ln w="12700">
            <a:solidFill>
              <a:schemeClr val="bg2"/>
            </a:solidFill>
            <a:prstDash val="solid"/>
          </a:ln>
        </p:spPr>
        <p:txBody>
          <a:bodyPr/>
          <a:lstStyle/>
          <a:p>
            <a:endParaRPr lang="en-US"/>
          </a:p>
        </p:txBody>
      </p:sp>
      <p:sp>
        <p:nvSpPr>
          <p:cNvPr id="9" name="Empty stat number"/>
          <p:cNvSpPr txBox="1"/>
          <p:nvPr/>
        </p:nvSpPr>
        <p:spPr>
          <a:xfrm>
            <a:off x="7680960" y="1874520"/>
            <a:ext cx="822960" cy="822960"/>
          </a:xfrm>
          <a:prstGeom prst="rect">
            <a:avLst/>
          </a:prstGeom>
          <a:noFill/>
          <a:ln/>
        </p:spPr>
        <p:txBody>
          <a:bodyPr wrap="square" lIns="0" tIns="0" rIns="0" bIns="0" rtlCol="0" anchor="ctr"/>
          <a:lstStyle/>
          <a:p>
            <a:pPr marL="0" indent="0">
              <a:buNone/>
            </a:pPr>
            <a:r>
              <a:rPr lang="en-US" sz="2800" b="1" dirty="0">
                <a:solidFill>
                  <a:schemeClr val="accent3"/>
                </a:solidFill>
                <a:latin typeface="Cambria" pitchFamily="34" charset="0"/>
                <a:ea typeface="Cambria" pitchFamily="34" charset="-122"/>
                <a:cs typeface="Cambria" pitchFamily="34" charset="-120"/>
              </a:rPr>
              <a:t>0</a:t>
            </a:r>
            <a:endParaRPr lang="en-US" sz="2800" dirty="0"/>
          </a:p>
        </p:txBody>
      </p:sp>
      <p:sp>
        <p:nvSpPr>
          <p:cNvPr id="10" name="Empty stat label"/>
          <p:cNvSpPr txBox="1"/>
          <p:nvPr/>
        </p:nvSpPr>
        <p:spPr>
          <a:xfrm>
            <a:off x="8595360" y="1874520"/>
            <a:ext cx="2862072" cy="822960"/>
          </a:xfrm>
          <a:prstGeom prst="rect">
            <a:avLst/>
          </a:prstGeom>
          <a:noFill/>
          <a:ln/>
        </p:spPr>
        <p:txBody>
          <a:bodyPr wrap="square" lIns="0" tIns="0" rIns="0" bIns="0" rtlCol="0" anchor="ctr"/>
          <a:lstStyle/>
          <a:p>
            <a:pPr marL="0" indent="0">
              <a:buNone/>
            </a:pPr>
            <a:r>
              <a:rPr lang="en-US" sz="1300" dirty="0">
                <a:solidFill>
                  <a:schemeClr val="tx1"/>
                </a:solidFill>
              </a:rPr>
              <a:t>empty results and 0 duplicate documents over 30 queries</a:t>
            </a:r>
            <a:endParaRPr lang="en-US" sz="1300" dirty="0"/>
          </a:p>
        </p:txBody>
      </p:sp>
      <p:sp>
        <p:nvSpPr>
          <p:cNvPr id="11" name="Same post stat"/>
          <p:cNvSpPr/>
          <p:nvPr/>
        </p:nvSpPr>
        <p:spPr>
          <a:xfrm>
            <a:off x="7498080" y="2926080"/>
            <a:ext cx="4142232" cy="1005840"/>
          </a:xfrm>
          <a:prstGeom prst="roundRect">
            <a:avLst>
              <a:gd name="adj" fmla="val 10909"/>
            </a:avLst>
          </a:prstGeom>
          <a:solidFill>
            <a:schemeClr val="bg2"/>
          </a:solidFill>
          <a:ln w="12700">
            <a:solidFill>
              <a:schemeClr val="bg2"/>
            </a:solidFill>
            <a:prstDash val="solid"/>
          </a:ln>
        </p:spPr>
        <p:txBody>
          <a:bodyPr/>
          <a:lstStyle/>
          <a:p>
            <a:endParaRPr lang="en-US"/>
          </a:p>
        </p:txBody>
      </p:sp>
      <p:sp>
        <p:nvSpPr>
          <p:cNvPr id="12" name="Same post stat number"/>
          <p:cNvSpPr txBox="1"/>
          <p:nvPr/>
        </p:nvSpPr>
        <p:spPr>
          <a:xfrm>
            <a:off x="7680960" y="3017520"/>
            <a:ext cx="1554480" cy="822960"/>
          </a:xfrm>
          <a:prstGeom prst="rect">
            <a:avLst/>
          </a:prstGeom>
          <a:noFill/>
          <a:ln/>
        </p:spPr>
        <p:txBody>
          <a:bodyPr wrap="square" lIns="0" tIns="0" rIns="0" bIns="0" rtlCol="0" anchor="ctr"/>
          <a:lstStyle/>
          <a:p>
            <a:pPr marL="0" indent="0">
              <a:buNone/>
            </a:pPr>
            <a:r>
              <a:rPr lang="en-US" sz="2400" b="1" dirty="0">
                <a:solidFill>
                  <a:schemeClr val="accent4"/>
                </a:solidFill>
                <a:latin typeface="Cambria" pitchFamily="34" charset="0"/>
                <a:ea typeface="Cambria" pitchFamily="34" charset="-122"/>
                <a:cs typeface="Cambria" pitchFamily="34" charset="-120"/>
              </a:rPr>
              <a:t>11 of 30</a:t>
            </a:r>
            <a:endParaRPr lang="en-US" sz="2400" dirty="0"/>
          </a:p>
        </p:txBody>
      </p:sp>
      <p:sp>
        <p:nvSpPr>
          <p:cNvPr id="13" name="Same post stat label"/>
          <p:cNvSpPr txBox="1"/>
          <p:nvPr/>
        </p:nvSpPr>
        <p:spPr>
          <a:xfrm>
            <a:off x="9326880" y="3017520"/>
            <a:ext cx="2130552" cy="822960"/>
          </a:xfrm>
          <a:prstGeom prst="rect">
            <a:avLst/>
          </a:prstGeom>
          <a:noFill/>
          <a:ln/>
        </p:spPr>
        <p:txBody>
          <a:bodyPr wrap="square" lIns="0" tIns="0" rIns="0" bIns="0" rtlCol="0" anchor="ctr"/>
          <a:lstStyle/>
          <a:p>
            <a:pPr marL="0" indent="0">
              <a:buNone/>
            </a:pPr>
            <a:r>
              <a:rPr lang="en-US" sz="1300" dirty="0">
                <a:solidFill>
                  <a:schemeClr val="tx1"/>
                </a:solidFill>
              </a:rPr>
              <a:t>queries returned two chunks of the same post</a:t>
            </a:r>
            <a:endParaRPr lang="en-US" sz="1300" dirty="0"/>
          </a:p>
        </p:txBody>
      </p:sp>
      <p:sp>
        <p:nvSpPr>
          <p:cNvPr id="14" name="Distance stat"/>
          <p:cNvSpPr/>
          <p:nvPr/>
        </p:nvSpPr>
        <p:spPr>
          <a:xfrm>
            <a:off x="7498080" y="4069080"/>
            <a:ext cx="4142232" cy="1188720"/>
          </a:xfrm>
          <a:prstGeom prst="roundRect">
            <a:avLst>
              <a:gd name="adj" fmla="val 9231"/>
            </a:avLst>
          </a:prstGeom>
          <a:solidFill>
            <a:schemeClr val="bg2"/>
          </a:solidFill>
          <a:ln w="12700">
            <a:solidFill>
              <a:schemeClr val="bg2"/>
            </a:solidFill>
            <a:prstDash val="solid"/>
          </a:ln>
        </p:spPr>
        <p:txBody>
          <a:bodyPr/>
          <a:lstStyle/>
          <a:p>
            <a:endParaRPr lang="en-US"/>
          </a:p>
        </p:txBody>
      </p:sp>
      <p:sp>
        <p:nvSpPr>
          <p:cNvPr id="15" name="Distance stat number"/>
          <p:cNvSpPr txBox="1"/>
          <p:nvPr/>
        </p:nvSpPr>
        <p:spPr>
          <a:xfrm>
            <a:off x="7680960" y="4160520"/>
            <a:ext cx="1234440" cy="10058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0.243</a:t>
            </a:r>
            <a:endParaRPr lang="en-US" sz="2800" dirty="0"/>
          </a:p>
        </p:txBody>
      </p:sp>
      <p:sp>
        <p:nvSpPr>
          <p:cNvPr id="16" name="Distance stat label"/>
          <p:cNvSpPr txBox="1"/>
          <p:nvPr/>
        </p:nvSpPr>
        <p:spPr>
          <a:xfrm>
            <a:off x="9006840" y="4160520"/>
            <a:ext cx="2450592" cy="1005840"/>
          </a:xfrm>
          <a:prstGeom prst="rect">
            <a:avLst/>
          </a:prstGeom>
          <a:noFill/>
          <a:ln/>
        </p:spPr>
        <p:txBody>
          <a:bodyPr wrap="square" lIns="0" tIns="0" rIns="0" bIns="0" rtlCol="0" anchor="ctr"/>
          <a:lstStyle/>
          <a:p>
            <a:pPr marL="0" indent="0">
              <a:buNone/>
            </a:pPr>
            <a:r>
              <a:rPr lang="en-US" sz="1300" dirty="0">
                <a:solidFill>
                  <a:schemeClr val="tx1"/>
                </a:solidFill>
              </a:rPr>
              <a:t>mean cosine distance of the top 4 hits. Lower means closer</a:t>
            </a:r>
            <a:endParaRPr lang="en-US" sz="1300" dirty="0"/>
          </a:p>
        </p:txBody>
      </p:sp>
      <p:sp>
        <p:nvSpPr>
          <p:cNvPr id="17" name="Example card"/>
          <p:cNvSpPr/>
          <p:nvPr/>
        </p:nvSpPr>
        <p:spPr>
          <a:xfrm>
            <a:off x="548640" y="5440680"/>
            <a:ext cx="11091672" cy="777240"/>
          </a:xfrm>
          <a:prstGeom prst="roundRect">
            <a:avLst>
              <a:gd name="adj" fmla="val 14118"/>
            </a:avLst>
          </a:prstGeom>
          <a:solidFill>
            <a:schemeClr val="accent1"/>
          </a:solidFill>
          <a:ln w="12700">
            <a:solidFill>
              <a:schemeClr val="accent1"/>
            </a:solidFill>
            <a:prstDash val="solid"/>
          </a:ln>
        </p:spPr>
        <p:txBody>
          <a:bodyPr/>
          <a:lstStyle/>
          <a:p>
            <a:endParaRPr lang="en-US"/>
          </a:p>
        </p:txBody>
      </p:sp>
      <p:sp>
        <p:nvSpPr>
          <p:cNvPr id="18" name="Example text"/>
          <p:cNvSpPr txBox="1"/>
          <p:nvPr/>
        </p:nvSpPr>
        <p:spPr>
          <a:xfrm>
            <a:off x="777240" y="5468112"/>
            <a:ext cx="10634472" cy="722376"/>
          </a:xfrm>
          <a:prstGeom prst="rect">
            <a:avLst/>
          </a:prstGeom>
          <a:noFill/>
          <a:ln/>
        </p:spPr>
        <p:txBody>
          <a:bodyPr wrap="square" lIns="0" tIns="0" rIns="0" bIns="0" rtlCol="0" anchor="ctr"/>
          <a:lstStyle/>
          <a:p>
            <a:pPr marL="0" indent="0">
              <a:buNone/>
            </a:pPr>
            <a:r>
              <a:rPr lang="en-US" sz="1300" b="1" dirty="0">
                <a:solidFill>
                  <a:srgbClr val="D9822B"/>
                </a:solidFill>
              </a:rPr>
              <a:t>Example, Monday.com at $550M ARR: </a:t>
            </a:r>
            <a:r>
              <a:rPr lang="en-US" sz="1300" dirty="0">
                <a:solidFill>
                  <a:srgbClr val="FFFFFF"/>
                </a:solidFill>
              </a:rPr>
              <a:t>a top hit is the numbered fragment “#7. Monday.com is growing 68% (!) at $550m in ARR.” Fragments like this are why Model E extracts short claims and checks each one before writing.</a:t>
            </a:r>
            <a:endParaRPr lang="en-US" sz="13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778240" cy="731520"/>
          </a:xfrm>
          <a:prstGeom prst="rect">
            <a:avLst/>
          </a:prstGeom>
          <a:noFill/>
          <a:ln/>
        </p:spPr>
        <p:txBody>
          <a:bodyPr wrap="square" lIns="0" tIns="0" rIns="0" bIns="0" rtlCol="0" anchor="ctr"/>
          <a:lstStyle/>
          <a:p>
            <a:pPr marL="0" indent="0" algn="l">
              <a:buNone/>
            </a:pPr>
            <a:r>
              <a:rPr lang="en-US" sz="3200" b="1" dirty="0">
                <a:solidFill>
                  <a:schemeClr val="tx2"/>
                </a:solidFill>
              </a:rPr>
              <a:t>Models and training</a:t>
            </a:r>
            <a:endParaRPr lang="en-US" sz="3200" dirty="0"/>
          </a:p>
        </p:txBody>
      </p:sp>
      <p:sp>
        <p:nvSpPr>
          <p:cNvPr id="3" name="Text 0"/>
          <p:cNvSpPr>
            <a:spLocks noGrp="1"/>
          </p:cNvSpPr>
          <p:nvPr>
            <p:ph type="body" idx="101" hasCustomPrompt="1"/>
          </p:nvPr>
        </p:nvSpPr>
        <p:spPr>
          <a:xfrm>
            <a:off x="548640" y="1051560"/>
            <a:ext cx="11091672" cy="457200"/>
          </a:xfrm>
          <a:prstGeom prst="rect">
            <a:avLst/>
          </a:prstGeom>
          <a:noFill/>
          <a:ln/>
        </p:spPr>
        <p:txBody>
          <a:bodyPr wrap="square" lIns="0" tIns="0" rIns="0" bIns="0" rtlCol="0" anchor="t"/>
          <a:lstStyle/>
          <a:p>
            <a:pPr marL="0" indent="0" algn="l">
              <a:buNone/>
            </a:pPr>
            <a:r>
              <a:rPr lang="en-US" sz="1800" dirty="0">
                <a:solidFill>
                  <a:schemeClr val="accent5"/>
                </a:solidFill>
              </a:rPr>
              <a:t>Model E is our selected model: Llama 3.1 8B with a relabeled QLoRA adapter and checked retrieval</a:t>
            </a:r>
            <a:endParaRPr lang="en-US" sz="1800" dirty="0"/>
          </a:p>
        </p:txBody>
      </p:sp>
      <p:sp>
        <p:nvSpPr>
          <p:cNvPr id="4" name="Section chip"/>
          <p:cNvSpPr/>
          <p:nvPr/>
        </p:nvSpPr>
        <p:spPr>
          <a:xfrm>
            <a:off x="9445752" y="475488"/>
            <a:ext cx="219456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5" name="Section chip text"/>
          <p:cNvSpPr txBox="1"/>
          <p:nvPr/>
        </p:nvSpPr>
        <p:spPr>
          <a:xfrm>
            <a:off x="9445752" y="475488"/>
            <a:ext cx="2194560" cy="329184"/>
          </a:xfrm>
          <a:prstGeom prst="rect">
            <a:avLst/>
          </a:prstGeom>
          <a:noFill/>
          <a:ln/>
        </p:spPr>
        <p:txBody>
          <a:bodyPr wrap="square" lIns="0" tIns="0" rIns="0" bIns="0" rtlCol="0" anchor="ctr"/>
          <a:lstStyle/>
          <a:p>
            <a:pPr marL="0" indent="0" algn="ctr">
              <a:buNone/>
            </a:pPr>
            <a:r>
              <a:rPr lang="en-US" sz="1200" b="1" dirty="0">
                <a:solidFill>
                  <a:schemeClr val="bg1"/>
                </a:solidFill>
              </a:rPr>
              <a:t>ML results</a:t>
            </a:r>
            <a:endParaRPr lang="en-US" sz="1200" dirty="0"/>
          </a:p>
        </p:txBody>
      </p:sp>
      <p:sp>
        <p:nvSpPr>
          <p:cNvPr id="6" name="Model E card"/>
          <p:cNvSpPr/>
          <p:nvPr/>
        </p:nvSpPr>
        <p:spPr>
          <a:xfrm>
            <a:off x="548640" y="1783080"/>
            <a:ext cx="521208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7" name="Model E title"/>
          <p:cNvSpPr txBox="1"/>
          <p:nvPr/>
        </p:nvSpPr>
        <p:spPr>
          <a:xfrm>
            <a:off x="777240" y="1892808"/>
            <a:ext cx="4754880" cy="36576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Model E, the selected model</a:t>
            </a:r>
            <a:endParaRPr lang="en-US" sz="1800" dirty="0"/>
          </a:p>
        </p:txBody>
      </p:sp>
      <p:graphicFrame>
        <p:nvGraphicFramePr>
          <p:cNvPr id="10" name="Model E table"/>
          <p:cNvGraphicFramePr>
            <a:graphicFrameLocks noGrp="1"/>
          </p:cNvGraphicFramePr>
          <p:nvPr>
            <p:extLst>
              <p:ext uri="{D42A27DB-BD31-4B8C-83A1-F6EECF244321}">
                <p14:modId xmlns:p14="http://schemas.microsoft.com/office/powerpoint/2010/main" val="1579011935"/>
              </p:ext>
            </p:extLst>
          </p:nvPr>
        </p:nvGraphicFramePr>
        <p:xfrm>
          <a:off x="777240" y="2377440"/>
          <a:ext cx="475488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20624">
                <a:tc>
                  <a:txBody>
                    <a:bodyPr/>
                    <a:lstStyle/>
                    <a:p>
                      <a:pPr marL="0" indent="0">
                        <a:buNone/>
                      </a:pPr>
                      <a:r>
                        <a:rPr lang="en-US" sz="1400" b="1" dirty="0">
                          <a:solidFill>
                            <a:srgbClr val="1F3A5F"/>
                          </a:solidFill>
                        </a:rPr>
                        <a:t>Base</a:t>
                      </a:r>
                      <a:endParaRPr lang="en-US" sz="1400" dirty="0"/>
                    </a:p>
                  </a:txBody>
                  <a:tcPr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tcPr>
                </a:tc>
                <a:tc>
                  <a:txBody>
                    <a:bodyPr/>
                    <a:lstStyle/>
                    <a:p>
                      <a:pPr marL="0" indent="0">
                        <a:buNone/>
                      </a:pPr>
                      <a:r>
                        <a:rPr lang="en-US" sz="1400" dirty="0">
                          <a:solidFill>
                            <a:srgbClr val="1B2433"/>
                          </a:solidFill>
                        </a:rPr>
                        <a:t>Llama 3.1 8B Instruct, 4-bit</a:t>
                      </a:r>
                      <a:endParaRPr lang="en-US" sz="1400" dirty="0"/>
                    </a:p>
                  </a:txBody>
                  <a:tcPr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marL="0" indent="0">
                        <a:buNone/>
                      </a:pPr>
                      <a:r>
                        <a:rPr lang="en-US" sz="1400" b="1" dirty="0">
                          <a:solidFill>
                            <a:srgbClr val="1F3A5F"/>
                          </a:solidFill>
                        </a:rPr>
                        <a:t>Adapter</a:t>
                      </a:r>
                      <a:endParaRPr lang="en-US" sz="14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400" dirty="0">
                          <a:solidFill>
                            <a:srgbClr val="1B2433"/>
                          </a:solidFill>
                        </a:rPr>
                        <a:t>QLoRA, rank 16, alpha 32, seven modules</a:t>
                      </a:r>
                      <a:endParaRPr lang="en-US" sz="14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400" b="1" dirty="0">
                          <a:solidFill>
                            <a:srgbClr val="1F3A5F"/>
                          </a:solidFill>
                        </a:rPr>
                        <a:t>Training</a:t>
                      </a:r>
                      <a:endParaRPr lang="en-US" sz="14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400" dirty="0">
                          <a:solidFill>
                            <a:srgbClr val="1B2433"/>
                          </a:solidFill>
                        </a:rPr>
                        <a:t>21,377 rows, 2 epochs, 512 tokens</a:t>
                      </a:r>
                      <a:endParaRPr lang="en-US" sz="14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400" b="1" dirty="0">
                          <a:solidFill>
                            <a:srgbClr val="1F3A5F"/>
                          </a:solidFill>
                        </a:rPr>
                        <a:t>Hardware</a:t>
                      </a:r>
                      <a:endParaRPr lang="en-US" sz="14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400" dirty="0">
                          <a:solidFill>
                            <a:srgbClr val="1B2433"/>
                          </a:solidFill>
                        </a:rPr>
                        <a:t>One 16 GB GPU, about 3.4 hours</a:t>
                      </a:r>
                      <a:endParaRPr lang="en-US" sz="14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400" b="1" dirty="0">
                          <a:solidFill>
                            <a:srgbClr val="1F3A5F"/>
                          </a:solidFill>
                        </a:rPr>
                        <a:t>Retrieval</a:t>
                      </a:r>
                      <a:endParaRPr lang="en-US" sz="14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400" dirty="0">
                          <a:solidFill>
                            <a:srgbClr val="1B2433"/>
                          </a:solidFill>
                        </a:rPr>
                        <a:t>Top 4 from the train-only index</a:t>
                      </a:r>
                      <a:endParaRPr lang="en-US" sz="14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buNone/>
                      </a:pPr>
                      <a:r>
                        <a:rPr lang="en-US" sz="1400" b="1" dirty="0">
                          <a:solidFill>
                            <a:srgbClr val="1F3A5F"/>
                          </a:solidFill>
                        </a:rPr>
                        <a:t>Writing</a:t>
                      </a:r>
                      <a:endParaRPr lang="en-US" sz="14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buNone/>
                      </a:pPr>
                      <a:r>
                        <a:rPr lang="en-US" sz="1400" dirty="0">
                          <a:solidFill>
                            <a:srgbClr val="1B2433"/>
                          </a:solidFill>
                        </a:rPr>
                        <a:t>Uses only claims verified in a source</a:t>
                      </a:r>
                      <a:endParaRPr lang="en-US" sz="14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Loss chart card"/>
          <p:cNvSpPr/>
          <p:nvPr/>
        </p:nvSpPr>
        <p:spPr>
          <a:xfrm>
            <a:off x="5943600" y="1783080"/>
            <a:ext cx="5696712" cy="3246120"/>
          </a:xfrm>
          <a:prstGeom prst="roundRect">
            <a:avLst>
              <a:gd name="adj" fmla="val 3380"/>
            </a:avLst>
          </a:prstGeom>
          <a:solidFill>
            <a:schemeClr val="bg2"/>
          </a:solidFill>
          <a:ln w="12700">
            <a:solidFill>
              <a:schemeClr val="bg2"/>
            </a:solidFill>
            <a:prstDash val="solid"/>
          </a:ln>
        </p:spPr>
        <p:txBody>
          <a:bodyPr/>
          <a:lstStyle/>
          <a:p>
            <a:endParaRPr lang="en-US"/>
          </a:p>
        </p:txBody>
      </p:sp>
      <p:graphicFrame>
        <p:nvGraphicFramePr>
          <p:cNvPr id="8" name="Chart 0"/>
          <p:cNvGraphicFramePr/>
          <p:nvPr/>
        </p:nvGraphicFramePr>
        <p:xfrm>
          <a:off x="6080760" y="1874520"/>
          <a:ext cx="5422392"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11" name="Loss note"/>
          <p:cNvSpPr txBox="1"/>
          <p:nvPr/>
        </p:nvSpPr>
        <p:spPr>
          <a:xfrm>
            <a:off x="6172200" y="4526280"/>
            <a:ext cx="5257800" cy="457200"/>
          </a:xfrm>
          <a:prstGeom prst="rect">
            <a:avLst/>
          </a:prstGeom>
          <a:noFill/>
          <a:ln/>
        </p:spPr>
        <p:txBody>
          <a:bodyPr wrap="square" lIns="0" tIns="0" rIns="0" bIns="0" rtlCol="0" anchor="t"/>
          <a:lstStyle/>
          <a:p>
            <a:pPr marL="0" indent="0">
              <a:buNone/>
            </a:pPr>
            <a:r>
              <a:rPr lang="en-US" sz="1200" dirty="0">
                <a:solidFill>
                  <a:schemeClr val="accent5"/>
                </a:solidFill>
              </a:rPr>
              <a:t>Best loss 1.3316. It cannot be compared with the earlier adapter's 1.5311, because the validation file changed.</a:t>
            </a:r>
            <a:endParaRPr lang="en-US" sz="1200" dirty="0"/>
          </a:p>
        </p:txBody>
      </p:sp>
      <p:sp>
        <p:nvSpPr>
          <p:cNvPr id="12" name="Path label"/>
          <p:cNvSpPr txBox="1"/>
          <p:nvPr/>
        </p:nvSpPr>
        <p:spPr>
          <a:xfrm>
            <a:off x="548640" y="5212080"/>
            <a:ext cx="3657600" cy="228600"/>
          </a:xfrm>
          <a:prstGeom prst="rect">
            <a:avLst/>
          </a:prstGeom>
          <a:noFill/>
          <a:ln/>
        </p:spPr>
        <p:txBody>
          <a:bodyPr wrap="square" lIns="0" tIns="0" rIns="0" bIns="0" rtlCol="0" anchor="t"/>
          <a:lstStyle/>
          <a:p>
            <a:pPr marL="0" indent="0">
              <a:buNone/>
            </a:pPr>
            <a:r>
              <a:rPr lang="en-US" sz="1200" b="1" dirty="0">
                <a:solidFill>
                  <a:schemeClr val="accent5"/>
                </a:solidFill>
              </a:rPr>
              <a:t>The model path</a:t>
            </a:r>
            <a:endParaRPr lang="en-US" sz="1200" dirty="0"/>
          </a:p>
        </p:txBody>
      </p:sp>
      <p:sp>
        <p:nvSpPr>
          <p:cNvPr id="13" name="Model A chip"/>
          <p:cNvSpPr/>
          <p:nvPr/>
        </p:nvSpPr>
        <p:spPr>
          <a:xfrm>
            <a:off x="548640" y="5486400"/>
            <a:ext cx="1696212" cy="685800"/>
          </a:xfrm>
          <a:prstGeom prst="roundRect">
            <a:avLst>
              <a:gd name="adj" fmla="val 13333"/>
            </a:avLst>
          </a:prstGeom>
          <a:solidFill>
            <a:schemeClr val="accent1"/>
          </a:solidFill>
          <a:ln w="12700">
            <a:solidFill>
              <a:schemeClr val="accent1"/>
            </a:solidFill>
            <a:prstDash val="solid"/>
          </a:ln>
        </p:spPr>
        <p:txBody>
          <a:bodyPr/>
          <a:lstStyle/>
          <a:p>
            <a:endParaRPr lang="en-US"/>
          </a:p>
        </p:txBody>
      </p:sp>
      <p:sp>
        <p:nvSpPr>
          <p:cNvPr id="14" name="Model A text"/>
          <p:cNvSpPr txBox="1"/>
          <p:nvPr/>
        </p:nvSpPr>
        <p:spPr>
          <a:xfrm>
            <a:off x="621792" y="5486400"/>
            <a:ext cx="1549908" cy="685800"/>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A  </a:t>
            </a:r>
            <a:r>
              <a:rPr lang="en-US" sz="1200" dirty="0">
                <a:solidFill>
                  <a:schemeClr val="bg1"/>
                </a:solidFill>
              </a:rPr>
              <a:t>Base Llama</a:t>
            </a:r>
            <a:endParaRPr lang="en-US" sz="1500" dirty="0"/>
          </a:p>
        </p:txBody>
      </p:sp>
      <p:sp>
        <p:nvSpPr>
          <p:cNvPr id="15" name="Model B chip"/>
          <p:cNvSpPr/>
          <p:nvPr/>
        </p:nvSpPr>
        <p:spPr>
          <a:xfrm>
            <a:off x="2427732" y="5486400"/>
            <a:ext cx="1696212" cy="685800"/>
          </a:xfrm>
          <a:prstGeom prst="roundRect">
            <a:avLst>
              <a:gd name="adj" fmla="val 13333"/>
            </a:avLst>
          </a:prstGeom>
          <a:solidFill>
            <a:schemeClr val="accent1"/>
          </a:solidFill>
          <a:ln w="12700">
            <a:solidFill>
              <a:schemeClr val="accent1"/>
            </a:solidFill>
            <a:prstDash val="solid"/>
          </a:ln>
        </p:spPr>
        <p:txBody>
          <a:bodyPr/>
          <a:lstStyle/>
          <a:p>
            <a:endParaRPr lang="en-US"/>
          </a:p>
        </p:txBody>
      </p:sp>
      <p:sp>
        <p:nvSpPr>
          <p:cNvPr id="16" name="Model B text"/>
          <p:cNvSpPr txBox="1"/>
          <p:nvPr/>
        </p:nvSpPr>
        <p:spPr>
          <a:xfrm>
            <a:off x="2500884" y="5486400"/>
            <a:ext cx="1549908" cy="685800"/>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B  </a:t>
            </a:r>
            <a:r>
              <a:rPr lang="en-US" sz="1200" dirty="0">
                <a:solidFill>
                  <a:schemeClr val="bg1"/>
                </a:solidFill>
              </a:rPr>
              <a:t>Persona prompt</a:t>
            </a:r>
            <a:endParaRPr lang="en-US" sz="1500" dirty="0"/>
          </a:p>
        </p:txBody>
      </p:sp>
      <p:sp>
        <p:nvSpPr>
          <p:cNvPr id="17" name="Model C chip"/>
          <p:cNvSpPr/>
          <p:nvPr/>
        </p:nvSpPr>
        <p:spPr>
          <a:xfrm>
            <a:off x="4306824" y="5486400"/>
            <a:ext cx="1696212" cy="685800"/>
          </a:xfrm>
          <a:prstGeom prst="roundRect">
            <a:avLst>
              <a:gd name="adj" fmla="val 13333"/>
            </a:avLst>
          </a:prstGeom>
          <a:solidFill>
            <a:schemeClr val="accent1"/>
          </a:solidFill>
          <a:ln w="12700">
            <a:solidFill>
              <a:schemeClr val="accent1"/>
            </a:solidFill>
            <a:prstDash val="solid"/>
          </a:ln>
        </p:spPr>
        <p:txBody>
          <a:bodyPr/>
          <a:lstStyle/>
          <a:p>
            <a:endParaRPr lang="en-US"/>
          </a:p>
        </p:txBody>
      </p:sp>
      <p:sp>
        <p:nvSpPr>
          <p:cNvPr id="18" name="Model C text"/>
          <p:cNvSpPr txBox="1"/>
          <p:nvPr/>
        </p:nvSpPr>
        <p:spPr>
          <a:xfrm>
            <a:off x="4379976" y="5486400"/>
            <a:ext cx="1549908" cy="685800"/>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C  </a:t>
            </a:r>
            <a:r>
              <a:rPr lang="en-US" sz="1200" dirty="0">
                <a:solidFill>
                  <a:schemeClr val="bg1"/>
                </a:solidFill>
              </a:rPr>
              <a:t>PersonaRAG</a:t>
            </a:r>
            <a:endParaRPr lang="en-US" sz="1500" dirty="0"/>
          </a:p>
        </p:txBody>
      </p:sp>
      <p:sp>
        <p:nvSpPr>
          <p:cNvPr id="19" name="Model D chip"/>
          <p:cNvSpPr/>
          <p:nvPr/>
        </p:nvSpPr>
        <p:spPr>
          <a:xfrm>
            <a:off x="6185916" y="5486400"/>
            <a:ext cx="1696212" cy="685800"/>
          </a:xfrm>
          <a:prstGeom prst="roundRect">
            <a:avLst>
              <a:gd name="adj" fmla="val 13333"/>
            </a:avLst>
          </a:prstGeom>
          <a:solidFill>
            <a:schemeClr val="accent1"/>
          </a:solidFill>
          <a:ln w="12700">
            <a:solidFill>
              <a:schemeClr val="accent1"/>
            </a:solidFill>
            <a:prstDash val="solid"/>
          </a:ln>
        </p:spPr>
        <p:txBody>
          <a:bodyPr/>
          <a:lstStyle/>
          <a:p>
            <a:endParaRPr lang="en-US"/>
          </a:p>
        </p:txBody>
      </p:sp>
      <p:sp>
        <p:nvSpPr>
          <p:cNvPr id="20" name="Model D text"/>
          <p:cNvSpPr txBox="1"/>
          <p:nvPr/>
        </p:nvSpPr>
        <p:spPr>
          <a:xfrm>
            <a:off x="6259068" y="5486400"/>
            <a:ext cx="1549908" cy="685800"/>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D  </a:t>
            </a:r>
            <a:r>
              <a:rPr lang="en-US" sz="1200" dirty="0">
                <a:solidFill>
                  <a:schemeClr val="bg1"/>
                </a:solidFill>
              </a:rPr>
              <a:t>QLoRA</a:t>
            </a:r>
            <a:endParaRPr lang="en-US" sz="1500" dirty="0"/>
          </a:p>
        </p:txBody>
      </p:sp>
      <p:sp>
        <p:nvSpPr>
          <p:cNvPr id="21" name="Model E chip"/>
          <p:cNvSpPr/>
          <p:nvPr/>
        </p:nvSpPr>
        <p:spPr>
          <a:xfrm>
            <a:off x="8065008" y="5486400"/>
            <a:ext cx="1696212" cy="685800"/>
          </a:xfrm>
          <a:prstGeom prst="roundRect">
            <a:avLst>
              <a:gd name="adj" fmla="val 13333"/>
            </a:avLst>
          </a:prstGeom>
          <a:solidFill>
            <a:schemeClr val="accent4"/>
          </a:solidFill>
          <a:ln w="12700">
            <a:solidFill>
              <a:schemeClr val="accent4"/>
            </a:solidFill>
            <a:prstDash val="solid"/>
          </a:ln>
        </p:spPr>
        <p:txBody>
          <a:bodyPr/>
          <a:lstStyle/>
          <a:p>
            <a:endParaRPr lang="en-US"/>
          </a:p>
        </p:txBody>
      </p:sp>
      <p:sp>
        <p:nvSpPr>
          <p:cNvPr id="22" name="Model E text"/>
          <p:cNvSpPr txBox="1"/>
          <p:nvPr/>
        </p:nvSpPr>
        <p:spPr>
          <a:xfrm>
            <a:off x="8138160" y="5486400"/>
            <a:ext cx="1549908" cy="685800"/>
          </a:xfrm>
          <a:prstGeom prst="rect">
            <a:avLst/>
          </a:prstGeom>
          <a:noFill/>
          <a:ln/>
        </p:spPr>
        <p:txBody>
          <a:bodyPr wrap="square" lIns="0" tIns="0" rIns="0" bIns="0" rtlCol="0" anchor="ctr"/>
          <a:lstStyle/>
          <a:p>
            <a:pPr marL="0" indent="0" algn="ctr">
              <a:buNone/>
            </a:pPr>
            <a:r>
              <a:rPr lang="en-US" sz="1500" b="1" dirty="0">
                <a:solidFill>
                  <a:schemeClr val="bg1"/>
                </a:solidFill>
                <a:latin typeface="Cambria" pitchFamily="34" charset="0"/>
                <a:ea typeface="Cambria" pitchFamily="34" charset="-122"/>
                <a:cs typeface="Cambria" pitchFamily="34" charset="-120"/>
              </a:rPr>
              <a:t>E  </a:t>
            </a:r>
            <a:r>
              <a:rPr lang="en-US" sz="1200" dirty="0">
                <a:solidFill>
                  <a:schemeClr val="bg1"/>
                </a:solidFill>
              </a:rPr>
              <a:t>Relabel QLoRA + checked RAG</a:t>
            </a:r>
            <a:endParaRPr lang="en-US" sz="1500" dirty="0"/>
          </a:p>
        </p:txBody>
      </p:sp>
      <p:sp>
        <p:nvSpPr>
          <p:cNvPr id="23" name="Model F chip"/>
          <p:cNvSpPr/>
          <p:nvPr/>
        </p:nvSpPr>
        <p:spPr>
          <a:xfrm>
            <a:off x="9944100" y="5486400"/>
            <a:ext cx="1696212" cy="685800"/>
          </a:xfrm>
          <a:prstGeom prst="roundRect">
            <a:avLst>
              <a:gd name="adj" fmla="val 13333"/>
            </a:avLst>
          </a:prstGeom>
          <a:ln w="12700">
            <a:solidFill>
              <a:schemeClr val="accent5"/>
            </a:solidFill>
            <a:prstDash val="dash"/>
          </a:ln>
        </p:spPr>
        <p:txBody>
          <a:bodyPr/>
          <a:lstStyle/>
          <a:p>
            <a:endParaRPr lang="en-US"/>
          </a:p>
        </p:txBody>
      </p:sp>
      <p:sp>
        <p:nvSpPr>
          <p:cNvPr id="24" name="Model F text"/>
          <p:cNvSpPr txBox="1"/>
          <p:nvPr/>
        </p:nvSpPr>
        <p:spPr>
          <a:xfrm>
            <a:off x="10017252" y="5486400"/>
            <a:ext cx="1549908" cy="685800"/>
          </a:xfrm>
          <a:prstGeom prst="rect">
            <a:avLst/>
          </a:prstGeom>
          <a:noFill/>
          <a:ln/>
        </p:spPr>
        <p:txBody>
          <a:bodyPr wrap="square" lIns="0" tIns="0" rIns="0" bIns="0" rtlCol="0" anchor="ctr"/>
          <a:lstStyle/>
          <a:p>
            <a:pPr marL="0" indent="0" algn="ctr">
              <a:buNone/>
            </a:pPr>
            <a:r>
              <a:rPr lang="en-US" sz="1500" b="1" dirty="0">
                <a:solidFill>
                  <a:schemeClr val="accent5"/>
                </a:solidFill>
                <a:latin typeface="Cambria" pitchFamily="34" charset="0"/>
                <a:ea typeface="Cambria" pitchFamily="34" charset="-122"/>
                <a:cs typeface="Cambria" pitchFamily="34" charset="-120"/>
              </a:rPr>
              <a:t>F  </a:t>
            </a:r>
            <a:r>
              <a:rPr lang="en-US" sz="1200" dirty="0">
                <a:solidFill>
                  <a:schemeClr val="accent5"/>
                </a:solidFill>
              </a:rPr>
              <a:t>Ontology, planned</a:t>
            </a:r>
            <a:endParaRPr lang="en-US" sz="15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778240" cy="731520"/>
          </a:xfrm>
          <a:prstGeom prst="rect">
            <a:avLst/>
          </a:prstGeom>
          <a:noFill/>
          <a:ln/>
        </p:spPr>
        <p:txBody>
          <a:bodyPr wrap="square" lIns="0" tIns="0" rIns="0" bIns="0" rtlCol="0" anchor="ctr"/>
          <a:lstStyle/>
          <a:p>
            <a:pPr marL="0" indent="0" algn="l">
              <a:buNone/>
            </a:pPr>
            <a:r>
              <a:rPr lang="en-US" sz="3200" b="1" dirty="0">
                <a:solidFill>
                  <a:schemeClr val="tx2"/>
                </a:solidFill>
              </a:rPr>
              <a:t>Relabeling cut mid-sentence stops</a:t>
            </a:r>
            <a:endParaRPr lang="en-US" sz="3200" dirty="0"/>
          </a:p>
        </p:txBody>
      </p:sp>
      <p:sp>
        <p:nvSpPr>
          <p:cNvPr id="3" name="Text 0"/>
          <p:cNvSpPr>
            <a:spLocks noGrp="1"/>
          </p:cNvSpPr>
          <p:nvPr>
            <p:ph type="body" idx="101" hasCustomPrompt="1"/>
          </p:nvPr>
        </p:nvSpPr>
        <p:spPr>
          <a:xfrm>
            <a:off x="548640" y="1051560"/>
            <a:ext cx="11091672" cy="457200"/>
          </a:xfrm>
          <a:prstGeom prst="rect">
            <a:avLst/>
          </a:prstGeom>
          <a:noFill/>
          <a:ln/>
        </p:spPr>
        <p:txBody>
          <a:bodyPr wrap="square" lIns="0" tIns="0" rIns="0" bIns="0" rtlCol="0" anchor="t"/>
          <a:lstStyle/>
          <a:p>
            <a:pPr marL="0" indent="0" algn="l">
              <a:buNone/>
            </a:pPr>
            <a:r>
              <a:rPr lang="en-US" sz="1800" dirty="0">
                <a:solidFill>
                  <a:schemeClr val="accent5"/>
                </a:solidFill>
              </a:rPr>
              <a:t>Same model, same prompts, three seeds: only the training labels changed</a:t>
            </a:r>
            <a:endParaRPr lang="en-US" sz="1800" dirty="0"/>
          </a:p>
        </p:txBody>
      </p:sp>
      <p:sp>
        <p:nvSpPr>
          <p:cNvPr id="4" name="Section chip"/>
          <p:cNvSpPr/>
          <p:nvPr/>
        </p:nvSpPr>
        <p:spPr>
          <a:xfrm>
            <a:off x="9445752" y="475488"/>
            <a:ext cx="219456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5" name="Section chip text"/>
          <p:cNvSpPr txBox="1"/>
          <p:nvPr/>
        </p:nvSpPr>
        <p:spPr>
          <a:xfrm>
            <a:off x="9445752" y="475488"/>
            <a:ext cx="2194560" cy="329184"/>
          </a:xfrm>
          <a:prstGeom prst="rect">
            <a:avLst/>
          </a:prstGeom>
          <a:noFill/>
          <a:ln/>
        </p:spPr>
        <p:txBody>
          <a:bodyPr wrap="square" lIns="0" tIns="0" rIns="0" bIns="0" rtlCol="0" anchor="ctr"/>
          <a:lstStyle/>
          <a:p>
            <a:pPr marL="0" indent="0" algn="ctr">
              <a:buNone/>
            </a:pPr>
            <a:r>
              <a:rPr lang="en-US" sz="1200" b="1" dirty="0">
                <a:solidFill>
                  <a:schemeClr val="bg1"/>
                </a:solidFill>
              </a:rPr>
              <a:t>ML results</a:t>
            </a:r>
            <a:endParaRPr lang="en-US" sz="1200" dirty="0"/>
          </a:p>
        </p:txBody>
      </p:sp>
      <p:sp>
        <p:nvSpPr>
          <p:cNvPr id="6" name="Chart card"/>
          <p:cNvSpPr/>
          <p:nvPr/>
        </p:nvSpPr>
        <p:spPr>
          <a:xfrm>
            <a:off x="548640" y="1783080"/>
            <a:ext cx="6400800" cy="4114800"/>
          </a:xfrm>
          <a:prstGeom prst="roundRect">
            <a:avLst>
              <a:gd name="adj" fmla="val 2667"/>
            </a:avLst>
          </a:prstGeom>
          <a:solidFill>
            <a:schemeClr val="bg2"/>
          </a:solidFill>
          <a:ln w="12700">
            <a:solidFill>
              <a:schemeClr val="bg2"/>
            </a:solidFill>
            <a:prstDash val="solid"/>
          </a:ln>
        </p:spPr>
        <p:txBody>
          <a:bodyPr/>
          <a:lstStyle/>
          <a:p>
            <a:endParaRPr lang="en-US"/>
          </a:p>
        </p:txBody>
      </p:sp>
      <p:graphicFrame>
        <p:nvGraphicFramePr>
          <p:cNvPr id="7" name="Chart 0"/>
          <p:cNvGraphicFramePr/>
          <p:nvPr/>
        </p:nvGraphicFramePr>
        <p:xfrm>
          <a:off x="731520" y="1874520"/>
          <a:ext cx="60350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8" name="Stat mid"/>
          <p:cNvSpPr/>
          <p:nvPr/>
        </p:nvSpPr>
        <p:spPr>
          <a:xfrm>
            <a:off x="7178040" y="1783080"/>
            <a:ext cx="4462272" cy="1325880"/>
          </a:xfrm>
          <a:prstGeom prst="roundRect">
            <a:avLst>
              <a:gd name="adj" fmla="val 8276"/>
            </a:avLst>
          </a:prstGeom>
          <a:solidFill>
            <a:schemeClr val="bg2"/>
          </a:solidFill>
          <a:ln w="12700">
            <a:solidFill>
              <a:schemeClr val="bg2"/>
            </a:solidFill>
            <a:prstDash val="solid"/>
          </a:ln>
        </p:spPr>
        <p:txBody>
          <a:bodyPr/>
          <a:lstStyle/>
          <a:p>
            <a:endParaRPr lang="en-US"/>
          </a:p>
        </p:txBody>
      </p:sp>
      <p:sp>
        <p:nvSpPr>
          <p:cNvPr id="9" name="Stat mid number"/>
          <p:cNvSpPr txBox="1"/>
          <p:nvPr/>
        </p:nvSpPr>
        <p:spPr>
          <a:xfrm>
            <a:off x="7406640" y="1892808"/>
            <a:ext cx="4005072" cy="530352"/>
          </a:xfrm>
          <a:prstGeom prst="rect">
            <a:avLst/>
          </a:prstGeom>
          <a:noFill/>
          <a:ln/>
        </p:spPr>
        <p:txBody>
          <a:bodyPr wrap="square" lIns="0" tIns="0" rIns="0" bIns="0" rtlCol="0" anchor="ctr"/>
          <a:lstStyle/>
          <a:p>
            <a:pPr marL="0" indent="0">
              <a:buNone/>
            </a:pPr>
            <a:r>
              <a:rPr lang="en-US" sz="2800" b="1" dirty="0">
                <a:solidFill>
                  <a:schemeClr val="accent4"/>
                </a:solidFill>
                <a:latin typeface="Cambria" pitchFamily="34" charset="0"/>
                <a:ea typeface="Cambria" pitchFamily="34" charset="-122"/>
                <a:cs typeface="Cambria" pitchFamily="34" charset="-120"/>
              </a:rPr>
              <a:t>62.5% → 32.2%</a:t>
            </a:r>
            <a:endParaRPr lang="en-US" sz="2800" dirty="0"/>
          </a:p>
        </p:txBody>
      </p:sp>
      <p:sp>
        <p:nvSpPr>
          <p:cNvPr id="10" name="Stat mid label"/>
          <p:cNvSpPr txBox="1"/>
          <p:nvPr/>
        </p:nvSpPr>
        <p:spPr>
          <a:xfrm>
            <a:off x="7406640" y="2478024"/>
            <a:ext cx="4005072" cy="539496"/>
          </a:xfrm>
          <a:prstGeom prst="rect">
            <a:avLst/>
          </a:prstGeom>
          <a:noFill/>
          <a:ln/>
        </p:spPr>
        <p:txBody>
          <a:bodyPr wrap="square" lIns="0" tIns="0" rIns="0" bIns="0" rtlCol="0" anchor="t"/>
          <a:lstStyle/>
          <a:p>
            <a:pPr marL="0" indent="0">
              <a:buNone/>
            </a:pPr>
            <a:r>
              <a:rPr lang="en-US" sz="1400" dirty="0">
                <a:solidFill>
                  <a:schemeClr val="tx1"/>
                </a:solidFill>
              </a:rPr>
              <a:t>mid-sentence stops, mean of three seeds</a:t>
            </a:r>
            <a:endParaRPr lang="en-US" sz="1400" dirty="0"/>
          </a:p>
        </p:txBody>
      </p:sp>
      <p:sp>
        <p:nvSpPr>
          <p:cNvPr id="11" name="Stat early"/>
          <p:cNvSpPr/>
          <p:nvPr/>
        </p:nvSpPr>
        <p:spPr>
          <a:xfrm>
            <a:off x="7178040" y="3246120"/>
            <a:ext cx="4462272" cy="1325880"/>
          </a:xfrm>
          <a:prstGeom prst="roundRect">
            <a:avLst>
              <a:gd name="adj" fmla="val 8276"/>
            </a:avLst>
          </a:prstGeom>
          <a:solidFill>
            <a:schemeClr val="bg2"/>
          </a:solidFill>
          <a:ln w="12700">
            <a:solidFill>
              <a:schemeClr val="bg2"/>
            </a:solidFill>
            <a:prstDash val="solid"/>
          </a:ln>
        </p:spPr>
        <p:txBody>
          <a:bodyPr/>
          <a:lstStyle/>
          <a:p>
            <a:endParaRPr lang="en-US"/>
          </a:p>
        </p:txBody>
      </p:sp>
      <p:sp>
        <p:nvSpPr>
          <p:cNvPr id="12" name="Stat early number"/>
          <p:cNvSpPr txBox="1"/>
          <p:nvPr/>
        </p:nvSpPr>
        <p:spPr>
          <a:xfrm>
            <a:off x="7406640" y="3355848"/>
            <a:ext cx="4005072" cy="530352"/>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62.5% → 56.7%</a:t>
            </a:r>
            <a:endParaRPr lang="en-US" sz="2800" dirty="0"/>
          </a:p>
        </p:txBody>
      </p:sp>
      <p:sp>
        <p:nvSpPr>
          <p:cNvPr id="13" name="Stat early label"/>
          <p:cNvSpPr txBox="1"/>
          <p:nvPr/>
        </p:nvSpPr>
        <p:spPr>
          <a:xfrm>
            <a:off x="7406640" y="3941064"/>
            <a:ext cx="4005072" cy="539496"/>
          </a:xfrm>
          <a:prstGeom prst="rect">
            <a:avLst/>
          </a:prstGeom>
          <a:noFill/>
          <a:ln/>
        </p:spPr>
        <p:txBody>
          <a:bodyPr wrap="square" lIns="0" tIns="0" rIns="0" bIns="0" rtlCol="0" anchor="t"/>
          <a:lstStyle/>
          <a:p>
            <a:pPr marL="0" indent="0">
              <a:buNone/>
            </a:pPr>
            <a:r>
              <a:rPr lang="en-US" sz="1400" dirty="0">
                <a:solidFill>
                  <a:schemeClr val="tx1"/>
                </a:solidFill>
              </a:rPr>
              <a:t>early end-of-text stops, also lower, but a smaller gain</a:t>
            </a:r>
            <a:endParaRPr lang="en-US" sz="1400" dirty="0"/>
          </a:p>
        </p:txBody>
      </p:sp>
      <p:sp>
        <p:nvSpPr>
          <p:cNvPr id="14" name="Rubric card"/>
          <p:cNvSpPr/>
          <p:nvPr/>
        </p:nvSpPr>
        <p:spPr>
          <a:xfrm>
            <a:off x="7178040" y="4709160"/>
            <a:ext cx="4462272" cy="1188720"/>
          </a:xfrm>
          <a:prstGeom prst="roundRect">
            <a:avLst>
              <a:gd name="adj" fmla="val 9231"/>
            </a:avLst>
          </a:prstGeom>
          <a:solidFill>
            <a:schemeClr val="accent1"/>
          </a:solidFill>
          <a:ln w="12700">
            <a:solidFill>
              <a:schemeClr val="accent1"/>
            </a:solidFill>
            <a:prstDash val="solid"/>
          </a:ln>
        </p:spPr>
        <p:txBody>
          <a:bodyPr/>
          <a:lstStyle/>
          <a:p>
            <a:endParaRPr lang="en-US"/>
          </a:p>
        </p:txBody>
      </p:sp>
      <p:sp>
        <p:nvSpPr>
          <p:cNvPr id="15" name="Rubric title"/>
          <p:cNvSpPr txBox="1"/>
          <p:nvPr/>
        </p:nvSpPr>
        <p:spPr>
          <a:xfrm>
            <a:off x="7406640" y="4773168"/>
            <a:ext cx="4023360" cy="274320"/>
          </a:xfrm>
          <a:prstGeom prst="rect">
            <a:avLst/>
          </a:prstGeom>
          <a:noFill/>
          <a:ln/>
        </p:spPr>
        <p:txBody>
          <a:bodyPr wrap="square" lIns="0" tIns="0" rIns="0" bIns="0" rtlCol="0" anchor="t"/>
          <a:lstStyle/>
          <a:p>
            <a:pPr marL="0" indent="0">
              <a:buNone/>
            </a:pPr>
            <a:r>
              <a:rPr lang="en-US" sz="1500" b="1" dirty="0">
                <a:solidFill>
                  <a:schemeClr val="accent4"/>
                </a:solidFill>
                <a:latin typeface="Cambria" pitchFamily="34" charset="0"/>
                <a:ea typeface="Cambria" pitchFamily="34" charset="-122"/>
                <a:cs typeface="Cambria" pitchFamily="34" charset="-120"/>
              </a:rPr>
              <a:t>The old rubric disagrees</a:t>
            </a:r>
            <a:endParaRPr lang="en-US" sz="1500" dirty="0"/>
          </a:p>
        </p:txBody>
      </p:sp>
      <p:sp>
        <p:nvSpPr>
          <p:cNvPr id="16" name="Rubric text"/>
          <p:cNvSpPr txBox="1"/>
          <p:nvPr/>
        </p:nvSpPr>
        <p:spPr>
          <a:xfrm>
            <a:off x="7406640" y="5074920"/>
            <a:ext cx="4023360" cy="777240"/>
          </a:xfrm>
          <a:prstGeom prst="rect">
            <a:avLst/>
          </a:prstGeom>
          <a:noFill/>
          <a:ln/>
        </p:spPr>
        <p:txBody>
          <a:bodyPr wrap="square" lIns="0" tIns="0" rIns="0" bIns="0" rtlCol="0" anchor="t"/>
          <a:lstStyle/>
          <a:p>
            <a:pPr marL="0" indent="0">
              <a:buNone/>
            </a:pPr>
            <a:r>
              <a:rPr lang="en-US" sz="1250" dirty="0">
                <a:solidFill>
                  <a:schemeClr val="bg1"/>
                </a:solidFill>
              </a:rPr>
              <a:t>Untrained Llama scores 0.368 against 0.244 for the repaired adapter. That rubric rewards headings and length, so we do not select by it.</a:t>
            </a:r>
            <a:endParaRPr lang="en-US" sz="1250" dirty="0"/>
          </a:p>
        </p:txBody>
      </p:sp>
      <p:sp>
        <p:nvSpPr>
          <p:cNvPr id="17" name="Source note"/>
          <p:cNvSpPr txBox="1"/>
          <p:nvPr/>
        </p:nvSpPr>
        <p:spPr>
          <a:xfrm>
            <a:off x="548640" y="6035040"/>
            <a:ext cx="11091672" cy="274320"/>
          </a:xfrm>
          <a:prstGeom prst="rect">
            <a:avLst/>
          </a:prstGeom>
          <a:noFill/>
          <a:ln/>
        </p:spPr>
        <p:txBody>
          <a:bodyPr wrap="square" lIns="0" tIns="0" rIns="0" bIns="0" rtlCol="0" anchor="t"/>
          <a:lstStyle/>
          <a:p>
            <a:pPr marL="0" indent="0">
              <a:buNone/>
            </a:pPr>
            <a:r>
              <a:rPr lang="en-US" sz="1000" dirty="0">
                <a:solidFill>
                  <a:schemeClr val="accent5"/>
                </a:solidFill>
              </a:rPr>
              <a:t>120 drafts per seed. Sources: EXP-20261004-003, 005 and 006 (three seeds), EXP-20261001-010 (old rubric).</a:t>
            </a:r>
            <a:endParaRPr lang="en-US" sz="10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778240" cy="731520"/>
          </a:xfrm>
          <a:prstGeom prst="rect">
            <a:avLst/>
          </a:prstGeom>
          <a:noFill/>
          <a:ln/>
        </p:spPr>
        <p:txBody>
          <a:bodyPr wrap="square" lIns="0" tIns="0" rIns="0" bIns="0" rtlCol="0" anchor="ctr"/>
          <a:lstStyle/>
          <a:p>
            <a:pPr marL="0" indent="0" algn="l">
              <a:buNone/>
            </a:pPr>
            <a:r>
              <a:rPr lang="en-US" sz="3200" b="1" dirty="0">
                <a:solidFill>
                  <a:schemeClr val="tx2"/>
                </a:solidFill>
              </a:rPr>
              <a:t>Retrieval adds grounding, not voice</a:t>
            </a:r>
            <a:endParaRPr lang="en-US" sz="3200" dirty="0"/>
          </a:p>
        </p:txBody>
      </p:sp>
      <p:sp>
        <p:nvSpPr>
          <p:cNvPr id="3" name="Text 0"/>
          <p:cNvSpPr>
            <a:spLocks noGrp="1"/>
          </p:cNvSpPr>
          <p:nvPr>
            <p:ph type="body" idx="101" hasCustomPrompt="1"/>
          </p:nvPr>
        </p:nvSpPr>
        <p:spPr>
          <a:xfrm>
            <a:off x="548640" y="1051560"/>
            <a:ext cx="11091672" cy="457200"/>
          </a:xfrm>
          <a:prstGeom prst="rect">
            <a:avLst/>
          </a:prstGeom>
          <a:noFill/>
          <a:ln/>
        </p:spPr>
        <p:txBody>
          <a:bodyPr wrap="square" lIns="0" tIns="0" rIns="0" bIns="0" rtlCol="0" anchor="t"/>
          <a:lstStyle/>
          <a:p>
            <a:pPr marL="0" indent="0" algn="l">
              <a:buNone/>
            </a:pPr>
            <a:r>
              <a:rPr lang="en-US" sz="1800" dirty="0">
                <a:solidFill>
                  <a:schemeClr val="accent5"/>
                </a:solidFill>
              </a:rPr>
              <a:t>The same adapter on the same 120 prompts, with retrieval off and on</a:t>
            </a:r>
            <a:endParaRPr lang="en-US" sz="1800" dirty="0"/>
          </a:p>
        </p:txBody>
      </p:sp>
      <p:sp>
        <p:nvSpPr>
          <p:cNvPr id="4" name="Section chip"/>
          <p:cNvSpPr/>
          <p:nvPr/>
        </p:nvSpPr>
        <p:spPr>
          <a:xfrm>
            <a:off x="9445752" y="475488"/>
            <a:ext cx="219456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5" name="Section chip text"/>
          <p:cNvSpPr txBox="1"/>
          <p:nvPr/>
        </p:nvSpPr>
        <p:spPr>
          <a:xfrm>
            <a:off x="9445752" y="475488"/>
            <a:ext cx="2194560" cy="329184"/>
          </a:xfrm>
          <a:prstGeom prst="rect">
            <a:avLst/>
          </a:prstGeom>
          <a:noFill/>
          <a:ln/>
        </p:spPr>
        <p:txBody>
          <a:bodyPr wrap="square" lIns="0" tIns="0" rIns="0" bIns="0" rtlCol="0" anchor="ctr"/>
          <a:lstStyle/>
          <a:p>
            <a:pPr marL="0" indent="0" algn="ctr">
              <a:buNone/>
            </a:pPr>
            <a:r>
              <a:rPr lang="en-US" sz="1200" b="1" dirty="0">
                <a:solidFill>
                  <a:schemeClr val="bg1"/>
                </a:solidFill>
              </a:rPr>
              <a:t>ML results</a:t>
            </a:r>
            <a:endParaRPr lang="en-US" sz="1200" dirty="0"/>
          </a:p>
        </p:txBody>
      </p:sp>
      <p:sp>
        <p:nvSpPr>
          <p:cNvPr id="6" name="Table card"/>
          <p:cNvSpPr/>
          <p:nvPr/>
        </p:nvSpPr>
        <p:spPr>
          <a:xfrm>
            <a:off x="548640" y="1783080"/>
            <a:ext cx="6858000" cy="4160520"/>
          </a:xfrm>
          <a:prstGeom prst="roundRect">
            <a:avLst>
              <a:gd name="adj" fmla="val 2637"/>
            </a:avLst>
          </a:prstGeom>
          <a:solidFill>
            <a:schemeClr val="bg2"/>
          </a:solidFill>
          <a:ln w="12700">
            <a:solidFill>
              <a:schemeClr val="bg2"/>
            </a:solidFill>
            <a:prstDash val="solid"/>
          </a:ln>
        </p:spPr>
        <p:txBody>
          <a:bodyPr/>
          <a:lstStyle/>
          <a:p>
            <a:endParaRPr lang="en-US"/>
          </a:p>
        </p:txBody>
      </p:sp>
      <p:graphicFrame>
        <p:nvGraphicFramePr>
          <p:cNvPr id="12" name="Comparison table"/>
          <p:cNvGraphicFramePr>
            <a:graphicFrameLocks noGrp="1"/>
          </p:cNvGraphicFramePr>
          <p:nvPr>
            <p:extLst>
              <p:ext uri="{D42A27DB-BD31-4B8C-83A1-F6EECF244321}">
                <p14:modId xmlns:p14="http://schemas.microsoft.com/office/powerpoint/2010/main" val="1579011935"/>
              </p:ext>
            </p:extLst>
          </p:nvPr>
        </p:nvGraphicFramePr>
        <p:xfrm>
          <a:off x="731520" y="1938528"/>
          <a:ext cx="6492240" cy="914400"/>
        </p:xfrm>
        <a:graphic>
          <a:graphicData uri="http://schemas.openxmlformats.org/drawingml/2006/table">
            <a:tbl>
              <a:tblPr/>
              <a:tblGrid>
                <a:gridCol w="32918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374904">
                <a:tc>
                  <a:txBody>
                    <a:bodyPr/>
                    <a:lstStyle/>
                    <a:p>
                      <a:pPr marL="0" indent="0">
                        <a:buNone/>
                      </a:pPr>
                      <a:r>
                        <a:rPr lang="en-US" sz="1300" b="1" dirty="0">
                          <a:solidFill>
                            <a:srgbClr val="FFFFFF"/>
                          </a:solidFill>
                        </a:rPr>
                        <a:t>Metric</a:t>
                      </a:r>
                      <a:endParaRPr lang="en-US" sz="1300" dirty="0"/>
                    </a:p>
                  </a:txBody>
                  <a:tcPr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1F3A5F"/>
                    </a:solidFill>
                  </a:tcPr>
                </a:tc>
                <a:tc>
                  <a:txBody>
                    <a:bodyPr/>
                    <a:lstStyle/>
                    <a:p>
                      <a:pPr marL="0" indent="0" algn="r">
                        <a:buNone/>
                      </a:pPr>
                      <a:r>
                        <a:rPr lang="en-US" sz="1300" b="1" dirty="0">
                          <a:solidFill>
                            <a:srgbClr val="FFFFFF"/>
                          </a:solidFill>
                        </a:rPr>
                        <a:t>Retrieval off</a:t>
                      </a:r>
                      <a:endParaRPr lang="en-US" sz="1300" dirty="0"/>
                    </a:p>
                  </a:txBody>
                  <a:tcPr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1F3A5F"/>
                    </a:solidFill>
                  </a:tcPr>
                </a:tc>
                <a:tc>
                  <a:txBody>
                    <a:bodyPr/>
                    <a:lstStyle/>
                    <a:p>
                      <a:pPr marL="0" indent="0" algn="r">
                        <a:buNone/>
                      </a:pPr>
                      <a:r>
                        <a:rPr lang="en-US" sz="1300" b="1" dirty="0">
                          <a:solidFill>
                            <a:srgbClr val="FFFFFF"/>
                          </a:solidFill>
                        </a:rPr>
                        <a:t>Retrieval on</a:t>
                      </a:r>
                      <a:endParaRPr lang="en-US" sz="1300" dirty="0"/>
                    </a:p>
                  </a:txBody>
                  <a:tcPr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374904">
                <a:tc>
                  <a:txBody>
                    <a:bodyPr/>
                    <a:lstStyle/>
                    <a:p>
                      <a:pPr marL="0" indent="0">
                        <a:buNone/>
                      </a:pPr>
                      <a:r>
                        <a:rPr lang="en-US" sz="1300" dirty="0">
                          <a:solidFill>
                            <a:srgbClr val="1B2433"/>
                          </a:solidFill>
                        </a:rPr>
                        <a:t>Drafts scored</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120</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120</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1"/>
                  </a:ext>
                </a:extLst>
              </a:tr>
              <a:tr h="374904">
                <a:tc>
                  <a:txBody>
                    <a:bodyPr/>
                    <a:lstStyle/>
                    <a:p>
                      <a:pPr marL="0" indent="0">
                        <a:buNone/>
                      </a:pPr>
                      <a:r>
                        <a:rPr lang="en-US" sz="1300" b="1" dirty="0">
                          <a:solidFill>
                            <a:srgbClr val="1B2433"/>
                          </a:solidFill>
                        </a:rPr>
                        <a:t>Eligible after gates</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b="1" dirty="0">
                          <a:solidFill>
                            <a:srgbClr val="1B2433"/>
                          </a:solidFill>
                        </a:rPr>
                        <a:t>77</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b="1" dirty="0">
                          <a:solidFill>
                            <a:srgbClr val="1B2433"/>
                          </a:solidFill>
                        </a:rPr>
                        <a:t>72</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2"/>
                  </a:ext>
                </a:extLst>
              </a:tr>
              <a:tr h="374904">
                <a:tc>
                  <a:txBody>
                    <a:bodyPr/>
                    <a:lstStyle/>
                    <a:p>
                      <a:pPr marL="0" indent="0">
                        <a:buNone/>
                      </a:pPr>
                      <a:r>
                        <a:rPr lang="en-US" sz="1300" dirty="0">
                          <a:solidFill>
                            <a:srgbClr val="1B2433"/>
                          </a:solidFill>
                        </a:rPr>
                        <a:t>Completion failures</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41</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36</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3"/>
                  </a:ext>
                </a:extLst>
              </a:tr>
              <a:tr h="374904">
                <a:tc>
                  <a:txBody>
                    <a:bodyPr/>
                    <a:lstStyle/>
                    <a:p>
                      <a:pPr marL="0" indent="0">
                        <a:buNone/>
                      </a:pPr>
                      <a:r>
                        <a:rPr lang="en-US" sz="1300" dirty="0">
                          <a:solidFill>
                            <a:srgbClr val="1B2433"/>
                          </a:solidFill>
                        </a:rPr>
                        <a:t>Copying failures</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1</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2</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4"/>
                  </a:ext>
                </a:extLst>
              </a:tr>
              <a:tr h="374904">
                <a:tc>
                  <a:txBody>
                    <a:bodyPr/>
                    <a:lstStyle/>
                    <a:p>
                      <a:pPr marL="0" indent="0">
                        <a:buNone/>
                      </a:pPr>
                      <a:r>
                        <a:rPr lang="en-US" sz="1300" dirty="0">
                          <a:solidFill>
                            <a:srgbClr val="1B2433"/>
                          </a:solidFill>
                        </a:rPr>
                        <a:t>Format failures</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5</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3</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5"/>
                  </a:ext>
                </a:extLst>
              </a:tr>
              <a:tr h="374904">
                <a:tc>
                  <a:txBody>
                    <a:bodyPr/>
                    <a:lstStyle/>
                    <a:p>
                      <a:pPr marL="0" indent="0">
                        <a:buNone/>
                      </a:pPr>
                      <a:r>
                        <a:rPr lang="en-US" sz="1300" dirty="0">
                          <a:solidFill>
                            <a:srgbClr val="1B2433"/>
                          </a:solidFill>
                        </a:rPr>
                        <a:t>Grounding failures</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not applicable</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14</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6"/>
                  </a:ext>
                </a:extLst>
              </a:tr>
              <a:tr h="374904">
                <a:tc>
                  <a:txBody>
                    <a:bodyPr/>
                    <a:lstStyle/>
                    <a:p>
                      <a:pPr marL="0" indent="0">
                        <a:buNone/>
                      </a:pPr>
                      <a:r>
                        <a:rPr lang="en-US" sz="1300" dirty="0">
                          <a:solidFill>
                            <a:srgbClr val="1B2433"/>
                          </a:solidFill>
                        </a:rPr>
                        <a:t>Blog voice distance (lower is closer)</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0.712</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0.777</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7"/>
                  </a:ext>
                </a:extLst>
              </a:tr>
              <a:tr h="374904">
                <a:tc>
                  <a:txBody>
                    <a:bodyPr/>
                    <a:lstStyle/>
                    <a:p>
                      <a:pPr marL="0" indent="0">
                        <a:buNone/>
                      </a:pPr>
                      <a:r>
                        <a:rPr lang="en-US" sz="1300" dirty="0">
                          <a:solidFill>
                            <a:srgbClr val="1B2433"/>
                          </a:solidFill>
                        </a:rPr>
                        <a:t>Writing quality (1 to 5)</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3.15</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3.06</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8"/>
                  </a:ext>
                </a:extLst>
              </a:tr>
              <a:tr h="374904">
                <a:tc>
                  <a:txBody>
                    <a:bodyPr/>
                    <a:lstStyle/>
                    <a:p>
                      <a:pPr marL="0" indent="0">
                        <a:buNone/>
                      </a:pPr>
                      <a:r>
                        <a:rPr lang="en-US" sz="1300" dirty="0">
                          <a:solidFill>
                            <a:srgbClr val="1B2433"/>
                          </a:solidFill>
                        </a:rPr>
                        <a:t>Persona utility, blogs that pass</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0.705</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marL="0" indent="0" algn="r">
                        <a:buNone/>
                      </a:pPr>
                      <a:r>
                        <a:rPr lang="en-US" sz="1300" dirty="0">
                          <a:solidFill>
                            <a:srgbClr val="1B2433"/>
                          </a:solidFill>
                        </a:rPr>
                        <a:t>0.688</a:t>
                      </a:r>
                      <a:endParaRPr lang="en-US" sz="1300" dirty="0"/>
                    </a:p>
                  </a:txBody>
                  <a:tcPr anchor="ctr">
                    <a:lnL w="0" cap="flat" cmpd="sng" algn="ctr">
                      <a:noFill/>
                    </a:lnL>
                    <a:lnR w="0" cap="flat" cmpd="sng" algn="ctr">
                      <a:noFill/>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8" name="Stat claims"/>
          <p:cNvSpPr/>
          <p:nvPr/>
        </p:nvSpPr>
        <p:spPr>
          <a:xfrm>
            <a:off x="7589520" y="1783080"/>
            <a:ext cx="4050792" cy="1325880"/>
          </a:xfrm>
          <a:prstGeom prst="roundRect">
            <a:avLst>
              <a:gd name="adj" fmla="val 8276"/>
            </a:avLst>
          </a:prstGeom>
          <a:solidFill>
            <a:schemeClr val="bg2"/>
          </a:solidFill>
          <a:ln w="12700">
            <a:solidFill>
              <a:schemeClr val="bg2"/>
            </a:solidFill>
            <a:prstDash val="solid"/>
          </a:ln>
        </p:spPr>
        <p:txBody>
          <a:bodyPr/>
          <a:lstStyle/>
          <a:p>
            <a:endParaRPr lang="en-US"/>
          </a:p>
        </p:txBody>
      </p:sp>
      <p:sp>
        <p:nvSpPr>
          <p:cNvPr id="9" name="Stat claims number"/>
          <p:cNvSpPr txBox="1"/>
          <p:nvPr/>
        </p:nvSpPr>
        <p:spPr>
          <a:xfrm>
            <a:off x="7818120" y="1892808"/>
            <a:ext cx="3593592" cy="530352"/>
          </a:xfrm>
          <a:prstGeom prst="rect">
            <a:avLst/>
          </a:prstGeom>
          <a:noFill/>
          <a:ln/>
        </p:spPr>
        <p:txBody>
          <a:bodyPr wrap="square" lIns="0" tIns="0" rIns="0" bIns="0" rtlCol="0" anchor="ctr"/>
          <a:lstStyle/>
          <a:p>
            <a:pPr marL="0" indent="0">
              <a:buNone/>
            </a:pPr>
            <a:r>
              <a:rPr lang="en-US" sz="2800" b="1" dirty="0">
                <a:solidFill>
                  <a:schemeClr val="accent3"/>
                </a:solidFill>
                <a:latin typeface="Cambria" pitchFamily="34" charset="0"/>
                <a:ea typeface="Cambria" pitchFamily="34" charset="-122"/>
                <a:cs typeface="Cambria" pitchFamily="34" charset="-120"/>
              </a:rPr>
              <a:t>495 of 498</a:t>
            </a:r>
            <a:endParaRPr lang="en-US" sz="2800" dirty="0"/>
          </a:p>
        </p:txBody>
      </p:sp>
      <p:sp>
        <p:nvSpPr>
          <p:cNvPr id="10" name="Stat claims label"/>
          <p:cNvSpPr txBox="1"/>
          <p:nvPr/>
        </p:nvSpPr>
        <p:spPr>
          <a:xfrm>
            <a:off x="7818120" y="2478024"/>
            <a:ext cx="3593592" cy="539496"/>
          </a:xfrm>
          <a:prstGeom prst="rect">
            <a:avLst/>
          </a:prstGeom>
          <a:noFill/>
          <a:ln/>
        </p:spPr>
        <p:txBody>
          <a:bodyPr wrap="square" lIns="0" tIns="0" rIns="0" bIns="0" rtlCol="0" anchor="t"/>
          <a:lstStyle/>
          <a:p>
            <a:pPr marL="0" indent="0">
              <a:buNone/>
            </a:pPr>
            <a:r>
              <a:rPr lang="en-US" sz="1400" dirty="0">
                <a:solidFill>
                  <a:schemeClr val="tx1"/>
                </a:solidFill>
              </a:rPr>
              <a:t>verifiable claims supported by their source (99.4%)</a:t>
            </a:r>
            <a:endParaRPr lang="en-US" sz="1400" dirty="0"/>
          </a:p>
        </p:txBody>
      </p:sp>
      <p:sp>
        <p:nvSpPr>
          <p:cNvPr id="11" name="Stat grounding"/>
          <p:cNvSpPr/>
          <p:nvPr/>
        </p:nvSpPr>
        <p:spPr>
          <a:xfrm>
            <a:off x="7589520" y="3246120"/>
            <a:ext cx="4050792" cy="1325880"/>
          </a:xfrm>
          <a:prstGeom prst="roundRect">
            <a:avLst>
              <a:gd name="adj" fmla="val 8276"/>
            </a:avLst>
          </a:prstGeom>
          <a:solidFill>
            <a:schemeClr val="bg2"/>
          </a:solidFill>
          <a:ln w="12700">
            <a:solidFill>
              <a:schemeClr val="bg2"/>
            </a:solidFill>
            <a:prstDash val="solid"/>
          </a:ln>
        </p:spPr>
        <p:txBody>
          <a:bodyPr/>
          <a:lstStyle/>
          <a:p>
            <a:endParaRPr lang="en-US"/>
          </a:p>
        </p:txBody>
      </p:sp>
      <p:sp>
        <p:nvSpPr>
          <p:cNvPr id="7" name="Stat grounding number"/>
          <p:cNvSpPr txBox="1"/>
          <p:nvPr/>
        </p:nvSpPr>
        <p:spPr>
          <a:xfrm>
            <a:off x="7818120" y="3355848"/>
            <a:ext cx="3593592" cy="530352"/>
          </a:xfrm>
          <a:prstGeom prst="rect">
            <a:avLst/>
          </a:prstGeom>
          <a:noFill/>
          <a:ln/>
        </p:spPr>
        <p:txBody>
          <a:bodyPr wrap="square" lIns="0" tIns="0" rIns="0" bIns="0" rtlCol="0" anchor="ctr"/>
          <a:lstStyle/>
          <a:p>
            <a:pPr marL="0" indent="0">
              <a:buNone/>
            </a:pPr>
            <a:r>
              <a:rPr lang="en-US" sz="2800" b="1" dirty="0">
                <a:solidFill>
                  <a:schemeClr val="accent4"/>
                </a:solidFill>
                <a:latin typeface="Cambria" pitchFamily="34" charset="0"/>
                <a:ea typeface="Cambria" pitchFamily="34" charset="-122"/>
                <a:cs typeface="Cambria" pitchFamily="34" charset="-120"/>
              </a:rPr>
              <a:t>14 and 60</a:t>
            </a:r>
            <a:endParaRPr lang="en-US" sz="2800" dirty="0"/>
          </a:p>
        </p:txBody>
      </p:sp>
      <p:sp>
        <p:nvSpPr>
          <p:cNvPr id="13" name="Stat grounding label"/>
          <p:cNvSpPr txBox="1"/>
          <p:nvPr/>
        </p:nvSpPr>
        <p:spPr>
          <a:xfrm>
            <a:off x="7818120" y="3941064"/>
            <a:ext cx="3593592" cy="539496"/>
          </a:xfrm>
          <a:prstGeom prst="rect">
            <a:avLst/>
          </a:prstGeom>
          <a:noFill/>
          <a:ln/>
        </p:spPr>
        <p:txBody>
          <a:bodyPr wrap="square" lIns="0" tIns="0" rIns="0" bIns="0" rtlCol="0" anchor="t"/>
          <a:lstStyle/>
          <a:p>
            <a:pPr marL="0" indent="0">
              <a:buNone/>
            </a:pPr>
            <a:r>
              <a:rPr lang="en-US" sz="1400" dirty="0">
                <a:solidFill>
                  <a:schemeClr val="tx1"/>
                </a:solidFill>
              </a:rPr>
              <a:t>drafts failed the grounding gate (14). Another 60 carry a number the evidence lacks</a:t>
            </a:r>
            <a:endParaRPr lang="en-US" sz="1400" dirty="0"/>
          </a:p>
        </p:txBody>
      </p:sp>
      <p:sp>
        <p:nvSpPr>
          <p:cNvPr id="14" name="Stat linkedin"/>
          <p:cNvSpPr/>
          <p:nvPr/>
        </p:nvSpPr>
        <p:spPr>
          <a:xfrm>
            <a:off x="7589520" y="4709160"/>
            <a:ext cx="4050792" cy="1234440"/>
          </a:xfrm>
          <a:prstGeom prst="roundRect">
            <a:avLst>
              <a:gd name="adj" fmla="val 8889"/>
            </a:avLst>
          </a:prstGeom>
          <a:solidFill>
            <a:schemeClr val="bg2"/>
          </a:solidFill>
          <a:ln w="12700">
            <a:solidFill>
              <a:schemeClr val="bg2"/>
            </a:solidFill>
            <a:prstDash val="solid"/>
          </a:ln>
        </p:spPr>
        <p:txBody>
          <a:bodyPr/>
          <a:lstStyle/>
          <a:p>
            <a:endParaRPr lang="en-US"/>
          </a:p>
        </p:txBody>
      </p:sp>
      <p:sp>
        <p:nvSpPr>
          <p:cNvPr id="15" name="Stat linkedin number"/>
          <p:cNvSpPr txBox="1"/>
          <p:nvPr/>
        </p:nvSpPr>
        <p:spPr>
          <a:xfrm>
            <a:off x="7818120" y="4818888"/>
            <a:ext cx="3593592" cy="530352"/>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7 of 30</a:t>
            </a:r>
            <a:endParaRPr lang="en-US" sz="2800" dirty="0"/>
          </a:p>
        </p:txBody>
      </p:sp>
      <p:sp>
        <p:nvSpPr>
          <p:cNvPr id="16" name="Stat linkedin label"/>
          <p:cNvSpPr txBox="1"/>
          <p:nvPr/>
        </p:nvSpPr>
        <p:spPr>
          <a:xfrm>
            <a:off x="7818120" y="5404104"/>
            <a:ext cx="3593592" cy="448056"/>
          </a:xfrm>
          <a:prstGeom prst="rect">
            <a:avLst/>
          </a:prstGeom>
          <a:noFill/>
          <a:ln/>
        </p:spPr>
        <p:txBody>
          <a:bodyPr wrap="square" lIns="0" tIns="0" rIns="0" bIns="0" rtlCol="0" anchor="t"/>
          <a:lstStyle/>
          <a:p>
            <a:pPr marL="0" indent="0">
              <a:buNone/>
            </a:pPr>
            <a:r>
              <a:rPr lang="en-US" sz="1400" dirty="0">
                <a:solidFill>
                  <a:schemeClr val="tx1"/>
                </a:solidFill>
              </a:rPr>
              <a:t>LinkedIn drafts eligible without retrieval, 9 with it. Our weakest medium</a:t>
            </a:r>
            <a:endParaRPr lang="en-US" sz="1400" dirty="0"/>
          </a:p>
        </p:txBody>
      </p:sp>
      <p:sp>
        <p:nvSpPr>
          <p:cNvPr id="17" name="Source note"/>
          <p:cNvSpPr txBox="1"/>
          <p:nvPr/>
        </p:nvSpPr>
        <p:spPr>
          <a:xfrm>
            <a:off x="548640" y="6053328"/>
            <a:ext cx="11091672" cy="274320"/>
          </a:xfrm>
          <a:prstGeom prst="rect">
            <a:avLst/>
          </a:prstGeom>
          <a:noFill/>
          <a:ln/>
        </p:spPr>
        <p:txBody>
          <a:bodyPr wrap="square" lIns="0" tIns="0" rIns="0" bIns="0" rtlCol="0" anchor="t"/>
          <a:lstStyle/>
          <a:p>
            <a:pPr marL="0" indent="0">
              <a:buNone/>
            </a:pPr>
            <a:r>
              <a:rPr lang="en-US" sz="1000" dirty="0">
                <a:solidFill>
                  <a:schemeClr val="accent5"/>
                </a:solidFill>
              </a:rPr>
              <a:t>Source: EXP-20261005-003. Persona utility uses weights 0.45 style, 0.20 stance, 0.25 writing, 0.10 task, for blog drafts that pass every gate.</a:t>
            </a:r>
            <a:endParaRPr lang="en-US" sz="10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778240" cy="731520"/>
          </a:xfrm>
          <a:prstGeom prst="rect">
            <a:avLst/>
          </a:prstGeom>
          <a:noFill/>
          <a:ln/>
        </p:spPr>
        <p:txBody>
          <a:bodyPr wrap="square" lIns="0" tIns="0" rIns="0" bIns="0" rtlCol="0" anchor="ctr"/>
          <a:lstStyle/>
          <a:p>
            <a:pPr marL="0" indent="0" algn="l">
              <a:buNone/>
            </a:pPr>
            <a:r>
              <a:rPr lang="en-US" sz="3200" b="1" dirty="0">
                <a:solidFill>
                  <a:schemeClr val="tx2"/>
                </a:solidFill>
              </a:rPr>
              <a:t>The live system on AWS</a:t>
            </a:r>
            <a:endParaRPr lang="en-US" sz="3200" dirty="0"/>
          </a:p>
        </p:txBody>
      </p:sp>
      <p:sp>
        <p:nvSpPr>
          <p:cNvPr id="3" name="Text 0"/>
          <p:cNvSpPr>
            <a:spLocks noGrp="1"/>
          </p:cNvSpPr>
          <p:nvPr>
            <p:ph type="body" idx="101" hasCustomPrompt="1"/>
          </p:nvPr>
        </p:nvSpPr>
        <p:spPr>
          <a:xfrm>
            <a:off x="548640" y="1051560"/>
            <a:ext cx="11091672" cy="457200"/>
          </a:xfrm>
          <a:prstGeom prst="rect">
            <a:avLst/>
          </a:prstGeom>
          <a:noFill/>
          <a:ln/>
        </p:spPr>
        <p:txBody>
          <a:bodyPr wrap="square" lIns="0" tIns="0" rIns="0" bIns="0" rtlCol="0" anchor="t"/>
          <a:lstStyle/>
          <a:p>
            <a:pPr marL="0" indent="0" algn="l">
              <a:buNone/>
            </a:pPr>
            <a:r>
              <a:rPr lang="en-US" sz="1800" dirty="0">
                <a:solidFill>
                  <a:schemeClr val="accent5"/>
                </a:solidFill>
              </a:rPr>
              <a:t>PersonaRAG and direct QLoRA are live. Model E is next to move behind the same API</a:t>
            </a:r>
            <a:endParaRPr lang="en-US" sz="1800" dirty="0"/>
          </a:p>
        </p:txBody>
      </p:sp>
      <p:sp>
        <p:nvSpPr>
          <p:cNvPr id="4" name="Section chip"/>
          <p:cNvSpPr/>
          <p:nvPr/>
        </p:nvSpPr>
        <p:spPr>
          <a:xfrm>
            <a:off x="9445752" y="475488"/>
            <a:ext cx="219456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5" name="Section chip text"/>
          <p:cNvSpPr txBox="1"/>
          <p:nvPr/>
        </p:nvSpPr>
        <p:spPr>
          <a:xfrm>
            <a:off x="9445752" y="475488"/>
            <a:ext cx="2194560" cy="329184"/>
          </a:xfrm>
          <a:prstGeom prst="rect">
            <a:avLst/>
          </a:prstGeom>
          <a:noFill/>
          <a:ln/>
        </p:spPr>
        <p:txBody>
          <a:bodyPr wrap="square" lIns="0" tIns="0" rIns="0" bIns="0" rtlCol="0" anchor="ctr"/>
          <a:lstStyle/>
          <a:p>
            <a:pPr marL="0" indent="0" algn="ctr">
              <a:buNone/>
            </a:pPr>
            <a:r>
              <a:rPr lang="en-US" sz="1200" b="1" dirty="0">
                <a:solidFill>
                  <a:schemeClr val="bg1"/>
                </a:solidFill>
              </a:rPr>
              <a:t>Live demo</a:t>
            </a:r>
            <a:endParaRPr lang="en-US" sz="1200" dirty="0"/>
          </a:p>
        </p:txBody>
      </p:sp>
      <p:sp>
        <p:nvSpPr>
          <p:cNvPr id="6" name="Screenshot frame"/>
          <p:cNvSpPr/>
          <p:nvPr/>
        </p:nvSpPr>
        <p:spPr>
          <a:xfrm>
            <a:off x="548640" y="1783080"/>
            <a:ext cx="6675120" cy="3246120"/>
          </a:xfrm>
          <a:prstGeom prst="roundRect">
            <a:avLst>
              <a:gd name="adj" fmla="val 2817"/>
            </a:avLst>
          </a:prstGeom>
          <a:solidFill>
            <a:schemeClr val="bg1"/>
          </a:solidFill>
          <a:ln w="6350">
            <a:solidFill>
              <a:schemeClr val="accent5"/>
            </a:solidFill>
            <a:prstDash val="solid"/>
          </a:ln>
        </p:spPr>
        <p:txBody>
          <a:bodyPr/>
          <a:lstStyle/>
          <a:p>
            <a:endParaRPr lang="en-US"/>
          </a:p>
        </p:txBody>
      </p:sp>
      <p:pic>
        <p:nvPicPr>
          <p:cNvPr id="7" name="Live app screenshot" descr="Lemkin Studio generator: direct QLoRA writes a LinkedIn draft about assembling a technical team"/>
          <p:cNvPicPr>
            <a:picLocks noChangeAspect="1"/>
          </p:cNvPicPr>
          <p:nvPr/>
        </p:nvPicPr>
        <p:blipFill>
          <a:blip r:embed="rId3"/>
          <a:stretch>
            <a:fillRect/>
          </a:stretch>
        </p:blipFill>
        <p:spPr>
          <a:xfrm>
            <a:off x="640080" y="1874520"/>
            <a:ext cx="6492240" cy="3067812"/>
          </a:xfrm>
          <a:prstGeom prst="rect">
            <a:avLst/>
          </a:prstGeom>
        </p:spPr>
      </p:pic>
      <p:sp>
        <p:nvSpPr>
          <p:cNvPr id="8" name="Screenshot caption"/>
          <p:cNvSpPr txBox="1"/>
          <p:nvPr/>
        </p:nvSpPr>
        <p:spPr>
          <a:xfrm>
            <a:off x="548640" y="5074920"/>
            <a:ext cx="6675120" cy="274320"/>
          </a:xfrm>
          <a:prstGeom prst="rect">
            <a:avLst/>
          </a:prstGeom>
          <a:noFill/>
          <a:ln/>
        </p:spPr>
        <p:txBody>
          <a:bodyPr wrap="square" lIns="0" tIns="0" rIns="0" bIns="0" rtlCol="0" anchor="t"/>
          <a:lstStyle/>
          <a:p>
            <a:pPr marL="0" indent="0">
              <a:buNone/>
            </a:pPr>
            <a:r>
              <a:rPr lang="en-US" sz="1200" dirty="0">
                <a:solidFill>
                  <a:schemeClr val="accent5"/>
                </a:solidFill>
              </a:rPr>
              <a:t>Direct QLoRA (Relabel GGUF) writing a LinkedIn draft on “Assembling a technical team”</a:t>
            </a:r>
            <a:endParaRPr lang="en-US" sz="1200" dirty="0"/>
          </a:p>
        </p:txBody>
      </p:sp>
      <p:sp>
        <p:nvSpPr>
          <p:cNvPr id="9" name="Chain 1"/>
          <p:cNvSpPr/>
          <p:nvPr/>
        </p:nvSpPr>
        <p:spPr>
          <a:xfrm>
            <a:off x="548640" y="5486400"/>
            <a:ext cx="1115568" cy="640080"/>
          </a:xfrm>
          <a:prstGeom prst="roundRect">
            <a:avLst>
              <a:gd name="adj" fmla="val 11429"/>
            </a:avLst>
          </a:prstGeom>
          <a:solidFill>
            <a:schemeClr val="accent1"/>
          </a:solidFill>
          <a:ln w="12700">
            <a:solidFill>
              <a:schemeClr val="accent1"/>
            </a:solidFill>
            <a:prstDash val="solid"/>
          </a:ln>
        </p:spPr>
        <p:txBody>
          <a:bodyPr/>
          <a:lstStyle/>
          <a:p>
            <a:endParaRPr lang="en-US"/>
          </a:p>
        </p:txBody>
      </p:sp>
      <p:sp>
        <p:nvSpPr>
          <p:cNvPr id="10" name="Chain 1 text"/>
          <p:cNvSpPr txBox="1"/>
          <p:nvPr/>
        </p:nvSpPr>
        <p:spPr>
          <a:xfrm>
            <a:off x="594360" y="5486400"/>
            <a:ext cx="1024128" cy="640080"/>
          </a:xfrm>
          <a:prstGeom prst="rect">
            <a:avLst/>
          </a:prstGeom>
          <a:noFill/>
          <a:ln/>
        </p:spPr>
        <p:txBody>
          <a:bodyPr wrap="square" lIns="0" tIns="0" rIns="0" bIns="0" rtlCol="0" anchor="ctr"/>
          <a:lstStyle/>
          <a:p>
            <a:pPr marL="0" indent="0" algn="ctr">
              <a:buNone/>
            </a:pPr>
            <a:r>
              <a:rPr lang="en-US" sz="1200" b="1" dirty="0">
                <a:solidFill>
                  <a:schemeClr val="bg1"/>
                </a:solidFill>
              </a:rPr>
              <a:t>Browser</a:t>
            </a:r>
            <a:endParaRPr lang="en-US" sz="1200" dirty="0"/>
          </a:p>
        </p:txBody>
      </p:sp>
      <p:sp>
        <p:nvSpPr>
          <p:cNvPr id="11" name="Chain arrow 1"/>
          <p:cNvSpPr/>
          <p:nvPr/>
        </p:nvSpPr>
        <p:spPr>
          <a:xfrm>
            <a:off x="1700784" y="5696712"/>
            <a:ext cx="201168" cy="219456"/>
          </a:xfrm>
          <a:prstGeom prst="rightArrow">
            <a:avLst/>
          </a:prstGeom>
          <a:solidFill>
            <a:schemeClr val="accent5"/>
          </a:solidFill>
          <a:ln w="12700">
            <a:solidFill>
              <a:schemeClr val="accent5"/>
            </a:solidFill>
            <a:prstDash val="solid"/>
          </a:ln>
        </p:spPr>
        <p:txBody>
          <a:bodyPr/>
          <a:lstStyle/>
          <a:p>
            <a:endParaRPr lang="en-US"/>
          </a:p>
        </p:txBody>
      </p:sp>
      <p:sp>
        <p:nvSpPr>
          <p:cNvPr id="12" name="Chain 2"/>
          <p:cNvSpPr/>
          <p:nvPr/>
        </p:nvSpPr>
        <p:spPr>
          <a:xfrm>
            <a:off x="1938528" y="5486400"/>
            <a:ext cx="1115568" cy="640080"/>
          </a:xfrm>
          <a:prstGeom prst="roundRect">
            <a:avLst>
              <a:gd name="adj" fmla="val 11429"/>
            </a:avLst>
          </a:prstGeom>
          <a:solidFill>
            <a:schemeClr val="accent4"/>
          </a:solidFill>
          <a:ln w="12700">
            <a:solidFill>
              <a:schemeClr val="accent4"/>
            </a:solidFill>
            <a:prstDash val="solid"/>
          </a:ln>
        </p:spPr>
        <p:txBody>
          <a:bodyPr/>
          <a:lstStyle/>
          <a:p>
            <a:endParaRPr lang="en-US"/>
          </a:p>
        </p:txBody>
      </p:sp>
      <p:sp>
        <p:nvSpPr>
          <p:cNvPr id="13" name="Chain 2 text"/>
          <p:cNvSpPr txBox="1"/>
          <p:nvPr/>
        </p:nvSpPr>
        <p:spPr>
          <a:xfrm>
            <a:off x="1984248" y="5486400"/>
            <a:ext cx="1024128" cy="640080"/>
          </a:xfrm>
          <a:prstGeom prst="rect">
            <a:avLst/>
          </a:prstGeom>
          <a:noFill/>
          <a:ln/>
        </p:spPr>
        <p:txBody>
          <a:bodyPr wrap="square" lIns="0" tIns="0" rIns="0" bIns="0" rtlCol="0" anchor="ctr"/>
          <a:lstStyle/>
          <a:p>
            <a:pPr marL="0" indent="0" algn="ctr">
              <a:buNone/>
            </a:pPr>
            <a:r>
              <a:rPr lang="en-US" sz="1200" b="1" dirty="0">
                <a:solidFill>
                  <a:schemeClr val="bg1"/>
                </a:solidFill>
              </a:rPr>
              <a:t>Password gateway</a:t>
            </a:r>
            <a:endParaRPr lang="en-US" sz="1200" dirty="0"/>
          </a:p>
        </p:txBody>
      </p:sp>
      <p:sp>
        <p:nvSpPr>
          <p:cNvPr id="14" name="Chain arrow 2"/>
          <p:cNvSpPr/>
          <p:nvPr/>
        </p:nvSpPr>
        <p:spPr>
          <a:xfrm>
            <a:off x="3090672" y="5696712"/>
            <a:ext cx="201168" cy="219456"/>
          </a:xfrm>
          <a:prstGeom prst="rightArrow">
            <a:avLst/>
          </a:prstGeom>
          <a:solidFill>
            <a:schemeClr val="accent5"/>
          </a:solidFill>
          <a:ln w="12700">
            <a:solidFill>
              <a:schemeClr val="accent5"/>
            </a:solidFill>
            <a:prstDash val="solid"/>
          </a:ln>
        </p:spPr>
        <p:txBody>
          <a:bodyPr/>
          <a:lstStyle/>
          <a:p>
            <a:endParaRPr lang="en-US"/>
          </a:p>
        </p:txBody>
      </p:sp>
      <p:sp>
        <p:nvSpPr>
          <p:cNvPr id="15" name="Chain 3"/>
          <p:cNvSpPr/>
          <p:nvPr/>
        </p:nvSpPr>
        <p:spPr>
          <a:xfrm>
            <a:off x="3328416" y="5486400"/>
            <a:ext cx="1115568" cy="640080"/>
          </a:xfrm>
          <a:prstGeom prst="roundRect">
            <a:avLst>
              <a:gd name="adj" fmla="val 11429"/>
            </a:avLst>
          </a:prstGeom>
          <a:solidFill>
            <a:schemeClr val="accent1"/>
          </a:solidFill>
          <a:ln w="12700">
            <a:solidFill>
              <a:schemeClr val="accent1"/>
            </a:solidFill>
            <a:prstDash val="solid"/>
          </a:ln>
        </p:spPr>
        <p:txBody>
          <a:bodyPr/>
          <a:lstStyle/>
          <a:p>
            <a:endParaRPr lang="en-US"/>
          </a:p>
        </p:txBody>
      </p:sp>
      <p:sp>
        <p:nvSpPr>
          <p:cNvPr id="16" name="Chain 3 text"/>
          <p:cNvSpPr txBox="1"/>
          <p:nvPr/>
        </p:nvSpPr>
        <p:spPr>
          <a:xfrm>
            <a:off x="3374136" y="5486400"/>
            <a:ext cx="1024128" cy="640080"/>
          </a:xfrm>
          <a:prstGeom prst="rect">
            <a:avLst/>
          </a:prstGeom>
          <a:noFill/>
          <a:ln/>
        </p:spPr>
        <p:txBody>
          <a:bodyPr wrap="square" lIns="0" tIns="0" rIns="0" bIns="0" rtlCol="0" anchor="ctr"/>
          <a:lstStyle/>
          <a:p>
            <a:pPr marL="0" indent="0" algn="ctr">
              <a:buNone/>
            </a:pPr>
            <a:r>
              <a:rPr lang="en-US" sz="1200" b="1" dirty="0">
                <a:solidFill>
                  <a:schemeClr val="bg1"/>
                </a:solidFill>
              </a:rPr>
              <a:t>Next.js app</a:t>
            </a:r>
            <a:endParaRPr lang="en-US" sz="1200" dirty="0"/>
          </a:p>
        </p:txBody>
      </p:sp>
      <p:sp>
        <p:nvSpPr>
          <p:cNvPr id="17" name="Chain arrow 3"/>
          <p:cNvSpPr/>
          <p:nvPr/>
        </p:nvSpPr>
        <p:spPr>
          <a:xfrm>
            <a:off x="4480560" y="5696712"/>
            <a:ext cx="201168" cy="219456"/>
          </a:xfrm>
          <a:prstGeom prst="rightArrow">
            <a:avLst/>
          </a:prstGeom>
          <a:solidFill>
            <a:schemeClr val="accent5"/>
          </a:solidFill>
          <a:ln w="12700">
            <a:solidFill>
              <a:schemeClr val="accent5"/>
            </a:solidFill>
            <a:prstDash val="solid"/>
          </a:ln>
        </p:spPr>
        <p:txBody>
          <a:bodyPr/>
          <a:lstStyle/>
          <a:p>
            <a:endParaRPr lang="en-US"/>
          </a:p>
        </p:txBody>
      </p:sp>
      <p:sp>
        <p:nvSpPr>
          <p:cNvPr id="18" name="Chain 4"/>
          <p:cNvSpPr/>
          <p:nvPr/>
        </p:nvSpPr>
        <p:spPr>
          <a:xfrm>
            <a:off x="4718304" y="5486400"/>
            <a:ext cx="1115568" cy="640080"/>
          </a:xfrm>
          <a:prstGeom prst="roundRect">
            <a:avLst>
              <a:gd name="adj" fmla="val 11429"/>
            </a:avLst>
          </a:prstGeom>
          <a:solidFill>
            <a:schemeClr val="accent1"/>
          </a:solidFill>
          <a:ln w="12700">
            <a:solidFill>
              <a:schemeClr val="accent1"/>
            </a:solidFill>
            <a:prstDash val="solid"/>
          </a:ln>
        </p:spPr>
        <p:txBody>
          <a:bodyPr/>
          <a:lstStyle/>
          <a:p>
            <a:endParaRPr lang="en-US"/>
          </a:p>
        </p:txBody>
      </p:sp>
      <p:sp>
        <p:nvSpPr>
          <p:cNvPr id="19" name="Chain 4 text"/>
          <p:cNvSpPr txBox="1"/>
          <p:nvPr/>
        </p:nvSpPr>
        <p:spPr>
          <a:xfrm>
            <a:off x="4764024" y="5486400"/>
            <a:ext cx="1024128" cy="640080"/>
          </a:xfrm>
          <a:prstGeom prst="rect">
            <a:avLst/>
          </a:prstGeom>
          <a:noFill/>
          <a:ln/>
        </p:spPr>
        <p:txBody>
          <a:bodyPr wrap="square" lIns="0" tIns="0" rIns="0" bIns="0" rtlCol="0" anchor="ctr"/>
          <a:lstStyle/>
          <a:p>
            <a:pPr marL="0" indent="0" algn="ctr">
              <a:buNone/>
            </a:pPr>
            <a:r>
              <a:rPr lang="en-US" sz="1200" b="1" dirty="0">
                <a:solidFill>
                  <a:schemeClr val="bg1"/>
                </a:solidFill>
              </a:rPr>
              <a:t>FastAPI</a:t>
            </a:r>
            <a:endParaRPr lang="en-US" sz="1200" dirty="0"/>
          </a:p>
        </p:txBody>
      </p:sp>
      <p:sp>
        <p:nvSpPr>
          <p:cNvPr id="20" name="Chain arrow 4"/>
          <p:cNvSpPr/>
          <p:nvPr/>
        </p:nvSpPr>
        <p:spPr>
          <a:xfrm>
            <a:off x="5870448" y="5696712"/>
            <a:ext cx="201168" cy="219456"/>
          </a:xfrm>
          <a:prstGeom prst="rightArrow">
            <a:avLst/>
          </a:prstGeom>
          <a:solidFill>
            <a:schemeClr val="accent5"/>
          </a:solidFill>
          <a:ln w="12700">
            <a:solidFill>
              <a:schemeClr val="accent5"/>
            </a:solidFill>
            <a:prstDash val="solid"/>
          </a:ln>
        </p:spPr>
        <p:txBody>
          <a:bodyPr/>
          <a:lstStyle/>
          <a:p>
            <a:endParaRPr lang="en-US"/>
          </a:p>
        </p:txBody>
      </p:sp>
      <p:sp>
        <p:nvSpPr>
          <p:cNvPr id="21" name="Chain 5"/>
          <p:cNvSpPr/>
          <p:nvPr/>
        </p:nvSpPr>
        <p:spPr>
          <a:xfrm>
            <a:off x="6108192" y="5486400"/>
            <a:ext cx="1115568" cy="640080"/>
          </a:xfrm>
          <a:prstGeom prst="roundRect">
            <a:avLst>
              <a:gd name="adj" fmla="val 11429"/>
            </a:avLst>
          </a:prstGeom>
          <a:solidFill>
            <a:schemeClr val="accent1"/>
          </a:solidFill>
          <a:ln w="12700">
            <a:solidFill>
              <a:schemeClr val="accent1"/>
            </a:solidFill>
            <a:prstDash val="solid"/>
          </a:ln>
        </p:spPr>
        <p:txBody>
          <a:bodyPr/>
          <a:lstStyle/>
          <a:p>
            <a:endParaRPr lang="en-US"/>
          </a:p>
        </p:txBody>
      </p:sp>
      <p:sp>
        <p:nvSpPr>
          <p:cNvPr id="22" name="Chain 5 text"/>
          <p:cNvSpPr txBox="1"/>
          <p:nvPr/>
        </p:nvSpPr>
        <p:spPr>
          <a:xfrm>
            <a:off x="6153912" y="5486400"/>
            <a:ext cx="1024128" cy="640080"/>
          </a:xfrm>
          <a:prstGeom prst="rect">
            <a:avLst/>
          </a:prstGeom>
          <a:noFill/>
          <a:ln/>
        </p:spPr>
        <p:txBody>
          <a:bodyPr wrap="square" lIns="0" tIns="0" rIns="0" bIns="0" rtlCol="0" anchor="ctr"/>
          <a:lstStyle/>
          <a:p>
            <a:pPr marL="0" indent="0" algn="ctr">
              <a:buNone/>
            </a:pPr>
            <a:r>
              <a:rPr lang="en-US" sz="1200" b="1" dirty="0">
                <a:solidFill>
                  <a:schemeClr val="bg1"/>
                </a:solidFill>
              </a:rPr>
              <a:t>Ollama + ChromaDB</a:t>
            </a:r>
            <a:endParaRPr lang="en-US" sz="1200" dirty="0"/>
          </a:p>
        </p:txBody>
      </p:sp>
      <p:sp>
        <p:nvSpPr>
          <p:cNvPr id="23" name="Live card 1"/>
          <p:cNvSpPr/>
          <p:nvPr/>
        </p:nvSpPr>
        <p:spPr>
          <a:xfrm>
            <a:off x="7498080" y="1783080"/>
            <a:ext cx="4142232" cy="1024128"/>
          </a:xfrm>
          <a:prstGeom prst="roundRect">
            <a:avLst>
              <a:gd name="adj" fmla="val 10714"/>
            </a:avLst>
          </a:prstGeom>
          <a:solidFill>
            <a:schemeClr val="bg2"/>
          </a:solidFill>
          <a:ln w="12700">
            <a:solidFill>
              <a:schemeClr val="bg2"/>
            </a:solidFill>
            <a:prstDash val="solid"/>
          </a:ln>
        </p:spPr>
        <p:txBody>
          <a:bodyPr/>
          <a:lstStyle/>
          <a:p>
            <a:endParaRPr lang="en-US"/>
          </a:p>
        </p:txBody>
      </p:sp>
      <p:sp>
        <p:nvSpPr>
          <p:cNvPr id="24" name="Live 1 circle"/>
          <p:cNvSpPr/>
          <p:nvPr/>
        </p:nvSpPr>
        <p:spPr>
          <a:xfrm>
            <a:off x="7662672" y="1911096"/>
            <a:ext cx="384048" cy="384048"/>
          </a:xfrm>
          <a:prstGeom prst="ellipse">
            <a:avLst/>
          </a:prstGeom>
          <a:solidFill>
            <a:schemeClr val="accent1"/>
          </a:solidFill>
          <a:ln w="12700">
            <a:solidFill>
              <a:schemeClr val="accent1"/>
            </a:solidFill>
            <a:prstDash val="solid"/>
          </a:ln>
        </p:spPr>
        <p:txBody>
          <a:bodyPr/>
          <a:lstStyle/>
          <a:p>
            <a:endParaRPr lang="en-US"/>
          </a:p>
        </p:txBody>
      </p:sp>
      <p:pic>
        <p:nvPicPr>
          <p:cNvPr id="25" name="Live 1 icon" descr="Live 1"/>
          <p:cNvPicPr>
            <a:picLocks noChangeAspect="1"/>
          </p:cNvPicPr>
          <p:nvPr/>
        </p:nvPicPr>
        <p:blipFill>
          <a:blip r:embed="rId4"/>
          <a:stretch>
            <a:fillRect/>
          </a:stretch>
        </p:blipFill>
        <p:spPr>
          <a:xfrm>
            <a:off x="7758684" y="2007108"/>
            <a:ext cx="192024" cy="192024"/>
          </a:xfrm>
          <a:prstGeom prst="rect">
            <a:avLst/>
          </a:prstGeom>
        </p:spPr>
      </p:pic>
      <p:sp>
        <p:nvSpPr>
          <p:cNvPr id="26" name="Live 1 title"/>
          <p:cNvSpPr txBox="1"/>
          <p:nvPr/>
        </p:nvSpPr>
        <p:spPr>
          <a:xfrm>
            <a:off x="8183880" y="1874520"/>
            <a:ext cx="3337560" cy="310896"/>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One AWS host</a:t>
            </a:r>
            <a:endParaRPr lang="en-US" sz="1500" dirty="0"/>
          </a:p>
        </p:txBody>
      </p:sp>
      <p:sp>
        <p:nvSpPr>
          <p:cNvPr id="27" name="Live 1 text"/>
          <p:cNvSpPr txBox="1"/>
          <p:nvPr/>
        </p:nvSpPr>
        <p:spPr>
          <a:xfrm>
            <a:off x="7662672" y="2350008"/>
            <a:ext cx="3840480" cy="420624"/>
          </a:xfrm>
          <a:prstGeom prst="rect">
            <a:avLst/>
          </a:prstGeom>
          <a:noFill/>
          <a:ln/>
        </p:spPr>
        <p:txBody>
          <a:bodyPr wrap="square" lIns="0" tIns="0" rIns="0" bIns="0" rtlCol="0" anchor="t"/>
          <a:lstStyle/>
          <a:p>
            <a:pPr marL="0" indent="0">
              <a:buNone/>
            </a:pPr>
            <a:r>
              <a:rPr lang="en-US" sz="1200" dirty="0">
                <a:solidFill>
                  <a:schemeClr val="tx1"/>
                </a:solidFill>
              </a:rPr>
              <a:t>One x86 host, 4 CPUs, 60 GB encrypted disk. Only the password gateway is public.</a:t>
            </a:r>
            <a:endParaRPr lang="en-US" sz="1200" dirty="0"/>
          </a:p>
        </p:txBody>
      </p:sp>
      <p:sp>
        <p:nvSpPr>
          <p:cNvPr id="28" name="Live card 2"/>
          <p:cNvSpPr/>
          <p:nvPr/>
        </p:nvSpPr>
        <p:spPr>
          <a:xfrm>
            <a:off x="7498080" y="2898648"/>
            <a:ext cx="4142232" cy="1024128"/>
          </a:xfrm>
          <a:prstGeom prst="roundRect">
            <a:avLst>
              <a:gd name="adj" fmla="val 10714"/>
            </a:avLst>
          </a:prstGeom>
          <a:solidFill>
            <a:schemeClr val="bg2"/>
          </a:solidFill>
          <a:ln w="12700">
            <a:solidFill>
              <a:schemeClr val="bg2"/>
            </a:solidFill>
            <a:prstDash val="solid"/>
          </a:ln>
        </p:spPr>
        <p:txBody>
          <a:bodyPr/>
          <a:lstStyle/>
          <a:p>
            <a:endParaRPr lang="en-US"/>
          </a:p>
        </p:txBody>
      </p:sp>
      <p:sp>
        <p:nvSpPr>
          <p:cNvPr id="29" name="Live 2 circle"/>
          <p:cNvSpPr/>
          <p:nvPr/>
        </p:nvSpPr>
        <p:spPr>
          <a:xfrm>
            <a:off x="7662672" y="3026664"/>
            <a:ext cx="384048" cy="384048"/>
          </a:xfrm>
          <a:prstGeom prst="ellipse">
            <a:avLst/>
          </a:prstGeom>
          <a:solidFill>
            <a:schemeClr val="accent3"/>
          </a:solidFill>
          <a:ln w="12700">
            <a:solidFill>
              <a:schemeClr val="accent3"/>
            </a:solidFill>
            <a:prstDash val="solid"/>
          </a:ln>
        </p:spPr>
        <p:txBody>
          <a:bodyPr/>
          <a:lstStyle/>
          <a:p>
            <a:endParaRPr lang="en-US"/>
          </a:p>
        </p:txBody>
      </p:sp>
      <p:pic>
        <p:nvPicPr>
          <p:cNvPr id="30" name="Live 2 icon" descr="Live 2"/>
          <p:cNvPicPr>
            <a:picLocks noChangeAspect="1"/>
          </p:cNvPicPr>
          <p:nvPr/>
        </p:nvPicPr>
        <p:blipFill>
          <a:blip r:embed="rId5"/>
          <a:stretch>
            <a:fillRect/>
          </a:stretch>
        </p:blipFill>
        <p:spPr>
          <a:xfrm>
            <a:off x="7758684" y="3122676"/>
            <a:ext cx="192024" cy="192024"/>
          </a:xfrm>
          <a:prstGeom prst="rect">
            <a:avLst/>
          </a:prstGeom>
        </p:spPr>
      </p:pic>
      <p:sp>
        <p:nvSpPr>
          <p:cNvPr id="31" name="Live 2 title"/>
          <p:cNvSpPr txBox="1"/>
          <p:nvPr/>
        </p:nvSpPr>
        <p:spPr>
          <a:xfrm>
            <a:off x="8183880" y="2990088"/>
            <a:ext cx="3337560" cy="310896"/>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Two live methods</a:t>
            </a:r>
            <a:endParaRPr lang="en-US" sz="1500" dirty="0"/>
          </a:p>
        </p:txBody>
      </p:sp>
      <p:sp>
        <p:nvSpPr>
          <p:cNvPr id="32" name="Live 2 text"/>
          <p:cNvSpPr txBox="1"/>
          <p:nvPr/>
        </p:nvSpPr>
        <p:spPr>
          <a:xfrm>
            <a:off x="7662672" y="3465576"/>
            <a:ext cx="3840480" cy="420624"/>
          </a:xfrm>
          <a:prstGeom prst="rect">
            <a:avLst/>
          </a:prstGeom>
          <a:noFill/>
          <a:ln/>
        </p:spPr>
        <p:txBody>
          <a:bodyPr wrap="square" lIns="0" tIns="0" rIns="0" bIns="0" rtlCol="0" anchor="t"/>
          <a:lstStyle/>
          <a:p>
            <a:pPr marL="0" indent="0">
              <a:buNone/>
            </a:pPr>
            <a:r>
              <a:rPr lang="en-US" sz="1200" dirty="0">
                <a:solidFill>
                  <a:schemeClr val="tx1"/>
                </a:solidFill>
              </a:rPr>
              <a:t>PersonaRAG shows its sources. Direct QLoRA writes from the merged model with none.</a:t>
            </a:r>
            <a:endParaRPr lang="en-US" sz="1200" dirty="0"/>
          </a:p>
        </p:txBody>
      </p:sp>
      <p:sp>
        <p:nvSpPr>
          <p:cNvPr id="33" name="Live card 3"/>
          <p:cNvSpPr/>
          <p:nvPr/>
        </p:nvSpPr>
        <p:spPr>
          <a:xfrm>
            <a:off x="7498080" y="4014216"/>
            <a:ext cx="4142232" cy="1024128"/>
          </a:xfrm>
          <a:prstGeom prst="roundRect">
            <a:avLst>
              <a:gd name="adj" fmla="val 10714"/>
            </a:avLst>
          </a:prstGeom>
          <a:solidFill>
            <a:schemeClr val="bg2"/>
          </a:solidFill>
          <a:ln w="12700">
            <a:solidFill>
              <a:schemeClr val="bg2"/>
            </a:solidFill>
            <a:prstDash val="solid"/>
          </a:ln>
        </p:spPr>
        <p:txBody>
          <a:bodyPr/>
          <a:lstStyle/>
          <a:p>
            <a:endParaRPr lang="en-US"/>
          </a:p>
        </p:txBody>
      </p:sp>
      <p:sp>
        <p:nvSpPr>
          <p:cNvPr id="34" name="Live 3 circle"/>
          <p:cNvSpPr/>
          <p:nvPr/>
        </p:nvSpPr>
        <p:spPr>
          <a:xfrm>
            <a:off x="7662672" y="4142232"/>
            <a:ext cx="384048" cy="384048"/>
          </a:xfrm>
          <a:prstGeom prst="ellipse">
            <a:avLst/>
          </a:prstGeom>
          <a:solidFill>
            <a:schemeClr val="accent4"/>
          </a:solidFill>
          <a:ln w="12700">
            <a:solidFill>
              <a:schemeClr val="accent4"/>
            </a:solidFill>
            <a:prstDash val="solid"/>
          </a:ln>
        </p:spPr>
        <p:txBody>
          <a:bodyPr/>
          <a:lstStyle/>
          <a:p>
            <a:endParaRPr lang="en-US"/>
          </a:p>
        </p:txBody>
      </p:sp>
      <p:pic>
        <p:nvPicPr>
          <p:cNvPr id="35" name="Live 3 icon" descr="Live 3"/>
          <p:cNvPicPr>
            <a:picLocks noChangeAspect="1"/>
          </p:cNvPicPr>
          <p:nvPr/>
        </p:nvPicPr>
        <p:blipFill>
          <a:blip r:embed="rId6"/>
          <a:stretch>
            <a:fillRect/>
          </a:stretch>
        </p:blipFill>
        <p:spPr>
          <a:xfrm>
            <a:off x="7758684" y="4238244"/>
            <a:ext cx="192024" cy="192024"/>
          </a:xfrm>
          <a:prstGeom prst="rect">
            <a:avLst/>
          </a:prstGeom>
        </p:spPr>
      </p:pic>
      <p:sp>
        <p:nvSpPr>
          <p:cNvPr id="36" name="Live 3 title"/>
          <p:cNvSpPr txBox="1"/>
          <p:nvPr/>
        </p:nvSpPr>
        <p:spPr>
          <a:xfrm>
            <a:off x="8183880" y="4105656"/>
            <a:ext cx="3337560" cy="310896"/>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Honest speed</a:t>
            </a:r>
            <a:endParaRPr lang="en-US" sz="1500" dirty="0"/>
          </a:p>
        </p:txBody>
      </p:sp>
      <p:sp>
        <p:nvSpPr>
          <p:cNvPr id="37" name="Live 3 text"/>
          <p:cNvSpPr txBox="1"/>
          <p:nvPr/>
        </p:nvSpPr>
        <p:spPr>
          <a:xfrm>
            <a:off x="7662672" y="4581144"/>
            <a:ext cx="3840480" cy="420624"/>
          </a:xfrm>
          <a:prstGeom prst="rect">
            <a:avLst/>
          </a:prstGeom>
          <a:noFill/>
          <a:ln/>
        </p:spPr>
        <p:txBody>
          <a:bodyPr wrap="square" lIns="0" tIns="0" rIns="0" bIns="0" rtlCol="0" anchor="t"/>
          <a:lstStyle/>
          <a:p>
            <a:pPr marL="0" indent="0">
              <a:buNone/>
            </a:pPr>
            <a:r>
              <a:rPr lang="en-US" sz="1200" dirty="0">
                <a:solidFill>
                  <a:schemeClr val="tx1"/>
                </a:solidFill>
              </a:rPr>
              <a:t>91.9 s for this 125-word draft on CPU. AWS denied our GPU request, so a G5 option is ready.</a:t>
            </a:r>
            <a:endParaRPr lang="en-US" sz="1200" dirty="0"/>
          </a:p>
        </p:txBody>
      </p:sp>
      <p:sp>
        <p:nvSpPr>
          <p:cNvPr id="38" name="Live card 4"/>
          <p:cNvSpPr/>
          <p:nvPr/>
        </p:nvSpPr>
        <p:spPr>
          <a:xfrm>
            <a:off x="7498080" y="5129784"/>
            <a:ext cx="4142232" cy="1024128"/>
          </a:xfrm>
          <a:prstGeom prst="roundRect">
            <a:avLst>
              <a:gd name="adj" fmla="val 10714"/>
            </a:avLst>
          </a:prstGeom>
          <a:solidFill>
            <a:schemeClr val="bg2"/>
          </a:solidFill>
          <a:ln w="12700">
            <a:solidFill>
              <a:schemeClr val="bg2"/>
            </a:solidFill>
            <a:prstDash val="solid"/>
          </a:ln>
        </p:spPr>
        <p:txBody>
          <a:bodyPr/>
          <a:lstStyle/>
          <a:p>
            <a:endParaRPr lang="en-US"/>
          </a:p>
        </p:txBody>
      </p:sp>
      <p:sp>
        <p:nvSpPr>
          <p:cNvPr id="39" name="Live 4 circle"/>
          <p:cNvSpPr/>
          <p:nvPr/>
        </p:nvSpPr>
        <p:spPr>
          <a:xfrm>
            <a:off x="7662672" y="5257800"/>
            <a:ext cx="384048" cy="384048"/>
          </a:xfrm>
          <a:prstGeom prst="ellipse">
            <a:avLst/>
          </a:prstGeom>
          <a:solidFill>
            <a:schemeClr val="accent2"/>
          </a:solidFill>
          <a:ln w="12700">
            <a:solidFill>
              <a:schemeClr val="accent2"/>
            </a:solidFill>
            <a:prstDash val="solid"/>
          </a:ln>
        </p:spPr>
        <p:txBody>
          <a:bodyPr/>
          <a:lstStyle/>
          <a:p>
            <a:endParaRPr lang="en-US"/>
          </a:p>
        </p:txBody>
      </p:sp>
      <p:pic>
        <p:nvPicPr>
          <p:cNvPr id="40" name="Live 4 icon" descr="Live 4"/>
          <p:cNvPicPr>
            <a:picLocks noChangeAspect="1"/>
          </p:cNvPicPr>
          <p:nvPr/>
        </p:nvPicPr>
        <p:blipFill>
          <a:blip r:embed="rId7"/>
          <a:stretch>
            <a:fillRect/>
          </a:stretch>
        </p:blipFill>
        <p:spPr>
          <a:xfrm>
            <a:off x="7758684" y="5353812"/>
            <a:ext cx="192024" cy="192024"/>
          </a:xfrm>
          <a:prstGeom prst="rect">
            <a:avLst/>
          </a:prstGeom>
        </p:spPr>
      </p:pic>
      <p:sp>
        <p:nvSpPr>
          <p:cNvPr id="41" name="Live 4 title"/>
          <p:cNvSpPr txBox="1"/>
          <p:nvPr/>
        </p:nvSpPr>
        <p:spPr>
          <a:xfrm>
            <a:off x="8183880" y="5221224"/>
            <a:ext cx="3337560" cy="310896"/>
          </a:xfrm>
          <a:prstGeom prst="rect">
            <a:avLst/>
          </a:prstGeom>
          <a:noFill/>
          <a:ln/>
        </p:spPr>
        <p:txBody>
          <a:bodyPr wrap="square" lIns="0" tIns="0" rIns="0" bIns="0" rtlCol="0" anchor="ctr"/>
          <a:lstStyle/>
          <a:p>
            <a:pPr marL="0" indent="0">
              <a:buNone/>
            </a:pPr>
            <a:r>
              <a:rPr lang="en-US" sz="1500" b="1" dirty="0">
                <a:solidFill>
                  <a:schemeClr val="tx2"/>
                </a:solidFill>
                <a:latin typeface="Cambria" pitchFamily="34" charset="0"/>
                <a:ea typeface="Cambria" pitchFamily="34" charset="-122"/>
                <a:cs typeface="Cambria" pitchFamily="34" charset="-120"/>
              </a:rPr>
              <a:t>Index on AWS</a:t>
            </a:r>
            <a:endParaRPr lang="en-US" sz="1500" dirty="0"/>
          </a:p>
        </p:txBody>
      </p:sp>
      <p:sp>
        <p:nvSpPr>
          <p:cNvPr id="42" name="Live 4 text"/>
          <p:cNvSpPr txBox="1"/>
          <p:nvPr/>
        </p:nvSpPr>
        <p:spPr>
          <a:xfrm>
            <a:off x="7662672" y="5696712"/>
            <a:ext cx="3840480" cy="420624"/>
          </a:xfrm>
          <a:prstGeom prst="rect">
            <a:avLst/>
          </a:prstGeom>
          <a:noFill/>
          <a:ln/>
        </p:spPr>
        <p:txBody>
          <a:bodyPr wrap="square" lIns="0" tIns="0" rIns="0" bIns="0" rtlCol="0" anchor="t"/>
          <a:lstStyle/>
          <a:p>
            <a:pPr marL="0" indent="0">
              <a:buNone/>
            </a:pPr>
            <a:r>
              <a:rPr lang="en-US" sz="1200" dirty="0">
                <a:solidFill>
                  <a:schemeClr val="tx1"/>
                </a:solidFill>
              </a:rPr>
              <a:t>37,525 chunks restored for the demo. The newer full pipeline run has 38,105.</a:t>
            </a:r>
            <a:endParaRPr lang="en-US" sz="1200" dirty="0"/>
          </a:p>
        </p:txBody>
      </p:sp>
      <p:sp>
        <p:nvSpPr>
          <p:cNvPr id="43"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778240" cy="731520"/>
          </a:xfrm>
          <a:prstGeom prst="rect">
            <a:avLst/>
          </a:prstGeom>
          <a:noFill/>
          <a:ln/>
        </p:spPr>
        <p:txBody>
          <a:bodyPr wrap="square" lIns="0" tIns="0" rIns="0" bIns="0" rtlCol="0" anchor="ctr"/>
          <a:lstStyle/>
          <a:p>
            <a:pPr marL="0" indent="0" algn="l">
              <a:buNone/>
            </a:pPr>
            <a:r>
              <a:rPr lang="en-US" sz="3200" b="1" dirty="0">
                <a:solidFill>
                  <a:schemeClr val="tx2"/>
                </a:solidFill>
              </a:rPr>
              <a:t>Honest limits and next steps</a:t>
            </a:r>
            <a:endParaRPr lang="en-US" sz="3200" dirty="0"/>
          </a:p>
        </p:txBody>
      </p:sp>
      <p:sp>
        <p:nvSpPr>
          <p:cNvPr id="3" name="Text 0"/>
          <p:cNvSpPr>
            <a:spLocks noGrp="1"/>
          </p:cNvSpPr>
          <p:nvPr>
            <p:ph type="body" idx="101" hasCustomPrompt="1"/>
          </p:nvPr>
        </p:nvSpPr>
        <p:spPr>
          <a:xfrm>
            <a:off x="548640" y="1051560"/>
            <a:ext cx="11091672" cy="457200"/>
          </a:xfrm>
          <a:prstGeom prst="rect">
            <a:avLst/>
          </a:prstGeom>
          <a:noFill/>
          <a:ln/>
        </p:spPr>
        <p:txBody>
          <a:bodyPr wrap="square" lIns="0" tIns="0" rIns="0" bIns="0" rtlCol="0" anchor="t"/>
          <a:lstStyle/>
          <a:p>
            <a:pPr marL="0" indent="0" algn="l">
              <a:buNone/>
            </a:pPr>
            <a:r>
              <a:rPr lang="en-US" sz="1800" dirty="0">
                <a:solidFill>
                  <a:schemeClr val="accent5"/>
                </a:solidFill>
              </a:rPr>
              <a:t>What the evidence supports today, and what we will do about the gaps</a:t>
            </a:r>
            <a:endParaRPr lang="en-US" sz="1800" dirty="0"/>
          </a:p>
        </p:txBody>
      </p:sp>
      <p:sp>
        <p:nvSpPr>
          <p:cNvPr id="4" name="Section chip"/>
          <p:cNvSpPr/>
          <p:nvPr/>
        </p:nvSpPr>
        <p:spPr>
          <a:xfrm>
            <a:off x="9445752" y="475488"/>
            <a:ext cx="219456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5" name="Section chip text"/>
          <p:cNvSpPr txBox="1"/>
          <p:nvPr/>
        </p:nvSpPr>
        <p:spPr>
          <a:xfrm>
            <a:off x="9445752" y="475488"/>
            <a:ext cx="2194560" cy="329184"/>
          </a:xfrm>
          <a:prstGeom prst="rect">
            <a:avLst/>
          </a:prstGeom>
          <a:noFill/>
          <a:ln/>
        </p:spPr>
        <p:txBody>
          <a:bodyPr wrap="square" lIns="0" tIns="0" rIns="0" bIns="0" rtlCol="0" anchor="ctr"/>
          <a:lstStyle/>
          <a:p>
            <a:pPr marL="0" indent="0" algn="ctr">
              <a:buNone/>
            </a:pPr>
            <a:r>
              <a:rPr lang="en-US" sz="1200" b="1" dirty="0">
                <a:solidFill>
                  <a:schemeClr val="bg1"/>
                </a:solidFill>
              </a:rPr>
              <a:t>Wrap-up</a:t>
            </a:r>
            <a:endParaRPr lang="en-US" sz="1200" dirty="0"/>
          </a:p>
        </p:txBody>
      </p:sp>
      <p:sp>
        <p:nvSpPr>
          <p:cNvPr id="6" name="Limits card"/>
          <p:cNvSpPr/>
          <p:nvPr/>
        </p:nvSpPr>
        <p:spPr>
          <a:xfrm>
            <a:off x="548640" y="1783080"/>
            <a:ext cx="5486400" cy="3657600"/>
          </a:xfrm>
          <a:prstGeom prst="roundRect">
            <a:avLst>
              <a:gd name="adj" fmla="val 3000"/>
            </a:avLst>
          </a:prstGeom>
          <a:solidFill>
            <a:schemeClr val="bg2"/>
          </a:solidFill>
          <a:ln w="12700">
            <a:solidFill>
              <a:schemeClr val="bg2"/>
            </a:solidFill>
            <a:prstDash val="solid"/>
          </a:ln>
        </p:spPr>
        <p:txBody>
          <a:bodyPr/>
          <a:lstStyle/>
          <a:p>
            <a:endParaRPr lang="en-US"/>
          </a:p>
        </p:txBody>
      </p:sp>
      <p:sp>
        <p:nvSpPr>
          <p:cNvPr id="7" name="Limits circle"/>
          <p:cNvSpPr/>
          <p:nvPr/>
        </p:nvSpPr>
        <p:spPr>
          <a:xfrm>
            <a:off x="777240" y="1920240"/>
            <a:ext cx="457200" cy="457200"/>
          </a:xfrm>
          <a:prstGeom prst="ellipse">
            <a:avLst/>
          </a:prstGeom>
          <a:solidFill>
            <a:schemeClr val="accent4"/>
          </a:solidFill>
          <a:ln w="12700">
            <a:solidFill>
              <a:schemeClr val="accent4"/>
            </a:solidFill>
            <a:prstDash val="solid"/>
          </a:ln>
        </p:spPr>
        <p:txBody>
          <a:bodyPr/>
          <a:lstStyle/>
          <a:p>
            <a:endParaRPr lang="en-US"/>
          </a:p>
        </p:txBody>
      </p:sp>
      <p:pic>
        <p:nvPicPr>
          <p:cNvPr id="8" name="Limits icon" descr="Limits"/>
          <p:cNvPicPr>
            <a:picLocks noChangeAspect="1"/>
          </p:cNvPicPr>
          <p:nvPr/>
        </p:nvPicPr>
        <p:blipFill>
          <a:blip r:embed="rId3"/>
          <a:stretch>
            <a:fillRect/>
          </a:stretch>
        </p:blipFill>
        <p:spPr>
          <a:xfrm>
            <a:off x="891540" y="2034540"/>
            <a:ext cx="228600" cy="228600"/>
          </a:xfrm>
          <a:prstGeom prst="rect">
            <a:avLst/>
          </a:prstGeom>
        </p:spPr>
      </p:pic>
      <p:sp>
        <p:nvSpPr>
          <p:cNvPr id="9" name="Limits title"/>
          <p:cNvSpPr txBox="1"/>
          <p:nvPr/>
        </p:nvSpPr>
        <p:spPr>
          <a:xfrm>
            <a:off x="1371600" y="1993392"/>
            <a:ext cx="4389120" cy="36576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What we do not claim yet</a:t>
            </a:r>
            <a:endParaRPr lang="en-US" sz="1800" dirty="0"/>
          </a:p>
        </p:txBody>
      </p:sp>
      <p:sp>
        <p:nvSpPr>
          <p:cNvPr id="10" name="Limits list"/>
          <p:cNvSpPr txBox="1"/>
          <p:nvPr/>
        </p:nvSpPr>
        <p:spPr>
          <a:xfrm>
            <a:off x="822960" y="2606040"/>
            <a:ext cx="5029200" cy="2743200"/>
          </a:xfrm>
          <a:prstGeom prst="rect">
            <a:avLst/>
          </a:prstGeom>
          <a:noFill/>
          <a:ln/>
        </p:spPr>
        <p:txBody>
          <a:bodyPr wrap="square" lIns="0" tIns="0" rIns="0" bIns="0" rtlCol="0" anchor="t"/>
          <a:lstStyle/>
          <a:p>
            <a:pPr marL="342900" indent="-342900">
              <a:spcAft>
                <a:spcPts val="1100"/>
              </a:spcAft>
              <a:buSzPct val="100000"/>
              <a:buChar char="•"/>
            </a:pPr>
            <a:r>
              <a:rPr lang="en-US" sz="1500" dirty="0">
                <a:solidFill>
                  <a:schemeClr val="tx1"/>
                </a:solidFill>
              </a:rPr>
              <a:t>Not every video transcript is verified as Lemkin speaking</a:t>
            </a:r>
            <a:endParaRPr lang="en-US" sz="1500" dirty="0"/>
          </a:p>
          <a:p>
            <a:pPr marL="342900" indent="-342900">
              <a:spcAft>
                <a:spcPts val="1100"/>
              </a:spcAft>
              <a:buSzPct val="100000"/>
              <a:buChar char="•"/>
            </a:pPr>
            <a:r>
              <a:rPr lang="en-US" sz="1500" dirty="0">
                <a:solidFill>
                  <a:schemeClr val="tx1"/>
                </a:solidFill>
              </a:rPr>
              <a:t>A blog-only rebuild failed its content review, so it was not trained on</a:t>
            </a:r>
            <a:endParaRPr lang="en-US" sz="1500" dirty="0"/>
          </a:p>
          <a:p>
            <a:pPr marL="342900" indent="-342900">
              <a:spcAft>
                <a:spcPts val="1100"/>
              </a:spcAft>
              <a:buSzPct val="100000"/>
              <a:buChar char="•"/>
            </a:pPr>
            <a:r>
              <a:rPr lang="en-US" sz="1500" dirty="0">
                <a:solidFill>
                  <a:schemeClr val="tx1"/>
                </a:solidFill>
              </a:rPr>
              <a:t>No hand-graded relevance labels, so no precision, recall or nDCG</a:t>
            </a:r>
            <a:endParaRPr lang="en-US" sz="1500" dirty="0"/>
          </a:p>
          <a:p>
            <a:pPr marL="342900" indent="-342900">
              <a:spcAft>
                <a:spcPts val="1100"/>
              </a:spcAft>
              <a:buSzPct val="100000"/>
              <a:buChar char="•"/>
            </a:pPr>
            <a:r>
              <a:rPr lang="en-US" sz="1500" dirty="0">
                <a:solidFill>
                  <a:schemeClr val="tx1"/>
                </a:solidFill>
              </a:rPr>
              <a:t>No human preference test yet</a:t>
            </a:r>
            <a:endParaRPr lang="en-US" sz="1500" dirty="0"/>
          </a:p>
          <a:p>
            <a:pPr marL="342900" indent="-342900">
              <a:spcAft>
                <a:spcPts val="1100"/>
              </a:spcAft>
              <a:buSzPct val="100000"/>
              <a:buChar char="•"/>
            </a:pPr>
            <a:r>
              <a:rPr lang="en-US" sz="1500" dirty="0">
                <a:solidFill>
                  <a:schemeClr val="tx1"/>
                </a:solidFill>
              </a:rPr>
              <a:t>Voice scores are calibrated for blog drafts only</a:t>
            </a:r>
            <a:endParaRPr lang="en-US" sz="1500" dirty="0"/>
          </a:p>
          <a:p>
            <a:pPr marL="342900" indent="-342900">
              <a:spcAft>
                <a:spcPts val="1100"/>
              </a:spcAft>
              <a:buSzPct val="100000"/>
              <a:buChar char="•"/>
            </a:pPr>
            <a:r>
              <a:rPr lang="en-US" sz="1500" dirty="0">
                <a:solidFill>
                  <a:schemeClr val="tx1"/>
                </a:solidFill>
              </a:rPr>
              <a:t>Ontology-aware retrieval (model F) is designed, not built</a:t>
            </a:r>
            <a:endParaRPr lang="en-US" sz="1500" dirty="0"/>
          </a:p>
        </p:txBody>
      </p:sp>
      <p:sp>
        <p:nvSpPr>
          <p:cNvPr id="11" name="Next card"/>
          <p:cNvSpPr/>
          <p:nvPr/>
        </p:nvSpPr>
        <p:spPr>
          <a:xfrm>
            <a:off x="6153912" y="1783080"/>
            <a:ext cx="5486400" cy="3657600"/>
          </a:xfrm>
          <a:prstGeom prst="roundRect">
            <a:avLst>
              <a:gd name="adj" fmla="val 3000"/>
            </a:avLst>
          </a:prstGeom>
          <a:solidFill>
            <a:schemeClr val="accent1"/>
          </a:solidFill>
          <a:ln w="12700">
            <a:solidFill>
              <a:schemeClr val="accent1"/>
            </a:solidFill>
            <a:prstDash val="solid"/>
          </a:ln>
        </p:spPr>
        <p:txBody>
          <a:bodyPr/>
          <a:lstStyle/>
          <a:p>
            <a:endParaRPr lang="en-US"/>
          </a:p>
        </p:txBody>
      </p:sp>
      <p:sp>
        <p:nvSpPr>
          <p:cNvPr id="12" name="Next circle"/>
          <p:cNvSpPr/>
          <p:nvPr/>
        </p:nvSpPr>
        <p:spPr>
          <a:xfrm>
            <a:off x="6382512" y="1920240"/>
            <a:ext cx="457200" cy="457200"/>
          </a:xfrm>
          <a:prstGeom prst="ellipse">
            <a:avLst/>
          </a:prstGeom>
          <a:solidFill>
            <a:schemeClr val="accent4"/>
          </a:solidFill>
          <a:ln w="12700">
            <a:solidFill>
              <a:schemeClr val="accent4"/>
            </a:solidFill>
            <a:prstDash val="solid"/>
          </a:ln>
        </p:spPr>
        <p:txBody>
          <a:bodyPr/>
          <a:lstStyle/>
          <a:p>
            <a:endParaRPr lang="en-US"/>
          </a:p>
        </p:txBody>
      </p:sp>
      <p:pic>
        <p:nvPicPr>
          <p:cNvPr id="13" name="Next icon" descr="Next"/>
          <p:cNvPicPr>
            <a:picLocks noChangeAspect="1"/>
          </p:cNvPicPr>
          <p:nvPr/>
        </p:nvPicPr>
        <p:blipFill>
          <a:blip r:embed="rId4"/>
          <a:stretch>
            <a:fillRect/>
          </a:stretch>
        </p:blipFill>
        <p:spPr>
          <a:xfrm>
            <a:off x="6496812" y="2034540"/>
            <a:ext cx="228600" cy="228600"/>
          </a:xfrm>
          <a:prstGeom prst="rect">
            <a:avLst/>
          </a:prstGeom>
        </p:spPr>
      </p:pic>
      <p:sp>
        <p:nvSpPr>
          <p:cNvPr id="14" name="Next title"/>
          <p:cNvSpPr txBox="1"/>
          <p:nvPr/>
        </p:nvSpPr>
        <p:spPr>
          <a:xfrm>
            <a:off x="6976872" y="1993392"/>
            <a:ext cx="4389120" cy="36576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Next steps</a:t>
            </a:r>
            <a:endParaRPr lang="en-US" sz="1800" dirty="0"/>
          </a:p>
        </p:txBody>
      </p:sp>
      <p:sp>
        <p:nvSpPr>
          <p:cNvPr id="15" name="Next list"/>
          <p:cNvSpPr txBox="1"/>
          <p:nvPr/>
        </p:nvSpPr>
        <p:spPr>
          <a:xfrm>
            <a:off x="6428232" y="2606040"/>
            <a:ext cx="5029200" cy="2743200"/>
          </a:xfrm>
          <a:prstGeom prst="rect">
            <a:avLst/>
          </a:prstGeom>
          <a:noFill/>
          <a:ln/>
        </p:spPr>
        <p:txBody>
          <a:bodyPr wrap="square" lIns="0" tIns="0" rIns="0" bIns="0" rtlCol="0" anchor="t"/>
          <a:lstStyle/>
          <a:p>
            <a:pPr marL="342900" indent="-342900">
              <a:spcAft>
                <a:spcPts val="1100"/>
              </a:spcAft>
              <a:buSzPct val="100000"/>
              <a:buChar char="•"/>
            </a:pPr>
            <a:r>
              <a:rPr lang="en-US" sz="1500" dirty="0">
                <a:solidFill>
                  <a:schemeClr val="bg1"/>
                </a:solidFill>
              </a:rPr>
              <a:t>Score models B and C on the same 120 prompts</a:t>
            </a:r>
            <a:endParaRPr lang="en-US" sz="1500" dirty="0"/>
          </a:p>
          <a:p>
            <a:pPr marL="342900" indent="-342900">
              <a:spcAft>
                <a:spcPts val="1100"/>
              </a:spcAft>
              <a:buSzPct val="100000"/>
              <a:buChar char="•"/>
            </a:pPr>
            <a:r>
              <a:rPr lang="en-US" sz="1500" dirty="0">
                <a:solidFill>
                  <a:schemeClr val="bg1"/>
                </a:solidFill>
              </a:rPr>
              <a:t>Serve model E behind the same API</a:t>
            </a:r>
            <a:endParaRPr lang="en-US" sz="1500" dirty="0"/>
          </a:p>
          <a:p>
            <a:pPr marL="342900" indent="-342900">
              <a:spcAft>
                <a:spcPts val="1100"/>
              </a:spcAft>
              <a:buSzPct val="100000"/>
              <a:buChar char="•"/>
            </a:pPr>
            <a:r>
              <a:rPr lang="en-US" sz="1500" dirty="0">
                <a:solidFill>
                  <a:schemeClr val="bg1"/>
                </a:solidFill>
              </a:rPr>
              <a:t>Add a keyword (BM25) baseline and hand-grade retrieval</a:t>
            </a:r>
            <a:endParaRPr lang="en-US" sz="1500" dirty="0"/>
          </a:p>
          <a:p>
            <a:pPr marL="342900" indent="-342900">
              <a:spcAft>
                <a:spcPts val="1100"/>
              </a:spcAft>
              <a:buSzPct val="100000"/>
              <a:buChar char="•"/>
            </a:pPr>
            <a:r>
              <a:rPr lang="en-US" sz="1500" dirty="0">
                <a:solidFill>
                  <a:schemeClr val="bg1"/>
                </a:solidFill>
              </a:rPr>
              <a:t>Fix the short LinkedIn and X drafts</a:t>
            </a:r>
            <a:endParaRPr lang="en-US" sz="1500" dirty="0"/>
          </a:p>
          <a:p>
            <a:pPr marL="342900" indent="-342900">
              <a:spcAft>
                <a:spcPts val="1100"/>
              </a:spcAft>
              <a:buSzPct val="100000"/>
              <a:buChar char="•"/>
            </a:pPr>
            <a:r>
              <a:rPr lang="en-US" sz="1500" dirty="0">
                <a:solidFill>
                  <a:schemeClr val="bg1"/>
                </a:solidFill>
              </a:rPr>
              <a:t>Run blinded human preference sheets</a:t>
            </a:r>
            <a:endParaRPr lang="en-US" sz="1500" dirty="0"/>
          </a:p>
          <a:p>
            <a:pPr marL="342900" indent="-342900">
              <a:spcAft>
                <a:spcPts val="1100"/>
              </a:spcAft>
              <a:buSzPct val="100000"/>
              <a:buChar char="•"/>
            </a:pPr>
            <a:r>
              <a:rPr lang="en-US" sz="1500" dirty="0">
                <a:solidFill>
                  <a:schemeClr val="bg1"/>
                </a:solidFill>
              </a:rPr>
              <a:t>Move generation to a GPU instance for speed</a:t>
            </a:r>
            <a:endParaRPr lang="en-US" sz="1500" dirty="0"/>
          </a:p>
        </p:txBody>
      </p:sp>
      <p:sp>
        <p:nvSpPr>
          <p:cNvPr id="16" name="Close card"/>
          <p:cNvSpPr/>
          <p:nvPr/>
        </p:nvSpPr>
        <p:spPr>
          <a:xfrm>
            <a:off x="548640" y="5623560"/>
            <a:ext cx="11091672" cy="594360"/>
          </a:xfrm>
          <a:prstGeom prst="roundRect">
            <a:avLst>
              <a:gd name="adj" fmla="val 18462"/>
            </a:avLst>
          </a:prstGeom>
          <a:solidFill>
            <a:schemeClr val="bg2"/>
          </a:solidFill>
          <a:ln w="12700">
            <a:solidFill>
              <a:schemeClr val="bg2"/>
            </a:solidFill>
            <a:prstDash val="solid"/>
          </a:ln>
        </p:spPr>
        <p:txBody>
          <a:bodyPr/>
          <a:lstStyle/>
          <a:p>
            <a:endParaRPr lang="en-US"/>
          </a:p>
        </p:txBody>
      </p:sp>
      <p:sp>
        <p:nvSpPr>
          <p:cNvPr id="17" name="Close text"/>
          <p:cNvSpPr txBox="1"/>
          <p:nvPr/>
        </p:nvSpPr>
        <p:spPr>
          <a:xfrm>
            <a:off x="777240" y="5623560"/>
            <a:ext cx="10634472" cy="594360"/>
          </a:xfrm>
          <a:prstGeom prst="rect">
            <a:avLst/>
          </a:prstGeom>
          <a:noFill/>
          <a:ln/>
        </p:spPr>
        <p:txBody>
          <a:bodyPr wrap="square" lIns="0" tIns="0" rIns="0" bIns="0" rtlCol="0" anchor="ctr"/>
          <a:lstStyle/>
          <a:p>
            <a:pPr marL="0" indent="0">
              <a:buNone/>
            </a:pPr>
            <a:r>
              <a:rPr lang="en-US" sz="1500" b="1" dirty="0">
                <a:solidFill>
                  <a:srgbClr val="1F3A5F"/>
                </a:solidFill>
              </a:rPr>
              <a:t>Team 2: </a:t>
            </a:r>
            <a:r>
              <a:rPr lang="en-US" sz="1500" dirty="0">
                <a:solidFill>
                  <a:srgbClr val="1B2433"/>
                </a:solidFill>
              </a:rPr>
              <a:t>Kevin Gao, Andreah Cruz, Pukhraj Rathkanthiwar, Vrushabh Bodarya</a:t>
            </a:r>
            <a:r>
              <a:rPr lang="en-US" sz="1500" b="1" dirty="0">
                <a:solidFill>
                  <a:srgbClr val="D9822B"/>
                </a:solidFill>
              </a:rPr>
              <a:t>     Thank you. Questions?</a:t>
            </a:r>
            <a:endParaRPr lang="en-US" sz="15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theme/theme1.xml><?xml version="1.0" encoding="utf-8"?>
<a:theme xmlns:a="http://schemas.openxmlformats.org/drawingml/2006/main" name="Lemkin Studio">
  <a:themeElements>
    <a:clrScheme name="Lemkin Studio">
      <a:dk1>
        <a:srgbClr val="1B2433"/>
      </a:dk1>
      <a:lt1>
        <a:srgbClr val="FFFFFF"/>
      </a:lt1>
      <a:dk2>
        <a:srgbClr val="0F1B33"/>
      </a:dk2>
      <a:lt2>
        <a:srgbClr val="F3F6FA"/>
      </a:lt2>
      <a:accent1>
        <a:srgbClr val="1F3A5F"/>
      </a:accent1>
      <a:accent2>
        <a:srgbClr val="2F6DB5"/>
      </a:accent2>
      <a:accent3>
        <a:srgbClr val="2A9D8F"/>
      </a:accent3>
      <a:accent4>
        <a:srgbClr val="D9822B"/>
      </a:accent4>
      <a:accent5>
        <a:srgbClr val="6B7280"/>
      </a:accent5>
      <a:accent6>
        <a:srgbClr val="8B5CF6"/>
      </a:accent6>
      <a:hlink>
        <a:srgbClr val="2F6DB5"/>
      </a:hlink>
      <a:folHlink>
        <a:srgbClr val="6B7280"/>
      </a:folHlink>
    </a:clrScheme>
    <a:fontScheme name="Lemkin Studi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3627</Words>
  <Application>Microsoft Office PowerPoint</Application>
  <PresentationFormat>Widescreen</PresentationFormat>
  <Paragraphs>315</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Courier New</vt:lpstr>
      <vt:lpstr>Lemkin Studio</vt:lpstr>
      <vt:lpstr>AI-Driven Persona Cloning for B2B Content Generation</vt:lpstr>
      <vt:lpstr>The problem and how we measure it</vt:lpstr>
      <vt:lpstr>Data sources and cleaning</vt:lpstr>
      <vt:lpstr>From cleaned posts to training rows</vt:lpstr>
      <vt:lpstr>The label bug behind early stops</vt:lpstr>
      <vt:lpstr>Train, validation and test splits</vt:lpstr>
      <vt:lpstr>What the corpus looks like</vt:lpstr>
      <vt:lpstr>What retrieval returns</vt:lpstr>
      <vt:lpstr>Models and training</vt:lpstr>
      <vt:lpstr>Relabeling cut mid-sentence stops</vt:lpstr>
      <vt:lpstr>Retrieval adds grounding, not voice</vt:lpstr>
      <vt:lpstr>The live system on AWS</vt:lpstr>
      <vt:lpstr>Honest limits and next steps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Persona Cloning for B2B Content Generation, Demo 1</dc:title>
  <dc:subject>PptxGenJS Presentation</dc:subject>
  <dc:creator>Team 2</dc:creator>
  <cp:lastModifiedBy>Kevin Gao</cp:lastModifiedBy>
  <cp:revision>1</cp:revision>
  <dcterms:created xsi:type="dcterms:W3CDTF">2026-10-06T06:49:38Z</dcterms:created>
  <dcterms:modified xsi:type="dcterms:W3CDTF">2026-10-06T08:08:44Z</dcterms:modified>
</cp:coreProperties>
</file>