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8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8934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0F1C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298A  ·  SJSU Applied Data Science  ·  Spring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Persona Cloning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B2B Content Generation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0848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Multi-Model RAG &amp; Fine-Tuning Pipeline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3840480" cy="36576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Persona: </a:t>
            </a:r>
            <a:r>
              <a:rPr lang="en-US" sz="12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Jason Lemkin (SaaStr founder)  ·  31,774 public posts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896112" cy="329184"/>
          </a:xfrm>
          <a:prstGeom prst="roundRect">
            <a:avLst>
              <a:gd name="adj" fmla="val 13889"/>
            </a:avLst>
          </a:prstGeom>
          <a:solidFill>
            <a:srgbClr val="4A6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896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Base Llama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517904" y="3200400"/>
            <a:ext cx="896112" cy="329184"/>
          </a:xfrm>
          <a:prstGeom prst="roundRect">
            <a:avLst>
              <a:gd name="adj" fmla="val 13889"/>
            </a:avLst>
          </a:prstGeom>
          <a:solidFill>
            <a:srgbClr val="00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17904" y="3200400"/>
            <a:ext cx="896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Prompt+Persona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487168" y="3200400"/>
            <a:ext cx="896112" cy="329184"/>
          </a:xfrm>
          <a:prstGeom prst="roundRect">
            <a:avLst>
              <a:gd name="adj" fmla="val 13889"/>
            </a:avLst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487168" y="3200400"/>
            <a:ext cx="896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PersonaRAG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456432" y="3200400"/>
            <a:ext cx="896112" cy="329184"/>
          </a:xfrm>
          <a:prstGeom prst="roundRect">
            <a:avLst>
              <a:gd name="adj" fmla="val 13889"/>
            </a:avLst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56432" y="3200400"/>
            <a:ext cx="896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QLoRA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425696" y="3200400"/>
            <a:ext cx="896112" cy="329184"/>
          </a:xfrm>
          <a:prstGeom prst="roundRect">
            <a:avLst>
              <a:gd name="adj" fmla="val 13889"/>
            </a:avLst>
          </a:prstGeom>
          <a:solidFill>
            <a:srgbClr val="E05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425696" y="3200400"/>
            <a:ext cx="896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LightRAG*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48640" y="356616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M5 proposed for DATA 298B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Andreah Cruz  ·  Kevin Gao  ·  Pukhraj </a:t>
            </a:r>
            <a:r>
              <a:rPr lang="en-US" sz="1100" dirty="0" err="1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Rathkanthiwar</a:t>
            </a:r>
            <a:r>
              <a:rPr lang="en-US" sz="11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Vrushabh Bodarya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1148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github.com/andreahcruz/298P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89320" y="914400"/>
            <a:ext cx="1325880" cy="1143000"/>
          </a:xfrm>
          <a:prstGeom prst="rect">
            <a:avLst/>
          </a:prstGeom>
          <a:solidFill>
            <a:srgbClr val="1F356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89320" y="10972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31,774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989320" y="157276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98080" y="914400"/>
            <a:ext cx="1325880" cy="1143000"/>
          </a:xfrm>
          <a:prstGeom prst="rect">
            <a:avLst/>
          </a:prstGeom>
          <a:solidFill>
            <a:srgbClr val="1F356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98080" y="10972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MB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498080" y="157276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Size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89320" y="2286000"/>
            <a:ext cx="1325880" cy="1143000"/>
          </a:xfrm>
          <a:prstGeom prst="rect">
            <a:avLst/>
          </a:prstGeom>
          <a:solidFill>
            <a:srgbClr val="1F356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89320" y="24688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79,583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989320" y="294436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498080" y="2286000"/>
            <a:ext cx="1325880" cy="1143000"/>
          </a:xfrm>
          <a:prstGeom prst="rect">
            <a:avLst/>
          </a:prstGeom>
          <a:solidFill>
            <a:srgbClr val="1F3560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498080" y="2468880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626,986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498080" y="294436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Words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PROJECT BACKGROUND &amp; EXECUTIVE SUMMARY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88920" cy="2926080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788920" cy="457200"/>
          </a:xfrm>
          <a:prstGeom prst="rect">
            <a:avLst/>
          </a:prstGeom>
          <a:solidFill>
            <a:srgbClr val="E05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229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" y="1335024"/>
            <a:ext cx="2578608" cy="2340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B2B marketers cite producing authentically-voiced content as their top challenge (CMI 2024).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LLMs miss ARR milestones, VP-hiring thresholds, and net-negative churn signals that expert audiences recognize.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788920" cy="2926080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822960"/>
            <a:ext cx="2788920" cy="457200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8229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 &amp; Goal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1335024"/>
            <a:ext cx="2578608" cy="2340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Jason Lemkin's B2B SaaS voice — SaaStr founder, 31,774 public posts across 5 platforms.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BERTScore F1 ≥ 0.70, Style ≥ 0.70, fully local / $0 marginal cost per post.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72200" y="822960"/>
            <a:ext cx="2788920" cy="2926080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72200" y="822960"/>
            <a:ext cx="2788920" cy="457200"/>
          </a:xfrm>
          <a:prstGeom prst="rect">
            <a:avLst/>
          </a:prstGeom>
          <a:solidFill>
            <a:srgbClr val="3DA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2200" y="8229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Our Approach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81928" y="1335024"/>
            <a:ext cx="2578608" cy="2340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scrape → PySpark ETL → DuckDB → ChromaDB → 5 progressive generation architectures.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baseline → M2 prompt injection → M3 PersonaRAG → M4 QLoRA (Unsloth). M5 LightRAG proposed for DATA 298B.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858768"/>
            <a:ext cx="8686800" cy="73152"/>
          </a:xfrm>
          <a:prstGeom prst="rect">
            <a:avLst/>
          </a:prstGeom>
          <a:solidFill>
            <a:srgbClr val="D6EE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2860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8600" y="422452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B2B Marketing Teams  —  Founder-voice drafts at scale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422452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Content Agencies  —  Reusable persona pipelines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4224528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NLP Researchers  —  Multi-platform real-person corpora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PROJECT REQUIREMENTS &amp; TEAM ORGANIZATION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60520" cy="347472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502920" cy="301752"/>
          </a:xfrm>
          <a:prstGeom prst="rect">
            <a:avLst/>
          </a:prstGeom>
          <a:solidFill>
            <a:srgbClr val="00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1188720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197864"/>
            <a:ext cx="3566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5 JSONL sources → 8-col unified schema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536192"/>
            <a:ext cx="502920" cy="301752"/>
          </a:xfrm>
          <a:prstGeom prst="rect">
            <a:avLst/>
          </a:prstGeom>
          <a:solidFill>
            <a:srgbClr val="00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600" y="1536192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1545336"/>
            <a:ext cx="3566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11-op PySpark cleaning pipeline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883664"/>
            <a:ext cx="502920" cy="301752"/>
          </a:xfrm>
          <a:prstGeom prst="rect">
            <a:avLst/>
          </a:prstGeom>
          <a:solidFill>
            <a:srgbClr val="00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8600" y="1883664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1892808"/>
            <a:ext cx="3566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5 stylometric features per post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231136"/>
            <a:ext cx="502920" cy="301752"/>
          </a:xfrm>
          <a:prstGeom prst="rect">
            <a:avLst/>
          </a:prstGeom>
          <a:solidFill>
            <a:srgbClr val="00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8600" y="2231136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2240280"/>
            <a:ext cx="3566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ChromaDB: 500-word chunks, 50-word overlap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578608"/>
            <a:ext cx="502920" cy="301752"/>
          </a:xfrm>
          <a:prstGeom prst="rect">
            <a:avLst/>
          </a:prstGeom>
          <a:solidFill>
            <a:srgbClr val="00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8600" y="2578608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2587752"/>
            <a:ext cx="3566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profile: vocab + framing + themes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926080"/>
            <a:ext cx="502920" cy="301752"/>
          </a:xfrm>
          <a:prstGeom prst="rect">
            <a:avLst/>
          </a:prstGeom>
          <a:solidFill>
            <a:srgbClr val="00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28600" y="2926080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2935224"/>
            <a:ext cx="3566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M1–M4 generation architectures + M5 LightRAG (proposed)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273552"/>
            <a:ext cx="502920" cy="301752"/>
          </a:xfrm>
          <a:prstGeom prst="rect">
            <a:avLst/>
          </a:prstGeom>
          <a:solidFill>
            <a:srgbClr val="00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8600" y="3273552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FR7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" y="3282696"/>
            <a:ext cx="3566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Multi-metric eval: BERTScore, RAGAS, G-Eval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3621024"/>
            <a:ext cx="502920" cy="301752"/>
          </a:xfrm>
          <a:prstGeom prst="rect">
            <a:avLst/>
          </a:prstGeom>
          <a:solidFill>
            <a:srgbClr val="00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28600" y="3621024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FR8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" y="3630168"/>
            <a:ext cx="3566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at localhost:8501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" y="3968496"/>
            <a:ext cx="502920" cy="301752"/>
          </a:xfrm>
          <a:prstGeom prst="rect">
            <a:avLst/>
          </a:prstGeom>
          <a:solidFill>
            <a:srgbClr val="00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8600" y="3968496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FR9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" y="3977640"/>
            <a:ext cx="35661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fine-tune via MinIO sentinel watcher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777240"/>
            <a:ext cx="2651760" cy="347472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17720" y="777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17720" y="1188720"/>
            <a:ext cx="2651760" cy="301752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663440" y="1197864"/>
            <a:ext cx="1234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BERTScore F1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925312" y="1197864"/>
            <a:ext cx="5303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0.70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1197864"/>
            <a:ext cx="7498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A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0.8132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17720" y="1536192"/>
            <a:ext cx="265176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663440" y="1545336"/>
            <a:ext cx="1234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Consistency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25312" y="1545336"/>
            <a:ext cx="5303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0.70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92240" y="1545336"/>
            <a:ext cx="7498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A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0.9837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17720" y="1883664"/>
            <a:ext cx="2651760" cy="301752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63440" y="1892808"/>
            <a:ext cx="1234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Faithfulness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925312" y="1892808"/>
            <a:ext cx="5303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92240" y="1892808"/>
            <a:ext cx="7498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17720" y="2231136"/>
            <a:ext cx="265176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663440" y="2240280"/>
            <a:ext cx="1234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G-Eval Voice Auth.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925312" y="2240280"/>
            <a:ext cx="5303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3.5/5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492240" y="2240280"/>
            <a:ext cx="7498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A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4.0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17720" y="2578608"/>
            <a:ext cx="2651760" cy="301752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663440" y="2587752"/>
            <a:ext cx="1234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Inference Latency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925312" y="2587752"/>
            <a:ext cx="5303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92240" y="2587752"/>
            <a:ext cx="7498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A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5.77s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17720" y="2926080"/>
            <a:ext cx="2651760" cy="3017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663440" y="2935224"/>
            <a:ext cx="12344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Compliance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925312" y="2935224"/>
            <a:ext cx="53035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90%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492240" y="2935224"/>
            <a:ext cx="7498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452360" y="777240"/>
            <a:ext cx="1463040" cy="34747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452360" y="7772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452360" y="1188720"/>
            <a:ext cx="1463040" cy="658368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516368" y="1207008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Andreah Cruz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7516368" y="1444752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Coordination, blog scraper, Streamlit UI, reports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452360" y="1901952"/>
            <a:ext cx="1463040" cy="658368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516368" y="192024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Gao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516368" y="2157984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ETL, DuckDB, PersonaRAG, fine-tune, GGUF, eval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7452360" y="2615184"/>
            <a:ext cx="1463040" cy="658368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516368" y="2633472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516368" y="2871216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ChromaDB, persona profile, architecture research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7452360" y="3328416"/>
            <a:ext cx="1463040" cy="658368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7516368" y="3346704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7516368" y="3584448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pipeline, evaluation framework, reports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TECHNOLOGY &amp; LITERATURE SURVEY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5074920" cy="320040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Comparison  (M1–M4 Implemented · M5 Proposed)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1115568"/>
          <a:ext cx="5074920" cy="91440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Retrieval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Inference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M1  Base Llama 3.1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None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~3–4s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M2  Prompt + Persona JSON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None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~5–10s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M3  PersonaRAG ★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Vector + rerank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~15–30s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M4  QLoRA / Unsloth ★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None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5.77s avg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E05A3A"/>
                          </a:solidFill>
                        </a:rPr>
                        <a:t>M5  LightRAG (proposed 298B)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</a:rPr>
                        <a:t>Vector + graph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</a:rPr>
                        <a:t>~20–40s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</a:rPr>
                        <a:t>$0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532120" y="777240"/>
            <a:ext cx="3383280" cy="3200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532120" y="7772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Literature (113 IEEE References)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32120" y="1170432"/>
            <a:ext cx="3383280" cy="658368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532120" y="1170432"/>
            <a:ext cx="54864" cy="658368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632704" y="12070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PersonaRAG  ·  Zerhoudi &amp; Granitzer 2024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32704" y="1463040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Persona-conditioned query rewriting + alignment reranking — direct foundation for our M3 PersonaRAG implementation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532120" y="1883664"/>
            <a:ext cx="3383280" cy="658368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532120" y="1883664"/>
            <a:ext cx="54864" cy="658368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632704" y="19202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 ·  Dettmers et al. 2023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632704" y="2176272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NF4 quantization — enables our M4 QLoRA fine-tuning on RTX 5070 Ti 16 GB VRAM via Unsloth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532120" y="2596896"/>
            <a:ext cx="3383280" cy="658368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532120" y="2596896"/>
            <a:ext cx="54864" cy="658368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632704" y="26334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LightRAG  ·  Guo et al. EMNLP 2025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632704" y="2889504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+ graph traversal, dual-level retrieval — the architecture target for our proposed M5 in DATA 298B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532120" y="3310128"/>
            <a:ext cx="3383280" cy="658368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532120" y="3310128"/>
            <a:ext cx="54864" cy="658368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632704" y="33467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G-Eval  ·  Liu et al. EMNLP 2023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632704" y="3602736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rubric — our gold eval framework (6 dims, 1–5 scale, Ollama judge)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28600" y="3858768"/>
            <a:ext cx="5074920" cy="658368"/>
          </a:xfrm>
          <a:prstGeom prst="rect">
            <a:avLst/>
          </a:prstGeom>
          <a:solidFill>
            <a:srgbClr val="D6EE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47472" y="3877056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Gaps We Address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47472" y="41148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persona LLM work evaluates on synthetic personas or literary authors — not living domain experts with multi-platform public corpora. We contribute: (1) five-platform corpus, (2) gold-rubric eval against real Lemkin posts, (3) fully automated deploy pipeline on commodity hardware.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PROJECT RESOURCE REQUIREMENTS &amp; PLAN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60520" cy="320040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Software Stack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4160520" cy="329184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16 GB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874520" y="11704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 needs ~8 GB in 4-bit NF4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508760"/>
            <a:ext cx="41605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5361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4 cores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74520" y="15361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Spark ETL time significantly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1874520"/>
            <a:ext cx="4160520" cy="329184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901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50 GB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74520" y="190195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+ Docker + data + ChromaDB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2240280"/>
            <a:ext cx="41605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2677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RTX 5070 Ti 16 GB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74520" y="226771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NF4 training — CUDA 12.8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2606040"/>
            <a:ext cx="4160520" cy="329184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63347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874520" y="26334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— fully local, no paid API dependencies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1143000"/>
            <a:ext cx="2057400" cy="310896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672584" y="11704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2.8.1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96712" y="11704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orchestration (5 tasks)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17720" y="1490472"/>
            <a:ext cx="205740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72584" y="15179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3.x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96712" y="15179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ETL + UDFs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17720" y="1837944"/>
            <a:ext cx="2057400" cy="310896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72584" y="18653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1.5.5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696712" y="186537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17720" y="2185416"/>
            <a:ext cx="205740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72584" y="22128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0.x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696712" y="22128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SQL warehouse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812280" y="1143000"/>
            <a:ext cx="2057400" cy="310896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67144" y="117043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 2026.5.2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891272" y="11704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QLoRA (2× speed)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812280" y="1490472"/>
            <a:ext cx="205740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67144" y="151790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latest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891272" y="15179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GGUF Q4_K_M export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812280" y="1837944"/>
            <a:ext cx="2057400" cy="310896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67144" y="186537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 latest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891272" y="186537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FT path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812280" y="2185416"/>
            <a:ext cx="205740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867144" y="22128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v2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7891272" y="22128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orchestration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17720" y="777240"/>
            <a:ext cx="4297680" cy="3200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617720" y="7772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28600" y="3154680"/>
            <a:ext cx="8686800" cy="3200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74320" y="31546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 — Spring 2026  (Critical Path: Data Collection → Spark ETL → ChromaDB → PersonaRAG → QLoRA → Evaluation)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28600" y="3611880"/>
            <a:ext cx="1737360" cy="274320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74320" y="3639312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 [All]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531620" y="3776472"/>
            <a:ext cx="1737360" cy="27432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577340" y="3803904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ETL &amp; DuckDB  [Kevin]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400300" y="3941064"/>
            <a:ext cx="1737360" cy="274320"/>
          </a:xfrm>
          <a:prstGeom prst="rect">
            <a:avLst/>
          </a:prstGeom>
          <a:solidFill>
            <a:srgbClr val="3DA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446020" y="3968496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 Persona  [All]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703320" y="4105656"/>
            <a:ext cx="1737360" cy="274320"/>
          </a:xfrm>
          <a:prstGeom prst="rect">
            <a:avLst/>
          </a:prstGeom>
          <a:solidFill>
            <a:srgbClr val="E05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749040" y="4133088"/>
            <a:ext cx="1645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PersonaRAG M1–M3  [Kevin]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006340" y="4270248"/>
            <a:ext cx="2171700" cy="274320"/>
          </a:xfrm>
          <a:prstGeom prst="rect">
            <a:avLst/>
          </a:prstGeom>
          <a:solidFill>
            <a:srgbClr val="6B4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052060" y="4297680"/>
            <a:ext cx="20802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FT (v4/v5)  [Kevin]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309360" y="4434840"/>
            <a:ext cx="2171700" cy="274320"/>
          </a:xfrm>
          <a:prstGeom prst="rect">
            <a:avLst/>
          </a:prstGeom>
          <a:solidFill>
            <a:srgbClr val="4A6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355080" y="4462272"/>
            <a:ext cx="20802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+ Reports  [All]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91440" y="45720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177290" y="45720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263140" y="45720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3348990" y="45720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4434840" y="45720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520690" y="45720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606540" y="45720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7692390" y="45720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W15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8778240" y="45720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W17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DATA PIPELINE DEMO: DATA INGESTION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2788920" cy="1572768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788920" cy="384048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955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SaaStr Blog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8328" y="1207008"/>
            <a:ext cx="25786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3,502 records  |  16 MB
</a:t>
            </a: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Public/HTTP
</a:t>
            </a:r>
            <a:r>
              <a:rPr lang="en-US" sz="9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analytical posts (median 560w)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72968" y="777240"/>
            <a:ext cx="2788920" cy="1572768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72968" y="777240"/>
            <a:ext cx="2788920" cy="384048"/>
          </a:xfrm>
          <a:prstGeom prst="rect">
            <a:avLst/>
          </a:prstGeom>
          <a:solidFill>
            <a:srgbClr val="E05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64408" y="7955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/ Twitter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82696" y="1207008"/>
            <a:ext cx="25786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24,941 records  |  12 MB
</a:t>
            </a: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Playwright Stealth
</a:t>
            </a:r>
            <a:r>
              <a:rPr lang="en-US" sz="9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minimal (median 20w)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17336" y="777240"/>
            <a:ext cx="2788920" cy="1572768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17336" y="777240"/>
            <a:ext cx="2788920" cy="384048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08776" y="7955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27064" y="1207008"/>
            <a:ext cx="25786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2,675 records  |  2.6 MB
</a:t>
            </a: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Playwright Stealth
</a:t>
            </a:r>
            <a:r>
              <a:rPr lang="en-US" sz="9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Punchy, direct (median 56w)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542032"/>
            <a:ext cx="2788920" cy="1572768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" y="2542032"/>
            <a:ext cx="2788920" cy="384048"/>
          </a:xfrm>
          <a:prstGeom prst="rect">
            <a:avLst/>
          </a:prstGeom>
          <a:solidFill>
            <a:srgbClr val="3DA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5603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Lemkin YouTube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" y="2971800"/>
            <a:ext cx="25786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462 records  |  2.6 MB
</a:t>
            </a: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Public API
</a:t>
            </a:r>
            <a:r>
              <a:rPr lang="en-US" sz="9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segments, disfluency-cleaned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72968" y="2542032"/>
            <a:ext cx="2788920" cy="1572768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72968" y="2542032"/>
            <a:ext cx="2788920" cy="384048"/>
          </a:xfrm>
          <a:prstGeom prst="rect">
            <a:avLst/>
          </a:prstGeom>
          <a:solidFill>
            <a:srgbClr val="6B4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64408" y="25603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SaaStr YouTube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82696" y="2971800"/>
            <a:ext cx="257860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 records  |  8.5 MB
</a:t>
            </a: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Access: Public API
</a:t>
            </a:r>
            <a:r>
              <a:rPr lang="en-US" sz="9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keynotes (median 8,733w)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89320" y="2542032"/>
            <a:ext cx="2926080" cy="157276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80760" y="26334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CORPUS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080760" y="29443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31,774  records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080760" y="3337560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MB  |  All public sources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versioned storage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4297680"/>
            <a:ext cx="8686800" cy="320040"/>
          </a:xfrm>
          <a:prstGeom prst="rect">
            <a:avLst/>
          </a:prstGeom>
          <a:solidFill>
            <a:srgbClr val="D6EE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42976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DAG:  </a:t>
            </a: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extract_to_minio  →  trigger_spark_clean  →  [load_to_chroma + mark_training_ready] (parallel)  →  extract_persona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" y="466344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platforms deliberately chosen: Lemkin's voice shifts register across each — blog posts are long and analytical, LinkedIn punchy, tweets minimal, YouTube includes disfluency-cleaned transcripts.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DATA TRANSFORMATION &amp; DATA WAREHOUSE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60520" cy="320040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11-Operation Cleaning Pipeline (metricsft branch)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237744" cy="265176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1143000"/>
            <a:ext cx="2377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12064" y="115214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Invalid/corrupt — Drop JSON errors; mojibake (\ufffd)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444752"/>
            <a:ext cx="237744" cy="265176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600" y="1444752"/>
            <a:ext cx="2377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2064" y="145389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Too-short content — Drop outputs &lt; 80 chars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1746504"/>
            <a:ext cx="237744" cy="265176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28600" y="1746504"/>
            <a:ext cx="2377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12064" y="175564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HTML/markup — BeautifulSoup strip + markdown flatten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2048256"/>
            <a:ext cx="237744" cy="265176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8600" y="2048256"/>
            <a:ext cx="2377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2064" y="205740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noise — Remove [music], [applause], stage dirs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2350008"/>
            <a:ext cx="237744" cy="265176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28600" y="2350008"/>
            <a:ext cx="2377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2064" y="235915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Footer/boilerplate — strip_footer_noise (tweet sign-offs)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2651760"/>
            <a:ext cx="237744" cy="265176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28600" y="2651760"/>
            <a:ext cx="2377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2064" y="266090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Junk/test rows — Substring filter on instruction/output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2953512"/>
            <a:ext cx="237744" cy="265176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28600" y="2953512"/>
            <a:ext cx="2377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2064" y="296265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— Exact-duplicate output (keep first); echo-bug rows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3255264"/>
            <a:ext cx="237744" cy="265176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28600" y="3255264"/>
            <a:ext cx="2377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2064" y="326440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Outliers/language — Drop &gt; 1% Cyrillic/CJK char bodies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8600" y="3557016"/>
            <a:ext cx="237744" cy="265176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8600" y="3557016"/>
            <a:ext cx="2377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2064" y="3566160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Non-target speakers — Drop podcast/sponsor intro patterns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" y="3858768"/>
            <a:ext cx="237744" cy="265176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28600" y="3858768"/>
            <a:ext cx="2377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2064" y="386791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— Strip http(s)://, pic.twitter.com, shorteners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4160520"/>
            <a:ext cx="237744" cy="265176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28600" y="4160520"/>
            <a:ext cx="2377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2064" y="416966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Disfluencies — Remove um, uh, ... via word-boundary regex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8600" y="4498848"/>
            <a:ext cx="4160520" cy="438912"/>
          </a:xfrm>
          <a:prstGeom prst="rect">
            <a:avLst/>
          </a:prstGeom>
          <a:solidFill>
            <a:srgbClr val="D6EE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0040" y="4517136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log: 1,940 echo-bug rows dropped  ·  4,625 groups re-stitched  ·  19,422 rows written  ·  25,441 filler tokens stripped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17720" y="777240"/>
            <a:ext cx="4297680" cy="3200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617720" y="7772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&amp; Vector Index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17720" y="1143000"/>
            <a:ext cx="4297680" cy="27432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17720" y="11430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Warehouse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617720" y="1463040"/>
            <a:ext cx="4297680" cy="283464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681728" y="1481328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all_posts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217920" y="1481328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~5,800 rows — full normalized corpus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17720" y="1783080"/>
            <a:ext cx="4297680" cy="2834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681728" y="1801368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b2b_posts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217920" y="1801368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~5,795 rows — B2B keyword gate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617720" y="2103120"/>
            <a:ext cx="4297680" cy="283464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681728" y="2121408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persona_style_profile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217920" y="2121408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 — stylometric stats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617720" y="2423160"/>
            <a:ext cx="4297680" cy="2834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681728" y="2441448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top_quality_posts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217920" y="2441448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rows — quality filtered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617720" y="2743200"/>
            <a:ext cx="4297680" cy="283464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681728" y="2761488"/>
            <a:ext cx="1508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b2b_source_breakdown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217920" y="2761488"/>
            <a:ext cx="26517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distribution view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617720" y="3127248"/>
            <a:ext cx="4297680" cy="274320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617720" y="312724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Index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4681728" y="3456432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</a:t>
            </a: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lemkin_content  (v1.5.5, cosine similarity)
</a:t>
            </a:r>
            <a:r>
              <a:rPr lang="en-US" sz="95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Chunks: </a:t>
            </a: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500-word segments, 50-word overlap — prevents boundary context loss
</a:t>
            </a:r>
            <a:r>
              <a:rPr lang="en-US" sz="95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Embedding: </a:t>
            </a: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nomic-embed-text via Ollama  |  Only posts &gt; 100 words indexed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617720" y="4370832"/>
            <a:ext cx="4297680" cy="56692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709160" y="438912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apply_chat_template → Llama 3 Instruct format (fixes early gibberish from Alpaca ### Instruction format)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MAX_SEQ_LENGTH=512 ↔ SFT chunk 1,600 chars (inverse relationship — 16 GB VRAM constraint)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MODELS — SELECTION, UPDATES &amp; COMPARISON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97680" cy="1920240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4297680" cy="384048"/>
          </a:xfrm>
          <a:prstGeom prst="rect">
            <a:avLst/>
          </a:prstGeom>
          <a:solidFill>
            <a:srgbClr val="4A6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7772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 Base Llama 3.1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20700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Ollama call — no persona, no retrieval, no fine-tuning. Serves as the zero-context baseline. Output quality relies purely on Llama 3.1 parametric knowledge.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2093976"/>
            <a:ext cx="1298448" cy="201168"/>
          </a:xfrm>
          <a:prstGeom prst="roundRect">
            <a:avLst>
              <a:gd name="adj" fmla="val 18182"/>
            </a:avLst>
          </a:prstGeom>
          <a:solidFill>
            <a:srgbClr val="4A6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2093976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 Baseline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709928" y="2093976"/>
            <a:ext cx="1298448" cy="201168"/>
          </a:xfrm>
          <a:prstGeom prst="roundRect">
            <a:avLst>
              <a:gd name="adj" fmla="val 18182"/>
            </a:avLst>
          </a:prstGeom>
          <a:solidFill>
            <a:srgbClr val="4A6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09928" y="2093976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~3–4s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099816" y="2093976"/>
            <a:ext cx="1298448" cy="201168"/>
          </a:xfrm>
          <a:prstGeom prst="roundRect">
            <a:avLst>
              <a:gd name="adj" fmla="val 18182"/>
            </a:avLst>
          </a:prstGeom>
          <a:solidFill>
            <a:srgbClr val="4A6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099816" y="2093976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$0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92608" y="2340864"/>
            <a:ext cx="4078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3DA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BERTScore: 0.8088  |  Style: 0.9818  |  G-Eval: 3.333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663440" y="777240"/>
            <a:ext cx="4297680" cy="1920240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777240"/>
            <a:ext cx="4297680" cy="384048"/>
          </a:xfrm>
          <a:prstGeom prst="rect">
            <a:avLst/>
          </a:prstGeom>
          <a:solidFill>
            <a:srgbClr val="00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77724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 Prompt + Persona JSON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1207008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with persona_profile.json injected into the system prompt. 3 candidates ranked by vocab overlap. Most interpretable — wrong output means editing the JSON and regenerating instantly. No training cycle.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093976"/>
            <a:ext cx="1298448" cy="201168"/>
          </a:xfrm>
          <a:prstGeom prst="roundRect">
            <a:avLst>
              <a:gd name="adj" fmla="val 18182"/>
            </a:avLst>
          </a:prstGeom>
          <a:solidFill>
            <a:srgbClr val="00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00600" y="2093976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 Medium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190488" y="2093976"/>
            <a:ext cx="1298448" cy="201168"/>
          </a:xfrm>
          <a:prstGeom prst="roundRect">
            <a:avLst>
              <a:gd name="adj" fmla="val 18182"/>
            </a:avLst>
          </a:prstGeom>
          <a:solidFill>
            <a:srgbClr val="00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90488" y="2093976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~5–10s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580376" y="2093976"/>
            <a:ext cx="1298448" cy="201168"/>
          </a:xfrm>
          <a:prstGeom prst="roundRect">
            <a:avLst>
              <a:gd name="adj" fmla="val 18182"/>
            </a:avLst>
          </a:prstGeom>
          <a:solidFill>
            <a:srgbClr val="007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580376" y="2093976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$0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73168" y="2340864"/>
            <a:ext cx="40782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3DA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cross-model eval: DATA 298B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82880" y="2834640"/>
            <a:ext cx="2834640" cy="2103120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82880" y="2834640"/>
            <a:ext cx="2834640" cy="384048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82880" y="28346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 PersonaRAG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2608" y="3264408"/>
            <a:ext cx="26151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rewrite → ChromaDB retrieval → alignment rerank → Llama 3.1 generation. Grounds outputs in Lemkin's actual writing. 500-word chunks, 50-word overlap, cosine similarity via nomic-embed-text.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2608" y="4279392"/>
            <a:ext cx="841248" cy="201168"/>
          </a:xfrm>
          <a:prstGeom prst="roundRect">
            <a:avLst>
              <a:gd name="adj" fmla="val 18182"/>
            </a:avLst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92608" y="4279392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 vector + rerank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1197864" y="4279392"/>
            <a:ext cx="841248" cy="201168"/>
          </a:xfrm>
          <a:prstGeom prst="roundRect">
            <a:avLst>
              <a:gd name="adj" fmla="val 18182"/>
            </a:avLst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197864" y="4279392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~15–30s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103120" y="4279392"/>
            <a:ext cx="841248" cy="201168"/>
          </a:xfrm>
          <a:prstGeom prst="roundRect">
            <a:avLst>
              <a:gd name="adj" fmla="val 18182"/>
            </a:avLst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103120" y="4279392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$0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74320" y="4526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3DA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Recall: 1.0  |  Faithfulness: 0.131  |  Answer Relevance: 0.449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172968" y="2834640"/>
            <a:ext cx="2834640" cy="2103120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172968" y="2834640"/>
            <a:ext cx="2834640" cy="384048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172968" y="28346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 QLoRA (Unsloth)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282696" y="3264408"/>
            <a:ext cx="26151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8B fine-tuned via Unsloth (r=16, α=32, 7 LoRA modules) on RTX 5070 Ti. Chat-template SFT + train_on_responses_only. Style baked into adapter weights. GGUF export via llama.cpp.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82696" y="4279392"/>
            <a:ext cx="841248" cy="201168"/>
          </a:xfrm>
          <a:prstGeom prst="roundRect">
            <a:avLst>
              <a:gd name="adj" fmla="val 18182"/>
            </a:avLst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282696" y="4279392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 High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187952" y="4279392"/>
            <a:ext cx="841248" cy="201168"/>
          </a:xfrm>
          <a:prstGeom prst="roundRect">
            <a:avLst>
              <a:gd name="adj" fmla="val 18182"/>
            </a:avLst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187952" y="4279392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v5: 5.77s avg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093208" y="4279392"/>
            <a:ext cx="841248" cy="201168"/>
          </a:xfrm>
          <a:prstGeom prst="roundRect">
            <a:avLst>
              <a:gd name="adj" fmla="val 18182"/>
            </a:avLst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093208" y="4279392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$0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264408" y="4526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3DA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v4: BERTScore 0.8121, Style 0.9837  |  v5: BERTScore 0.8132, 5.77s avg latency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6163056" y="2834640"/>
            <a:ext cx="2834640" cy="2103120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163056" y="2834640"/>
            <a:ext cx="2834640" cy="384048"/>
          </a:xfrm>
          <a:prstGeom prst="rect">
            <a:avLst/>
          </a:prstGeom>
          <a:solidFill>
            <a:srgbClr val="E05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163056" y="28346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 LightRAG  ★ Proposed — DATA 298B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272784" y="3264408"/>
            <a:ext cx="26151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+ graph traversal using ontology nodes and a knowledge graph (Guo et al. EMNLP 2025). Dual-level retrieval: low-level for specific facts, high-level for thematic viewpoints. Targets 50–70% comprehensiveness gain over flat vector RAG.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272784" y="4279392"/>
            <a:ext cx="841248" cy="201168"/>
          </a:xfrm>
          <a:prstGeom prst="roundRect">
            <a:avLst>
              <a:gd name="adj" fmla="val 18182"/>
            </a:avLst>
          </a:prstGeom>
          <a:solidFill>
            <a:srgbClr val="E05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272784" y="4279392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 vector + graph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7178040" y="4279392"/>
            <a:ext cx="841248" cy="201168"/>
          </a:xfrm>
          <a:prstGeom prst="roundRect">
            <a:avLst>
              <a:gd name="adj" fmla="val 18182"/>
            </a:avLst>
          </a:prstGeom>
          <a:solidFill>
            <a:srgbClr val="E05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7178040" y="4279392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~20–40s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8083296" y="4279392"/>
            <a:ext cx="841248" cy="201168"/>
          </a:xfrm>
          <a:prstGeom prst="roundRect">
            <a:avLst>
              <a:gd name="adj" fmla="val 18182"/>
            </a:avLst>
          </a:prstGeom>
          <a:solidFill>
            <a:srgbClr val="E05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8083296" y="4279392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$0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254496" y="45262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E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50–70% comprehensiveness gain over M3  |  Implementation: DATA 298B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C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05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M5 LightRAG — PROPOSED NEXT STEP  (DATA 298B)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0040" y="73152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Guo et al. EMNLP 2025 · Targets 50–70% comprehensiveness gain over M3 flat vector RAG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" y="1051560"/>
            <a:ext cx="4206240" cy="320040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82880" y="1051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M3 PersonaRAG Has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417320"/>
            <a:ext cx="4206240" cy="347472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2608" y="143560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Corpus chunks embedded via nomic-embed-text (Ollama)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" y="1801368"/>
            <a:ext cx="4206240" cy="347472"/>
          </a:xfrm>
          <a:prstGeom prst="rect">
            <a:avLst/>
          </a:prstGeom>
          <a:solidFill>
            <a:srgbClr val="1F3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" y="181965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ChromaDB cosine similarity retrieval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2185416"/>
            <a:ext cx="4206240" cy="347472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2608" y="220370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Query rewrite with Lemkin vocab + persona alignment rerank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2880" y="2569464"/>
            <a:ext cx="4206240" cy="347472"/>
          </a:xfrm>
          <a:prstGeom prst="rect">
            <a:avLst/>
          </a:prstGeom>
          <a:solidFill>
            <a:srgbClr val="1F3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2608" y="258775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Top-k spans pasted into prompt context window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" y="3017520"/>
            <a:ext cx="4206240" cy="320040"/>
          </a:xfrm>
          <a:prstGeom prst="rect">
            <a:avLst/>
          </a:prstGeom>
          <a:solidFill>
            <a:srgbClr val="4A60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82880" y="30175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M3 Lacks (M5 Addresses)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82880" y="3383280"/>
            <a:ext cx="4206240" cy="347472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2608" y="340156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LLM-built entity/relation graph — flat chunk index only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2880" y="3767328"/>
            <a:ext cx="4206240" cy="347472"/>
          </a:xfrm>
          <a:prstGeom prst="rect">
            <a:avLst/>
          </a:prstGeom>
          <a:solidFill>
            <a:srgbClr val="1F3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92608" y="37856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low vs high-level graph retrieval (specific facts vs themes)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82880" y="4151376"/>
            <a:ext cx="4206240" cy="347472"/>
          </a:xfrm>
          <a:prstGeom prst="rect">
            <a:avLst/>
          </a:prstGeom>
          <a:solidFill>
            <a:srgbClr val="1A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92608" y="416966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B2B ontology reranker as a first-class layer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1051560"/>
            <a:ext cx="4251960" cy="320040"/>
          </a:xfrm>
          <a:prstGeom prst="rect">
            <a:avLst/>
          </a:prstGeom>
          <a:solidFill>
            <a:srgbClr val="E05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105156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LightRAG Architecture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1417320"/>
            <a:ext cx="4251960" cy="749808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663440" y="1417320"/>
            <a:ext cx="54864" cy="749808"/>
          </a:xfrm>
          <a:prstGeom prst="rect">
            <a:avLst/>
          </a:prstGeom>
          <a:solidFill>
            <a:srgbClr val="E05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73168" y="143560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Entity/Relation Extraction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73168" y="1700784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LLM-built graph from Lemkin corpus: nodes = concepts (ARR, churn, VP hiring), edges = relationships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221992"/>
            <a:ext cx="4251960" cy="749808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63440" y="2221992"/>
            <a:ext cx="54864" cy="749808"/>
          </a:xfrm>
          <a:prstGeom prst="rect">
            <a:avLst/>
          </a:prstGeom>
          <a:solidFill>
            <a:srgbClr val="E05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73168" y="22402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Dual-Level Retrieval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73168" y="2505456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Low-level: specific facts and positions. High-level: thematic viewpoints and ideological landscape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3026664"/>
            <a:ext cx="4251960" cy="749808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63440" y="3026664"/>
            <a:ext cx="54864" cy="749808"/>
          </a:xfrm>
          <a:prstGeom prst="rect">
            <a:avLst/>
          </a:prstGeom>
          <a:solidFill>
            <a:srgbClr val="E05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73168" y="30449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Ontology Reranking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73168" y="331012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ontology layer reranks retrieved paths for conceptual consistency before generation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3831336"/>
            <a:ext cx="4251960" cy="749808"/>
          </a:xfrm>
          <a:prstGeom prst="rect">
            <a:avLst/>
          </a:prstGeom>
          <a:solidFill>
            <a:srgbClr val="1A2E4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663440" y="3831336"/>
            <a:ext cx="54864" cy="749808"/>
          </a:xfrm>
          <a:prstGeom prst="rect">
            <a:avLst/>
          </a:prstGeom>
          <a:solidFill>
            <a:srgbClr val="E05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73168" y="384962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Graph-Grounded Generation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73168" y="411480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explains how ARR connects to Churn — multi-hop relational reasoning, not surface vocab overlap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4663440"/>
            <a:ext cx="4251960" cy="347472"/>
          </a:xfrm>
          <a:prstGeom prst="rect">
            <a:avLst/>
          </a:prstGeom>
          <a:solidFill>
            <a:srgbClr val="E05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663440" y="466344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50–70% comprehensiveness gain over M3  ·  Based on Guo et al. EMNLP 2025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MODEL COMPARISON — M1 through M5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" y="749808"/>
          <a:ext cx="8741664" cy="91440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M1</a:t>
                      </a:r>
                      <a:endParaRPr lang="en-US" sz="850" dirty="0"/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Base Llama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M2</a:t>
                      </a:r>
                      <a:endParaRPr lang="en-US" sz="850" dirty="0"/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Prompt+Persona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A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M3</a:t>
                      </a:r>
                      <a:endParaRPr lang="en-US" sz="850" dirty="0"/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PersonaRAG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A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M4</a:t>
                      </a:r>
                      <a:endParaRPr lang="en-US" sz="850" dirty="0"/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QLoRA (Unsloth)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M5</a:t>
                      </a:r>
                      <a:endParaRPr lang="en-US" sz="850" dirty="0"/>
                    </a:p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LightRAG *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5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2744"/>
                          </a:solidFill>
                        </a:rPr>
                        <a:t>Persona Conditioning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None — parametric only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JSON profile in system prompt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JSON + retrieved Lemkin chunks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Style baked into adapter weights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Graph nodes + ontology (proposed)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2744"/>
                          </a:solidFill>
                        </a:rPr>
                        <a:t>Retrieval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None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None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Vector cosine + alignment rerank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None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Vector + graph traversal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2744"/>
                          </a:solidFill>
                        </a:rPr>
                        <a:t>Factual Grounding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Parametric only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Parametric only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Grounded in Lemkin posts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Parametric (fine-tuned)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Graph-grounded (proposed)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2744"/>
                          </a:solidFill>
                        </a:rPr>
                        <a:t>Avg Latency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~3–4s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~5–10s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~15–30s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5.77s (v5)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~20–40s (est.)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2744"/>
                          </a:solidFill>
                        </a:rPr>
                        <a:t>BERTScore F1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0.8088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TBD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TBD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v4: 0.8121</a:t>
                      </a:r>
                      <a:endParaRPr lang="en-US" sz="850" dirty="0"/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v5: 0.8132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TBD (298B)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2744"/>
                          </a:solidFill>
                        </a:rPr>
                        <a:t>Style Score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0.9818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TBD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TBD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v4: 0.9837</a:t>
                      </a:r>
                      <a:endParaRPr lang="en-US" sz="850" dirty="0"/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v5: 0.9810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TBD (298B)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2744"/>
                          </a:solidFill>
                        </a:rPr>
                        <a:t>Compute Cost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Low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Low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Medium (retrieval+rerank)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High (train) / Low (infer)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2744"/>
                          </a:solidFill>
                        </a:rPr>
                        <a:t>High (graph index build)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A2744"/>
                          </a:solidFill>
                        </a:rPr>
                        <a:t>Status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DAA7A"/>
                          </a:solidFill>
                        </a:rPr>
                        <a:t>✓ Done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DAA7A"/>
                          </a:solidFill>
                        </a:rPr>
                        <a:t>✓ Done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DAA7A"/>
                          </a:solidFill>
                        </a:rPr>
                        <a:t>✓ Done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DAA7A"/>
                          </a:solidFill>
                        </a:rPr>
                        <a:t>✓ Done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05A3A"/>
                          </a:solidFill>
                        </a:rPr>
                        <a:t>⚙ Proposed 298B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C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01168" y="4828032"/>
            <a:ext cx="874166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E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M5 LightRAG proposed for DATA 298B — all other metrics target ≥ M4 performance with 50–70% comprehensiveness gain over M3.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MODEL PROTOTYPING &amp; REAL RESULTS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160520" cy="32004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77724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Configuration (metricsft — Unsloth 2026.5.2)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4160520" cy="27432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64208" y="1161288"/>
            <a:ext cx="2670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unsloth/Meta-Llama-3.1-8B-Instruct-bnb-4bit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" y="1453896"/>
            <a:ext cx="41605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47218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64208" y="1472184"/>
            <a:ext cx="2670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NF4 + double quant (BitsAndBytesConfig)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" y="1764792"/>
            <a:ext cx="4160520" cy="27432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78308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rank/alpha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64208" y="1783080"/>
            <a:ext cx="2670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r=16, α=32, dropout=0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8600" y="2075688"/>
            <a:ext cx="41605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093976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targets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64208" y="2093976"/>
            <a:ext cx="2670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modules: q,k,v,o,gate,up,down_proj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386584"/>
            <a:ext cx="4160520" cy="27432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40487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type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64208" y="2404872"/>
            <a:ext cx="2670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train_on_responses_only (completion-only)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2697480"/>
            <a:ext cx="41605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71576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format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664208" y="2715768"/>
            <a:ext cx="2670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 Instruct chat template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28600" y="3008376"/>
            <a:ext cx="4160520" cy="27432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3026664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64208" y="3026664"/>
            <a:ext cx="2670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5070 Ti 16 GB — CUDA 12.8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8600" y="3319272"/>
            <a:ext cx="41605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33375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64208" y="3337560"/>
            <a:ext cx="26700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lemkin-clone-v4/v5 GGUF Q4_K_M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8600" y="3730752"/>
            <a:ext cx="4160520" cy="22860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28600" y="3730752"/>
            <a:ext cx="4160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Fine-Tune Chain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6032" y="3977640"/>
            <a:ext cx="502920" cy="47548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56032" y="397764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758952" y="4133088"/>
            <a:ext cx="36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77240" y="3977640"/>
            <a:ext cx="502920" cy="47548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77240" y="397764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mark_training_ready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280160" y="4133088"/>
            <a:ext cx="36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298448" y="3977640"/>
            <a:ext cx="502920" cy="47548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298448" y="397764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_READY sentinel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1801368" y="4133088"/>
            <a:ext cx="36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819656" y="3977640"/>
            <a:ext cx="502920" cy="47548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819656" y="397764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watcher.py (60s poll)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2322576" y="4133088"/>
            <a:ext cx="36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340864" y="3977640"/>
            <a:ext cx="502920" cy="47548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340864" y="397764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 finetune.py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2843784" y="4133088"/>
            <a:ext cx="36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862072" y="3977640"/>
            <a:ext cx="502920" cy="47548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862072" y="397764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merge_and_export.py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3364992" y="4133088"/>
            <a:ext cx="36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383280" y="3977640"/>
            <a:ext cx="502920" cy="47548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383280" y="397764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GGUF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3886200" y="4133088"/>
            <a:ext cx="365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904488" y="3977640"/>
            <a:ext cx="502920" cy="47548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904488" y="3977640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create lemkin-clone-v4/v5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4617720" y="777240"/>
            <a:ext cx="4297680" cy="320040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617720" y="7772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Evaluation Results  (n=5 each)</a:t>
            </a:r>
            <a:endParaRPr lang="en-US" sz="11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33856"/>
          <a:ext cx="4297680" cy="2432304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M1 Baseline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M4 v4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M4 v5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8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BERTScore F1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0.8088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0.8121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A8A8"/>
                          </a:solidFill>
                        </a:rPr>
                        <a:t>0.8132 ★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Style Consistency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0.9818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8A020"/>
                          </a:solidFill>
                        </a:rPr>
                        <a:t>0.9837 ★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0.9810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G-Eval Overall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3.333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8A020"/>
                          </a:solidFill>
                        </a:rPr>
                        <a:t>3.383 ★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3.375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Avg Latency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5.96s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7.71s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A8A8"/>
                          </a:solidFill>
                        </a:rPr>
                        <a:t>5.77s ★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BLEU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0.0105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0.0081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0.0069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ROUGE-L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0.1298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0.1245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0.1214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8" name="Shape 55"/>
          <p:cNvSpPr/>
          <p:nvPr/>
        </p:nvSpPr>
        <p:spPr>
          <a:xfrm>
            <a:off x="4617720" y="3593592"/>
            <a:ext cx="4297680" cy="256032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6"/>
          <p:cNvSpPr/>
          <p:nvPr/>
        </p:nvSpPr>
        <p:spPr>
          <a:xfrm>
            <a:off x="4617720" y="359359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Gold-Rubric Evaluation  (metricsft branch)</a:t>
            </a:r>
            <a:endParaRPr lang="en-US" sz="950" dirty="0"/>
          </a:p>
        </p:txBody>
      </p:sp>
      <p:graphicFrame>
        <p:nvGraphicFramePr>
          <p:cNvPr id="6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3867912"/>
          <a:ext cx="4297680" cy="118872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Baseline (n=30)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0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Model (n=10)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Gold Rubric Overall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0.529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0.482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Context Recall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3DAA7A"/>
                          </a:solidFill>
                        </a:rPr>
                        <a:t>1.000 ★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Faithfulness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05A3A"/>
                          </a:solidFill>
                        </a:rPr>
                        <a:t>0.131 ⚠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Answer Relevance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0.449</a:t>
                      </a:r>
                      <a:endParaRPr lang="en-US" sz="850" dirty="0"/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1" name="Shape 57"/>
          <p:cNvSpPr/>
          <p:nvPr/>
        </p:nvSpPr>
        <p:spPr>
          <a:xfrm>
            <a:off x="228600" y="4526280"/>
            <a:ext cx="4160520" cy="475488"/>
          </a:xfrm>
          <a:prstGeom prst="rect">
            <a:avLst/>
          </a:prstGeom>
          <a:solidFill>
            <a:srgbClr val="D6EE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58"/>
          <p:cNvSpPr/>
          <p:nvPr/>
        </p:nvSpPr>
        <p:spPr>
          <a:xfrm>
            <a:off x="320040" y="4544568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Context recall 1.0 vs. faithfulness 0.131 — retrieval surfaces relevant content but generation rarely cites directly. Expected for style transfer; proposed M5 LightRAG addresses this with graph-grounded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DATA PIPELINE MONITORING &amp; MANAGEMENT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8686800" cy="29260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7772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DAG: lemkin_content_pipeline (5 Tasks)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1627632" cy="658368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" y="1152144"/>
            <a:ext cx="151790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extract_to_minio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83464" y="1481328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→ MinIO raw/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856232" y="1344168"/>
            <a:ext cx="109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965960" y="1115568"/>
            <a:ext cx="1627632" cy="658368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20824" y="1152144"/>
            <a:ext cx="151790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trigger_spark_clean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20824" y="1481328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ETL → chunks/ + training/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93592" y="1344168"/>
            <a:ext cx="109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03320" y="1115568"/>
            <a:ext cx="1627632" cy="658368"/>
          </a:xfrm>
          <a:prstGeom prst="rect">
            <a:avLst/>
          </a:prstGeom>
          <a:solidFill>
            <a:srgbClr val="3DA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58184" y="1152144"/>
            <a:ext cx="151790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load_to_chroma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58184" y="1481328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→ ChromaDB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330952" y="1344168"/>
            <a:ext cx="109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40680" y="1115568"/>
            <a:ext cx="1627632" cy="658368"/>
          </a:xfrm>
          <a:prstGeom prst="rect">
            <a:avLst/>
          </a:prstGeom>
          <a:solidFill>
            <a:srgbClr val="E05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95544" y="1152144"/>
            <a:ext cx="151790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mark_training_ready ★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95544" y="1481328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dataset.jsonl + _READY sentinel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068312" y="1344168"/>
            <a:ext cx="1097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178040" y="1115568"/>
            <a:ext cx="1627632" cy="658368"/>
          </a:xfrm>
          <a:prstGeom prst="rect">
            <a:avLst/>
          </a:prstGeom>
          <a:solidFill>
            <a:srgbClr val="6B4F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32904" y="1152144"/>
            <a:ext cx="1517904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extract_persona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232904" y="1481328"/>
            <a:ext cx="1517904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→ persona_profile.json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28600" y="1920240"/>
            <a:ext cx="4160520" cy="292608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8600" y="192024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Services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2249424"/>
            <a:ext cx="1344168" cy="420624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28600" y="2258568"/>
            <a:ext cx="1344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28600" y="2468880"/>
            <a:ext cx="1344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:8080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618488" y="2249424"/>
            <a:ext cx="1344168" cy="420624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618488" y="2258568"/>
            <a:ext cx="1344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618488" y="2468880"/>
            <a:ext cx="1344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Master+Worker :7077/8081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08376" y="2249424"/>
            <a:ext cx="1344168" cy="420624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008376" y="2258568"/>
            <a:ext cx="1344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008376" y="2468880"/>
            <a:ext cx="1344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Store :9000/9001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28600" y="2724912"/>
            <a:ext cx="1344168" cy="420624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28600" y="2734056"/>
            <a:ext cx="1344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8600" y="2944368"/>
            <a:ext cx="1344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v1.5.5 :8000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618488" y="2724912"/>
            <a:ext cx="1344168" cy="420624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618488" y="2734056"/>
            <a:ext cx="1344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618488" y="2944368"/>
            <a:ext cx="1344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Demo :8501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008376" y="2724912"/>
            <a:ext cx="1344168" cy="420624"/>
          </a:xfrm>
          <a:prstGeom prst="rect">
            <a:avLst/>
          </a:prstGeom>
          <a:solidFill>
            <a:srgbClr val="F4F8F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008376" y="2734056"/>
            <a:ext cx="1344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008376" y="2944368"/>
            <a:ext cx="1344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Host :11434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617720" y="1920240"/>
            <a:ext cx="4297680" cy="292608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617720" y="192024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Quality Gates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17720" y="2258568"/>
            <a:ext cx="4297680" cy="45720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617720" y="2258568"/>
            <a:ext cx="54864" cy="457200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718304" y="2276856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UI (port 8080)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718304" y="2478024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Task-level success/failure, retry logs, DAG run history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617720" y="2770632"/>
            <a:ext cx="42976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617720" y="2770632"/>
            <a:ext cx="54864" cy="457200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718304" y="27889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Validation Gate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718304" y="299008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SQL asserts ≥20 B2B posts in DuckDB — fails DAG cleanly if upstream broke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617720" y="3282696"/>
            <a:ext cx="4297680" cy="457200"/>
          </a:xfrm>
          <a:prstGeom prst="rect">
            <a:avLst/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617720" y="3282696"/>
            <a:ext cx="54864" cy="457200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718304" y="330098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_READY Sentinel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718304" y="350215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writes training/_READY to MinIO; watcher polls every 60s — ensures fine-tune only triggers on fresh data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617720" y="3794760"/>
            <a:ext cx="42976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617720" y="3794760"/>
            <a:ext cx="54864" cy="457200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718304" y="381304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Checker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718304" y="4014216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chromadbchecker.py + previewchromadb.py verify collection populated before generation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28600" y="3328416"/>
            <a:ext cx="4160520" cy="548640"/>
          </a:xfrm>
          <a:prstGeom prst="rect">
            <a:avLst/>
          </a:prstGeom>
          <a:solidFill>
            <a:srgbClr val="D6EE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20040" y="3346704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 Met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320040" y="356616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NFR1 Reproducibility: seed=42 throughout  ·  NFR2 Cost: $0 local path  ·  NFR3 Portability: docker compose up on any 16 GB RAM machine  ·  NFR4 Throughput: Spark ETL &lt; 30 min  ·  NFR5 Latency: v5 at 5.77s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084832" cy="3291840"/>
          </a:xfrm>
          <a:prstGeom prst="rect">
            <a:avLst/>
          </a:prstGeom>
          <a:solidFill>
            <a:srgbClr val="1F35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084832" cy="502920"/>
          </a:xfrm>
          <a:prstGeom prst="rect">
            <a:avLst/>
          </a:prstGeom>
          <a:solidFill>
            <a:srgbClr val="00A8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82296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 Pipeline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" y="1389888"/>
            <a:ext cx="1865376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31,774 posts · 5 platforms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11-op PySpark ETL · DuckDB warehouse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index · Airflow DAG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sentinel → auto fine-tune chain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822960"/>
            <a:ext cx="2084832" cy="3291840"/>
          </a:xfrm>
          <a:prstGeom prst="rect">
            <a:avLst/>
          </a:prstGeom>
          <a:solidFill>
            <a:srgbClr val="1F35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23160" y="822960"/>
            <a:ext cx="2084832" cy="502920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23160" y="82296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Models M1–M4 Built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32888" y="1389888"/>
            <a:ext cx="1865376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Base Llama 3.1 (baseline)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Prompt + Persona JSON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PersonaRAG (Chroma + rerank)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QLoRA / Unsloth — v4 &amp; v5 GGUF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BERTScore KPIs met 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822960"/>
            <a:ext cx="2084832" cy="3291840"/>
          </a:xfrm>
          <a:prstGeom prst="rect">
            <a:avLst/>
          </a:prstGeom>
          <a:solidFill>
            <a:srgbClr val="1F35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17720" y="822960"/>
            <a:ext cx="2084832" cy="502920"/>
          </a:xfrm>
          <a:prstGeom prst="rect">
            <a:avLst/>
          </a:prstGeom>
          <a:solidFill>
            <a:srgbClr val="3DAA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17720" y="82296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Evaluation Metrics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27448" y="1389888"/>
            <a:ext cx="1865376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BERTScore · RAGAS · Style Consistency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· ROUGE-L · G-Eval (6 dims)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Gold-rubric vs real Lemkin posts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IEEE references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822960"/>
            <a:ext cx="2084832" cy="3291840"/>
          </a:xfrm>
          <a:prstGeom prst="rect">
            <a:avLst/>
          </a:prstGeom>
          <a:solidFill>
            <a:srgbClr val="1F356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12280" y="822960"/>
            <a:ext cx="2084832" cy="502920"/>
          </a:xfrm>
          <a:prstGeom prst="rect">
            <a:avLst/>
          </a:prstGeom>
          <a:solidFill>
            <a:srgbClr val="E05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12280" y="822960"/>
            <a:ext cx="20848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DATA 298B: M5 Next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22008" y="1389888"/>
            <a:ext cx="1865376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LightRAG (Guo et al. EMNLP 2025)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+ graph traversal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nodes + knowledge graph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50–70% comprehensiveness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over M3 PersonaRAG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4251960"/>
            <a:ext cx="8686800" cy="658368"/>
          </a:xfrm>
          <a:prstGeom prst="rect">
            <a:avLst/>
          </a:prstGeom>
          <a:solidFill>
            <a:srgbClr val="0F1C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42793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DATA 298B — M5 LightRAG: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80360" y="4288536"/>
            <a:ext cx="1417320" cy="566928"/>
          </a:xfrm>
          <a:prstGeom prst="rect">
            <a:avLst/>
          </a:prstGeom>
          <a:solidFill>
            <a:srgbClr val="E05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80360" y="4288536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+ Graph Traversal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389120" y="4288536"/>
            <a:ext cx="1417320" cy="566928"/>
          </a:xfrm>
          <a:prstGeom prst="rect">
            <a:avLst/>
          </a:prstGeom>
          <a:solidFill>
            <a:srgbClr val="E05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89120" y="4288536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Dual-Level Retrieval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(facts + themes)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897880" y="4288536"/>
            <a:ext cx="1417320" cy="566928"/>
          </a:xfrm>
          <a:prstGeom prst="rect">
            <a:avLst/>
          </a:prstGeom>
          <a:solidFill>
            <a:srgbClr val="E05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97880" y="4288536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Reranker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406640" y="4288536"/>
            <a:ext cx="1417320" cy="566928"/>
          </a:xfrm>
          <a:prstGeom prst="rect">
            <a:avLst/>
          </a:prstGeom>
          <a:solidFill>
            <a:srgbClr val="E05A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406640" y="4288536"/>
            <a:ext cx="1417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50–70% Comprehensiveness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over M3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28600" y="4864608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github.com/andreahcruz/298P  |  DATA 298A · Team 2 · San José State University · Spring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2748</Words>
  <Application>Microsoft Office PowerPoint</Application>
  <PresentationFormat>On-screen Show (16:9)</PresentationFormat>
  <Paragraphs>505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Persona Cloning for B2B Content Generation</dc:title>
  <dc:subject>PptxGenJS Presentation</dc:subject>
  <dc:creator>PptxGenJS</dc:creator>
  <cp:lastModifiedBy>Kevin Gao</cp:lastModifiedBy>
  <cp:revision>2</cp:revision>
  <dcterms:created xsi:type="dcterms:W3CDTF">2026-05-12T06:17:17Z</dcterms:created>
  <dcterms:modified xsi:type="dcterms:W3CDTF">2026-09-28T09:36:12Z</dcterms:modified>
</cp:coreProperties>
</file>